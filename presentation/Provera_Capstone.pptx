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11680"/>
            <a:ext cx="10728655" cy="914400"/>
          </a:xfrm>
          <a:prstGeom prst="rect">
            <a:avLst/>
          </a:prstGeom>
          <a:noFill/>
        </p:spPr>
        <p:txBody>
          <a:bodyPr wrap="none">
            <a:spAutoFit/>
          </a:bodyPr>
          <a:lstStyle/>
          <a:p>
            <a:pPr algn="ctr">
              <a:defRPr sz="5200" b="1">
                <a:solidFill>
                  <a:srgbClr val="FFFFFF"/>
                </a:solidFill>
              </a:defRPr>
            </a:pPr>
            <a:r>
              <a:t>Provera</a:t>
            </a:r>
          </a:p>
        </p:txBody>
      </p:sp>
      <p:sp>
        <p:nvSpPr>
          <p:cNvPr id="5" name="TextBox 4"/>
          <p:cNvSpPr txBox="1"/>
          <p:nvPr/>
        </p:nvSpPr>
        <p:spPr>
          <a:xfrm>
            <a:off x="731520" y="3200400"/>
            <a:ext cx="10728655" cy="731520"/>
          </a:xfrm>
          <a:prstGeom prst="rect">
            <a:avLst/>
          </a:prstGeom>
          <a:noFill/>
        </p:spPr>
        <p:txBody>
          <a:bodyPr wrap="none">
            <a:spAutoFit/>
          </a:bodyPr>
          <a:lstStyle/>
          <a:p>
            <a:pPr algn="ctr">
              <a:defRPr sz="2000">
                <a:solidFill>
                  <a:srgbClr val="3B82F6"/>
                </a:solidFill>
              </a:defRPr>
            </a:pPr>
            <a:r>
              <a:t>AI-Powered Medicare Fraud Detection Using Hybrid ML + Agentic AI</a:t>
            </a:r>
          </a:p>
        </p:txBody>
      </p:sp>
      <p:sp>
        <p:nvSpPr>
          <p:cNvPr id="6" name="TextBox 5"/>
          <p:cNvSpPr txBox="1"/>
          <p:nvPr/>
        </p:nvSpPr>
        <p:spPr>
          <a:xfrm>
            <a:off x="731520" y="5029200"/>
            <a:ext cx="10728655" cy="1097280"/>
          </a:xfrm>
          <a:prstGeom prst="rect">
            <a:avLst/>
          </a:prstGeom>
          <a:noFill/>
        </p:spPr>
        <p:txBody>
          <a:bodyPr wrap="square">
            <a:spAutoFit/>
          </a:bodyPr>
          <a:lstStyle/>
          <a:p>
            <a:pPr algn="ctr">
              <a:defRPr sz="1400">
                <a:solidFill>
                  <a:srgbClr val="94A3B8"/>
                </a:solidFill>
              </a:defRPr>
            </a:pPr>
            <a:r>
              <a:t>Nikita Ravi  |  Jagannath Narayanswamy</a:t>
            </a:r>
            <a:br/>
            <a:r>
              <a:t>Data Analytics Capstone | Spring 2026 | George Washington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Executive Summary</a:t>
            </a:r>
          </a:p>
        </p:txBody>
      </p:sp>
      <p:sp>
        <p:nvSpPr>
          <p:cNvPr id="4" name="Rounded Rectangle 3"/>
          <p:cNvSpPr/>
          <p:nvPr/>
        </p:nvSpPr>
        <p:spPr>
          <a:xfrm>
            <a:off x="1295247" y="128016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95247" y="1417319"/>
            <a:ext cx="2194560" cy="502920"/>
          </a:xfrm>
          <a:prstGeom prst="rect">
            <a:avLst/>
          </a:prstGeom>
          <a:noFill/>
        </p:spPr>
        <p:txBody>
          <a:bodyPr wrap="none">
            <a:spAutoFit/>
          </a:bodyPr>
          <a:lstStyle/>
          <a:p>
            <a:pPr algn="ctr">
              <a:defRPr sz="2800" b="1">
                <a:solidFill>
                  <a:srgbClr val="FFFFFF"/>
                </a:solidFill>
              </a:defRPr>
            </a:pPr>
            <a:r>
              <a:t>0.91</a:t>
            </a:r>
          </a:p>
        </p:txBody>
      </p:sp>
      <p:sp>
        <p:nvSpPr>
          <p:cNvPr id="6" name="TextBox 5"/>
          <p:cNvSpPr txBox="1"/>
          <p:nvPr/>
        </p:nvSpPr>
        <p:spPr>
          <a:xfrm>
            <a:off x="1295247" y="1874519"/>
            <a:ext cx="2194560" cy="320040"/>
          </a:xfrm>
          <a:prstGeom prst="rect">
            <a:avLst/>
          </a:prstGeom>
          <a:noFill/>
        </p:spPr>
        <p:txBody>
          <a:bodyPr wrap="none">
            <a:spAutoFit/>
          </a:bodyPr>
          <a:lstStyle/>
          <a:p>
            <a:pPr algn="ctr">
              <a:defRPr sz="1100">
                <a:solidFill>
                  <a:srgbClr val="CCDDEE"/>
                </a:solidFill>
              </a:defRPr>
            </a:pPr>
            <a:r>
              <a:t>ROC-AUC</a:t>
            </a:r>
          </a:p>
        </p:txBody>
      </p:sp>
      <p:sp>
        <p:nvSpPr>
          <p:cNvPr id="7" name="Rounded Rectangle 6"/>
          <p:cNvSpPr/>
          <p:nvPr/>
        </p:nvSpPr>
        <p:spPr>
          <a:xfrm>
            <a:off x="3764127" y="128016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64127" y="1417319"/>
            <a:ext cx="2194560" cy="502920"/>
          </a:xfrm>
          <a:prstGeom prst="rect">
            <a:avLst/>
          </a:prstGeom>
          <a:noFill/>
        </p:spPr>
        <p:txBody>
          <a:bodyPr wrap="none">
            <a:spAutoFit/>
          </a:bodyPr>
          <a:lstStyle/>
          <a:p>
            <a:pPr algn="ctr">
              <a:defRPr sz="2800" b="1">
                <a:solidFill>
                  <a:srgbClr val="FFFFFF"/>
                </a:solidFill>
              </a:defRPr>
            </a:pPr>
            <a:r>
              <a:t>7/7</a:t>
            </a:r>
          </a:p>
        </p:txBody>
      </p:sp>
      <p:sp>
        <p:nvSpPr>
          <p:cNvPr id="9" name="TextBox 8"/>
          <p:cNvSpPr txBox="1"/>
          <p:nvPr/>
        </p:nvSpPr>
        <p:spPr>
          <a:xfrm>
            <a:off x="3764127" y="1874519"/>
            <a:ext cx="2194560" cy="320040"/>
          </a:xfrm>
          <a:prstGeom prst="rect">
            <a:avLst/>
          </a:prstGeom>
          <a:noFill/>
        </p:spPr>
        <p:txBody>
          <a:bodyPr wrap="none">
            <a:spAutoFit/>
          </a:bodyPr>
          <a:lstStyle/>
          <a:p>
            <a:pPr algn="ctr">
              <a:defRPr sz="1100">
                <a:solidFill>
                  <a:srgbClr val="CCDDEE"/>
                </a:solidFill>
              </a:defRPr>
            </a:pPr>
            <a:r>
              <a:t>Golden Set</a:t>
            </a:r>
          </a:p>
        </p:txBody>
      </p:sp>
      <p:sp>
        <p:nvSpPr>
          <p:cNvPr id="10" name="Rounded Rectangle 9"/>
          <p:cNvSpPr/>
          <p:nvPr/>
        </p:nvSpPr>
        <p:spPr>
          <a:xfrm>
            <a:off x="6233007" y="128016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33007" y="1417319"/>
            <a:ext cx="2194560" cy="502920"/>
          </a:xfrm>
          <a:prstGeom prst="rect">
            <a:avLst/>
          </a:prstGeom>
          <a:noFill/>
        </p:spPr>
        <p:txBody>
          <a:bodyPr wrap="none">
            <a:spAutoFit/>
          </a:bodyPr>
          <a:lstStyle/>
          <a:p>
            <a:pPr algn="ctr">
              <a:defRPr sz="2800" b="1">
                <a:solidFill>
                  <a:srgbClr val="FFFFFF"/>
                </a:solidFill>
              </a:defRPr>
            </a:pPr>
            <a:r>
              <a:t>11,090</a:t>
            </a:r>
          </a:p>
        </p:txBody>
      </p:sp>
      <p:sp>
        <p:nvSpPr>
          <p:cNvPr id="12" name="TextBox 11"/>
          <p:cNvSpPr txBox="1"/>
          <p:nvPr/>
        </p:nvSpPr>
        <p:spPr>
          <a:xfrm>
            <a:off x="6233007" y="1874519"/>
            <a:ext cx="2194560" cy="320040"/>
          </a:xfrm>
          <a:prstGeom prst="rect">
            <a:avLst/>
          </a:prstGeom>
          <a:noFill/>
        </p:spPr>
        <p:txBody>
          <a:bodyPr wrap="none">
            <a:spAutoFit/>
          </a:bodyPr>
          <a:lstStyle/>
          <a:p>
            <a:pPr algn="ctr">
              <a:defRPr sz="1100">
                <a:solidFill>
                  <a:srgbClr val="CCDDEE"/>
                </a:solidFill>
              </a:defRPr>
            </a:pPr>
            <a:r>
              <a:t>Facilities</a:t>
            </a:r>
          </a:p>
        </p:txBody>
      </p:sp>
      <p:sp>
        <p:nvSpPr>
          <p:cNvPr id="13" name="Rounded Rectangle 12"/>
          <p:cNvSpPr/>
          <p:nvPr/>
        </p:nvSpPr>
        <p:spPr>
          <a:xfrm>
            <a:off x="8701887" y="128016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1887" y="1417319"/>
            <a:ext cx="2194560" cy="502920"/>
          </a:xfrm>
          <a:prstGeom prst="rect">
            <a:avLst/>
          </a:prstGeom>
          <a:noFill/>
        </p:spPr>
        <p:txBody>
          <a:bodyPr wrap="none">
            <a:spAutoFit/>
          </a:bodyPr>
          <a:lstStyle/>
          <a:p>
            <a:pPr algn="ctr">
              <a:defRPr sz="2800" b="1">
                <a:solidFill>
                  <a:srgbClr val="FFFFFF"/>
                </a:solidFill>
              </a:defRPr>
            </a:pPr>
            <a:r>
              <a:t>85%</a:t>
            </a:r>
          </a:p>
        </p:txBody>
      </p:sp>
      <p:sp>
        <p:nvSpPr>
          <p:cNvPr id="15" name="TextBox 14"/>
          <p:cNvSpPr txBox="1"/>
          <p:nvPr/>
        </p:nvSpPr>
        <p:spPr>
          <a:xfrm>
            <a:off x="8701887" y="1874519"/>
            <a:ext cx="2194560" cy="320040"/>
          </a:xfrm>
          <a:prstGeom prst="rect">
            <a:avLst/>
          </a:prstGeom>
          <a:noFill/>
        </p:spPr>
        <p:txBody>
          <a:bodyPr wrap="none">
            <a:spAutoFit/>
          </a:bodyPr>
          <a:lstStyle/>
          <a:p>
            <a:pPr algn="ctr">
              <a:defRPr sz="1100">
                <a:solidFill>
                  <a:srgbClr val="CCDDEE"/>
                </a:solidFill>
              </a:defRPr>
            </a:pPr>
            <a:r>
              <a:t>Precision@100</a:t>
            </a:r>
          </a:p>
        </p:txBody>
      </p:sp>
      <p:sp>
        <p:nvSpPr>
          <p:cNvPr id="16" name="TextBox 15"/>
          <p:cNvSpPr txBox="1"/>
          <p:nvPr/>
        </p:nvSpPr>
        <p:spPr>
          <a:xfrm>
            <a:off x="548640" y="2560320"/>
            <a:ext cx="11094415" cy="822960"/>
          </a:xfrm>
          <a:prstGeom prst="rect">
            <a:avLst/>
          </a:prstGeom>
          <a:noFill/>
        </p:spPr>
        <p:txBody>
          <a:bodyPr wrap="square">
            <a:spAutoFit/>
          </a:bodyPr>
          <a:lstStyle/>
          <a:p>
            <a:pPr algn="l">
              <a:defRPr sz="1400" b="0">
                <a:solidFill>
                  <a:srgbClr val="4A5A6A"/>
                </a:solidFill>
              </a:defRPr>
            </a:pPr>
            <a:r>
              <a:t>Provera combines graph-based machine learning with LLM agents to detect Medicare fraud rings. The system analyzes ownership structures, shared addresses, and billing patterns to identify coordinated fraud schemes that evade traditional rule-based detection.</a:t>
            </a:r>
          </a:p>
        </p:txBody>
      </p:sp>
      <p:sp>
        <p:nvSpPr>
          <p:cNvPr id="17" name="TextBox 16"/>
          <p:cNvSpPr txBox="1"/>
          <p:nvPr/>
        </p:nvSpPr>
        <p:spPr>
          <a:xfrm>
            <a:off x="548640" y="3474720"/>
            <a:ext cx="5029200" cy="365760"/>
          </a:xfrm>
          <a:prstGeom prst="rect">
            <a:avLst/>
          </a:prstGeom>
          <a:noFill/>
        </p:spPr>
        <p:txBody>
          <a:bodyPr wrap="square">
            <a:spAutoFit/>
          </a:bodyPr>
          <a:lstStyle/>
          <a:p>
            <a:pPr algn="l">
              <a:defRPr sz="1400" b="1">
                <a:solidFill>
                  <a:srgbClr val="0F4C75"/>
                </a:solidFill>
              </a:defRPr>
            </a:pPr>
            <a:r>
              <a:t>What We Detect</a:t>
            </a:r>
          </a:p>
        </p:txBody>
      </p:sp>
      <p:sp>
        <p:nvSpPr>
          <p:cNvPr id="18" name="TextBox 17"/>
          <p:cNvSpPr txBox="1"/>
          <p:nvPr/>
        </p:nvSpPr>
        <p:spPr>
          <a:xfrm>
            <a:off x="548640" y="3840480"/>
            <a:ext cx="5029200" cy="1828800"/>
          </a:xfrm>
          <a:prstGeom prst="rect">
            <a:avLst/>
          </a:prstGeom>
          <a:noFill/>
        </p:spPr>
        <p:txBody>
          <a:bodyPr wrap="square">
            <a:spAutoFit/>
          </a:bodyPr>
          <a:lstStyle/>
          <a:p>
            <a:pPr>
              <a:spcAft>
                <a:spcPts val="600"/>
              </a:spcAft>
              <a:defRPr sz="1200">
                <a:solidFill>
                  <a:srgbClr val="4A5A6A"/>
                </a:solidFill>
              </a:defRPr>
            </a:pPr>
            <a:r>
              <a:t>• Shell company networks (entity cycling)</a:t>
            </a:r>
          </a:p>
          <a:p>
            <a:pPr>
              <a:spcAft>
                <a:spcPts val="600"/>
              </a:spcAft>
              <a:defRPr sz="1200">
                <a:solidFill>
                  <a:srgbClr val="4A5A6A"/>
                </a:solidFill>
              </a:defRPr>
            </a:pPr>
            <a:r>
              <a:t>• Address/phone sharing schemes</a:t>
            </a:r>
          </a:p>
          <a:p>
            <a:pPr>
              <a:spcAft>
                <a:spcPts val="600"/>
              </a:spcAft>
              <a:defRPr sz="1200">
                <a:solidFill>
                  <a:srgbClr val="4A5A6A"/>
                </a:solidFill>
              </a:defRPr>
            </a:pPr>
            <a:r>
              <a:t>• Connections to excluded providers</a:t>
            </a:r>
          </a:p>
          <a:p>
            <a:pPr>
              <a:spcAft>
                <a:spcPts val="600"/>
              </a:spcAft>
              <a:defRPr sz="1200">
                <a:solidFill>
                  <a:srgbClr val="4A5A6A"/>
                </a:solidFill>
              </a:defRPr>
            </a:pPr>
            <a:r>
              <a:t>• Ownership concentration patterns</a:t>
            </a:r>
          </a:p>
        </p:txBody>
      </p:sp>
      <p:sp>
        <p:nvSpPr>
          <p:cNvPr id="19" name="TextBox 18"/>
          <p:cNvSpPr txBox="1"/>
          <p:nvPr/>
        </p:nvSpPr>
        <p:spPr>
          <a:xfrm>
            <a:off x="6217920" y="3474720"/>
            <a:ext cx="5029200" cy="365760"/>
          </a:xfrm>
          <a:prstGeom prst="rect">
            <a:avLst/>
          </a:prstGeom>
          <a:noFill/>
        </p:spPr>
        <p:txBody>
          <a:bodyPr wrap="square">
            <a:spAutoFit/>
          </a:bodyPr>
          <a:lstStyle/>
          <a:p>
            <a:pPr algn="l">
              <a:defRPr sz="1400" b="1">
                <a:solidFill>
                  <a:srgbClr val="0F4C75"/>
                </a:solidFill>
              </a:defRPr>
            </a:pPr>
            <a:r>
              <a:t>Key Innovation</a:t>
            </a:r>
          </a:p>
        </p:txBody>
      </p:sp>
      <p:sp>
        <p:nvSpPr>
          <p:cNvPr id="20" name="TextBox 19"/>
          <p:cNvSpPr txBox="1"/>
          <p:nvPr/>
        </p:nvSpPr>
        <p:spPr>
          <a:xfrm>
            <a:off x="6217920" y="3840480"/>
            <a:ext cx="5029200" cy="1828800"/>
          </a:xfrm>
          <a:prstGeom prst="rect">
            <a:avLst/>
          </a:prstGeom>
          <a:noFill/>
        </p:spPr>
        <p:txBody>
          <a:bodyPr wrap="square">
            <a:spAutoFit/>
          </a:bodyPr>
          <a:lstStyle/>
          <a:p>
            <a:pPr>
              <a:spcAft>
                <a:spcPts val="600"/>
              </a:spcAft>
              <a:defRPr sz="1200">
                <a:solidFill>
                  <a:srgbClr val="4A5A6A"/>
                </a:solidFill>
              </a:defRPr>
            </a:pPr>
            <a:r>
              <a:t>• Structural detection, not just billing anomalies</a:t>
            </a:r>
          </a:p>
          <a:p>
            <a:pPr>
              <a:spcAft>
                <a:spcPts val="600"/>
              </a:spcAft>
              <a:defRPr sz="1200">
                <a:solidFill>
                  <a:srgbClr val="4A5A6A"/>
                </a:solidFill>
              </a:defRPr>
            </a:pPr>
            <a:r>
              <a:t>• AI agent generates investigation briefs</a:t>
            </a:r>
          </a:p>
          <a:p>
            <a:pPr>
              <a:spcAft>
                <a:spcPts val="600"/>
              </a:spcAft>
              <a:defRPr sz="1200">
                <a:solidFill>
                  <a:srgbClr val="4A5A6A"/>
                </a:solidFill>
              </a:defRPr>
            </a:pPr>
            <a:r>
              <a:t>• DOJ cross-reference catches behavioral fraud</a:t>
            </a:r>
          </a:p>
          <a:p>
            <a:pPr>
              <a:spcAft>
                <a:spcPts val="600"/>
              </a:spcAft>
              <a:defRPr sz="1200">
                <a:solidFill>
                  <a:srgbClr val="4A5A6A"/>
                </a:solidFill>
              </a:defRPr>
            </a:pPr>
            <a:r>
              <a:t>• 100% factual accuracy on generated reports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The Problem: $60-100 Billion in Annual Medicare Fraud</a:t>
            </a:r>
          </a:p>
        </p:txBody>
      </p:sp>
      <p:sp>
        <p:nvSpPr>
          <p:cNvPr id="4" name="Rounded Rectangle 3"/>
          <p:cNvSpPr/>
          <p:nvPr/>
        </p:nvSpPr>
        <p:spPr>
          <a:xfrm>
            <a:off x="1295247" y="128016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95247" y="1417319"/>
            <a:ext cx="2194560" cy="502920"/>
          </a:xfrm>
          <a:prstGeom prst="rect">
            <a:avLst/>
          </a:prstGeom>
          <a:noFill/>
        </p:spPr>
        <p:txBody>
          <a:bodyPr wrap="none">
            <a:spAutoFit/>
          </a:bodyPr>
          <a:lstStyle/>
          <a:p>
            <a:pPr algn="ctr">
              <a:defRPr sz="2800" b="1">
                <a:solidFill>
                  <a:srgbClr val="FFFFFF"/>
                </a:solidFill>
              </a:defRPr>
            </a:pPr>
            <a:r>
              <a:t>$60-100B</a:t>
            </a:r>
          </a:p>
        </p:txBody>
      </p:sp>
      <p:sp>
        <p:nvSpPr>
          <p:cNvPr id="6" name="TextBox 5"/>
          <p:cNvSpPr txBox="1"/>
          <p:nvPr/>
        </p:nvSpPr>
        <p:spPr>
          <a:xfrm>
            <a:off x="1295247" y="1874519"/>
            <a:ext cx="2194560" cy="320040"/>
          </a:xfrm>
          <a:prstGeom prst="rect">
            <a:avLst/>
          </a:prstGeom>
          <a:noFill/>
        </p:spPr>
        <p:txBody>
          <a:bodyPr wrap="none">
            <a:spAutoFit/>
          </a:bodyPr>
          <a:lstStyle/>
          <a:p>
            <a:pPr algn="ctr">
              <a:defRPr sz="1100">
                <a:solidFill>
                  <a:srgbClr val="CCDDEE"/>
                </a:solidFill>
              </a:defRPr>
            </a:pPr>
            <a:r>
              <a:t>Annual fraud losses</a:t>
            </a:r>
          </a:p>
        </p:txBody>
      </p:sp>
      <p:sp>
        <p:nvSpPr>
          <p:cNvPr id="7" name="Rounded Rectangle 6"/>
          <p:cNvSpPr/>
          <p:nvPr/>
        </p:nvSpPr>
        <p:spPr>
          <a:xfrm>
            <a:off x="3764127" y="128016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64127" y="1417319"/>
            <a:ext cx="2194560" cy="502920"/>
          </a:xfrm>
          <a:prstGeom prst="rect">
            <a:avLst/>
          </a:prstGeom>
          <a:noFill/>
        </p:spPr>
        <p:txBody>
          <a:bodyPr wrap="none">
            <a:spAutoFit/>
          </a:bodyPr>
          <a:lstStyle/>
          <a:p>
            <a:pPr algn="ctr">
              <a:defRPr sz="2800" b="1">
                <a:solidFill>
                  <a:srgbClr val="FFFFFF"/>
                </a:solidFill>
              </a:defRPr>
            </a:pPr>
            <a:r>
              <a:t>$17B</a:t>
            </a:r>
          </a:p>
        </p:txBody>
      </p:sp>
      <p:sp>
        <p:nvSpPr>
          <p:cNvPr id="9" name="TextBox 8"/>
          <p:cNvSpPr txBox="1"/>
          <p:nvPr/>
        </p:nvSpPr>
        <p:spPr>
          <a:xfrm>
            <a:off x="3764127" y="1874519"/>
            <a:ext cx="2194560" cy="320040"/>
          </a:xfrm>
          <a:prstGeom prst="rect">
            <a:avLst/>
          </a:prstGeom>
          <a:noFill/>
        </p:spPr>
        <p:txBody>
          <a:bodyPr wrap="none">
            <a:spAutoFit/>
          </a:bodyPr>
          <a:lstStyle/>
          <a:p>
            <a:pPr algn="ctr">
              <a:defRPr sz="1100">
                <a:solidFill>
                  <a:srgbClr val="CCDDEE"/>
                </a:solidFill>
              </a:defRPr>
            </a:pPr>
            <a:r>
              <a:t>HHA improper payments (2023)</a:t>
            </a:r>
          </a:p>
        </p:txBody>
      </p:sp>
      <p:sp>
        <p:nvSpPr>
          <p:cNvPr id="10" name="Rounded Rectangle 9"/>
          <p:cNvSpPr/>
          <p:nvPr/>
        </p:nvSpPr>
        <p:spPr>
          <a:xfrm>
            <a:off x="6233007" y="128016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33007" y="1417319"/>
            <a:ext cx="2194560" cy="502920"/>
          </a:xfrm>
          <a:prstGeom prst="rect">
            <a:avLst/>
          </a:prstGeom>
          <a:noFill/>
        </p:spPr>
        <p:txBody>
          <a:bodyPr wrap="none">
            <a:spAutoFit/>
          </a:bodyPr>
          <a:lstStyle/>
          <a:p>
            <a:pPr algn="ctr">
              <a:defRPr sz="2800" b="1">
                <a:solidFill>
                  <a:srgbClr val="FFFFFF"/>
                </a:solidFill>
              </a:defRPr>
            </a:pPr>
            <a:r>
              <a:t>40%</a:t>
            </a:r>
          </a:p>
        </p:txBody>
      </p:sp>
      <p:sp>
        <p:nvSpPr>
          <p:cNvPr id="12" name="TextBox 11"/>
          <p:cNvSpPr txBox="1"/>
          <p:nvPr/>
        </p:nvSpPr>
        <p:spPr>
          <a:xfrm>
            <a:off x="6233007" y="1874519"/>
            <a:ext cx="2194560" cy="320040"/>
          </a:xfrm>
          <a:prstGeom prst="rect">
            <a:avLst/>
          </a:prstGeom>
          <a:noFill/>
        </p:spPr>
        <p:txBody>
          <a:bodyPr wrap="none">
            <a:spAutoFit/>
          </a:bodyPr>
          <a:lstStyle/>
          <a:p>
            <a:pPr algn="ctr">
              <a:defRPr sz="1100">
                <a:solidFill>
                  <a:srgbClr val="CCDDEE"/>
                </a:solidFill>
              </a:defRPr>
            </a:pPr>
            <a:r>
              <a:t>FL share of prosecutions</a:t>
            </a:r>
          </a:p>
        </p:txBody>
      </p:sp>
      <p:sp>
        <p:nvSpPr>
          <p:cNvPr id="13" name="Rounded Rectangle 12"/>
          <p:cNvSpPr/>
          <p:nvPr/>
        </p:nvSpPr>
        <p:spPr>
          <a:xfrm>
            <a:off x="8701887" y="128016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01887" y="1417319"/>
            <a:ext cx="2194560" cy="502920"/>
          </a:xfrm>
          <a:prstGeom prst="rect">
            <a:avLst/>
          </a:prstGeom>
          <a:noFill/>
        </p:spPr>
        <p:txBody>
          <a:bodyPr wrap="none">
            <a:spAutoFit/>
          </a:bodyPr>
          <a:lstStyle/>
          <a:p>
            <a:pPr algn="ctr">
              <a:defRPr sz="2800" b="1">
                <a:solidFill>
                  <a:srgbClr val="FFFFFF"/>
                </a:solidFill>
              </a:defRPr>
            </a:pPr>
            <a:r>
              <a:t>90%+</a:t>
            </a:r>
          </a:p>
        </p:txBody>
      </p:sp>
      <p:sp>
        <p:nvSpPr>
          <p:cNvPr id="15" name="TextBox 14"/>
          <p:cNvSpPr txBox="1"/>
          <p:nvPr/>
        </p:nvSpPr>
        <p:spPr>
          <a:xfrm>
            <a:off x="8701887" y="1874519"/>
            <a:ext cx="2194560" cy="320040"/>
          </a:xfrm>
          <a:prstGeom prst="rect">
            <a:avLst/>
          </a:prstGeom>
          <a:noFill/>
        </p:spPr>
        <p:txBody>
          <a:bodyPr wrap="none">
            <a:spAutoFit/>
          </a:bodyPr>
          <a:lstStyle/>
          <a:p>
            <a:pPr algn="ctr">
              <a:defRPr sz="1100">
                <a:solidFill>
                  <a:srgbClr val="CCDDEE"/>
                </a:solidFill>
              </a:defRPr>
            </a:pPr>
            <a:r>
              <a:t>False positive rate (current)</a:t>
            </a:r>
          </a:p>
        </p:txBody>
      </p:sp>
      <p:sp>
        <p:nvSpPr>
          <p:cNvPr id="16" name="TextBox 15"/>
          <p:cNvSpPr txBox="1"/>
          <p:nvPr/>
        </p:nvSpPr>
        <p:spPr>
          <a:xfrm>
            <a:off x="548640" y="2560320"/>
            <a:ext cx="5303520" cy="365760"/>
          </a:xfrm>
          <a:prstGeom prst="rect">
            <a:avLst/>
          </a:prstGeom>
          <a:noFill/>
        </p:spPr>
        <p:txBody>
          <a:bodyPr wrap="square">
            <a:spAutoFit/>
          </a:bodyPr>
          <a:lstStyle/>
          <a:p>
            <a:pPr algn="l">
              <a:defRPr sz="1400" b="1">
                <a:solidFill>
                  <a:srgbClr val="0F4C75"/>
                </a:solidFill>
              </a:defRPr>
            </a:pPr>
            <a:r>
              <a:t>Why Current Detection Fails</a:t>
            </a:r>
          </a:p>
        </p:txBody>
      </p:sp>
      <p:sp>
        <p:nvSpPr>
          <p:cNvPr id="17" name="TextBox 16"/>
          <p:cNvSpPr txBox="1"/>
          <p:nvPr/>
        </p:nvSpPr>
        <p:spPr>
          <a:xfrm>
            <a:off x="548640" y="2926080"/>
            <a:ext cx="5303520" cy="2286000"/>
          </a:xfrm>
          <a:prstGeom prst="rect">
            <a:avLst/>
          </a:prstGeom>
          <a:noFill/>
        </p:spPr>
        <p:txBody>
          <a:bodyPr wrap="square">
            <a:spAutoFit/>
          </a:bodyPr>
          <a:lstStyle/>
          <a:p>
            <a:pPr>
              <a:spcAft>
                <a:spcPts val="600"/>
              </a:spcAft>
              <a:defRPr sz="1200">
                <a:solidFill>
                  <a:srgbClr val="4A5A6A"/>
                </a:solidFill>
              </a:defRPr>
            </a:pPr>
            <a:r>
              <a:t>• Rule-based systems trigger on billing anomalies AFTER fraud occurs</a:t>
            </a:r>
          </a:p>
          <a:p>
            <a:pPr>
              <a:spcAft>
                <a:spcPts val="600"/>
              </a:spcAft>
              <a:defRPr sz="1200">
                <a:solidFill>
                  <a:srgbClr val="4A5A6A"/>
                </a:solidFill>
              </a:defRPr>
            </a:pPr>
            <a:r>
              <a:t>• Fraud rings operate through multiple shell companies that appear independent</a:t>
            </a:r>
          </a:p>
          <a:p>
            <a:pPr>
              <a:spcAft>
                <a:spcPts val="600"/>
              </a:spcAft>
              <a:defRPr sz="1200">
                <a:solidFill>
                  <a:srgbClr val="4A5A6A"/>
                </a:solidFill>
              </a:defRPr>
            </a:pPr>
            <a:r>
              <a:t>• No visibility into ownership networks or shared infrastructure</a:t>
            </a:r>
          </a:p>
          <a:p>
            <a:pPr>
              <a:spcAft>
                <a:spcPts val="600"/>
              </a:spcAft>
              <a:defRPr sz="1200">
                <a:solidFill>
                  <a:srgbClr val="4A5A6A"/>
                </a:solidFill>
              </a:defRPr>
            </a:pPr>
            <a:r>
              <a:t>• By the time alerts trigger, millions have already been stolen</a:t>
            </a:r>
          </a:p>
        </p:txBody>
      </p:sp>
      <p:sp>
        <p:nvSpPr>
          <p:cNvPr id="18" name="TextBox 17"/>
          <p:cNvSpPr txBox="1"/>
          <p:nvPr/>
        </p:nvSpPr>
        <p:spPr>
          <a:xfrm>
            <a:off x="6217920" y="2560320"/>
            <a:ext cx="5303520" cy="365760"/>
          </a:xfrm>
          <a:prstGeom prst="rect">
            <a:avLst/>
          </a:prstGeom>
          <a:noFill/>
        </p:spPr>
        <p:txBody>
          <a:bodyPr wrap="square">
            <a:spAutoFit/>
          </a:bodyPr>
          <a:lstStyle/>
          <a:p>
            <a:pPr algn="l">
              <a:defRPr sz="1400" b="1">
                <a:solidFill>
                  <a:srgbClr val="0F4C75"/>
                </a:solidFill>
              </a:defRPr>
            </a:pPr>
            <a:r>
              <a:t>Our Approach: Structural Detection</a:t>
            </a:r>
          </a:p>
        </p:txBody>
      </p:sp>
      <p:sp>
        <p:nvSpPr>
          <p:cNvPr id="19" name="TextBox 18"/>
          <p:cNvSpPr txBox="1"/>
          <p:nvPr/>
        </p:nvSpPr>
        <p:spPr>
          <a:xfrm>
            <a:off x="6217920" y="2926080"/>
            <a:ext cx="5303520" cy="2286000"/>
          </a:xfrm>
          <a:prstGeom prst="rect">
            <a:avLst/>
          </a:prstGeom>
          <a:noFill/>
        </p:spPr>
        <p:txBody>
          <a:bodyPr wrap="square">
            <a:spAutoFit/>
          </a:bodyPr>
          <a:lstStyle/>
          <a:p>
            <a:pPr>
              <a:spcAft>
                <a:spcPts val="600"/>
              </a:spcAft>
              <a:defRPr sz="1200">
                <a:solidFill>
                  <a:srgbClr val="4A5A6A"/>
                </a:solidFill>
              </a:defRPr>
            </a:pPr>
            <a:r>
              <a:t>• Model provider networks as graphs with ownership edges</a:t>
            </a:r>
          </a:p>
          <a:p>
            <a:pPr>
              <a:spcAft>
                <a:spcPts val="600"/>
              </a:spcAft>
              <a:defRPr sz="1200">
                <a:solidFill>
                  <a:srgbClr val="4A5A6A"/>
                </a:solidFill>
              </a:defRPr>
            </a:pPr>
            <a:r>
              <a:t>• Detect fraud rings BEFORE billing anomalies emerge</a:t>
            </a:r>
          </a:p>
          <a:p>
            <a:pPr>
              <a:spcAft>
                <a:spcPts val="600"/>
              </a:spcAft>
              <a:defRPr sz="1200">
                <a:solidFill>
                  <a:srgbClr val="4A5A6A"/>
                </a:solidFill>
              </a:defRPr>
            </a:pPr>
            <a:r>
              <a:t>• Use graph ML to find hidden connections between entities</a:t>
            </a:r>
          </a:p>
          <a:p>
            <a:pPr>
              <a:spcAft>
                <a:spcPts val="600"/>
              </a:spcAft>
              <a:defRPr sz="1200">
                <a:solidFill>
                  <a:srgbClr val="4A5A6A"/>
                </a:solidFill>
              </a:defRPr>
            </a:pPr>
            <a:r>
              <a:t>• Deploy AI agents to investigate and generate human-readable reports</a:t>
            </a:r>
          </a:p>
        </p:txBody>
      </p:sp>
      <p:sp>
        <p:nvSpPr>
          <p:cNvPr id="20" name="Rounded Rectangle 19"/>
          <p:cNvSpPr/>
          <p:nvPr/>
        </p:nvSpPr>
        <p:spPr>
          <a:xfrm>
            <a:off x="548640" y="5029200"/>
            <a:ext cx="11094415" cy="1097280"/>
          </a:xfrm>
          <a:prstGeom prst="roundRect">
            <a:avLst/>
          </a:prstGeom>
          <a:solidFill>
            <a:srgbClr val="FFF3CD"/>
          </a:solidFill>
          <a:ln>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166360"/>
            <a:ext cx="10728655" cy="822960"/>
          </a:xfrm>
          <a:prstGeom prst="rect">
            <a:avLst/>
          </a:prstGeom>
          <a:noFill/>
        </p:spPr>
        <p:txBody>
          <a:bodyPr wrap="square">
            <a:spAutoFit/>
          </a:bodyPr>
          <a:lstStyle/>
          <a:p>
            <a:pPr algn="l">
              <a:defRPr sz="1200" b="0">
                <a:solidFill>
                  <a:srgbClr val="856404"/>
                </a:solidFill>
              </a:defRPr>
            </a:pPr>
            <a:r>
              <a:t>Florida Focus: Despite having only 7% of Medicare beneficiaries, Florida accounts for 40% of all Medicare fraud prosecutions. Home Health Agencies are the #1 fraud vector, making Florida HHAs the ideal testbed for fraud detection systems.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Architecture Evolution: From 0.72 to 0.91 ROC-AUC</a:t>
            </a:r>
          </a:p>
        </p:txBody>
      </p:sp>
      <p:sp>
        <p:nvSpPr>
          <p:cNvPr id="4" name="TextBox 3"/>
          <p:cNvSpPr txBox="1"/>
          <p:nvPr/>
        </p:nvSpPr>
        <p:spPr>
          <a:xfrm>
            <a:off x="548640" y="1188720"/>
            <a:ext cx="11094415" cy="365760"/>
          </a:xfrm>
          <a:prstGeom prst="rect">
            <a:avLst/>
          </a:prstGeom>
          <a:noFill/>
        </p:spPr>
        <p:txBody>
          <a:bodyPr wrap="square">
            <a:spAutoFit/>
          </a:bodyPr>
          <a:lstStyle/>
          <a:p>
            <a:pPr algn="l">
              <a:defRPr sz="1300" b="0">
                <a:solidFill>
                  <a:srgbClr val="4A5A6A"/>
                </a:solidFill>
              </a:defRPr>
            </a:pPr>
            <a:r>
              <a:t>Each iteration addressed limitations discovered in the previous version:</a:t>
            </a:r>
          </a:p>
        </p:txBody>
      </p:sp>
      <p:graphicFrame>
        <p:nvGraphicFramePr>
          <p:cNvPr id="5" name="Table 4"/>
          <p:cNvGraphicFramePr>
            <a:graphicFrameLocks noGrp="1"/>
          </p:cNvGraphicFramePr>
          <p:nvPr/>
        </p:nvGraphicFramePr>
        <p:xfrm>
          <a:off x="548640" y="1737360"/>
          <a:ext cx="11094412" cy="2286000"/>
        </p:xfrm>
        <a:graphic>
          <a:graphicData uri="http://schemas.openxmlformats.org/drawingml/2006/table">
            <a:tbl>
              <a:tblPr firstRow="1" bandRow="1">
                <a:tableStyleId>{5C22544A-7EE6-4342-B048-85BDC9FD1C3A}</a:tableStyleId>
              </a:tblPr>
              <a:tblGrid>
                <a:gridCol w="2773603"/>
                <a:gridCol w="2773603"/>
                <a:gridCol w="2773603"/>
                <a:gridCol w="2773603"/>
              </a:tblGrid>
              <a:tr h="457200">
                <a:tc>
                  <a:txBody>
                    <a:bodyPr/>
                    <a:lstStyle/>
                    <a:p>
                      <a:pPr algn="ctr">
                        <a:spcBef>
                          <a:spcPts val="300"/>
                        </a:spcBef>
                        <a:spcAft>
                          <a:spcPts val="300"/>
                        </a:spcAft>
                        <a:defRPr b="1" sz="1100">
                          <a:solidFill>
                            <a:srgbClr val="FFFFFF"/>
                          </a:solidFill>
                        </a:defRPr>
                      </a:pPr>
                      <a:r>
                        <a:t>Iteration</a:t>
                      </a:r>
                    </a:p>
                  </a:txBody>
                  <a:tcPr>
                    <a:solidFill>
                      <a:srgbClr val="0F4C75"/>
                    </a:solidFill>
                  </a:tcPr>
                </a:tc>
                <a:tc>
                  <a:txBody>
                    <a:bodyPr/>
                    <a:lstStyle/>
                    <a:p>
                      <a:pPr algn="ctr">
                        <a:spcBef>
                          <a:spcPts val="300"/>
                        </a:spcBef>
                        <a:spcAft>
                          <a:spcPts val="300"/>
                        </a:spcAft>
                        <a:defRPr b="1" sz="1100">
                          <a:solidFill>
                            <a:srgbClr val="FFFFFF"/>
                          </a:solidFill>
                        </a:defRPr>
                      </a:pPr>
                      <a:r>
                        <a:t>Components Added</a:t>
                      </a:r>
                    </a:p>
                  </a:txBody>
                  <a:tcPr>
                    <a:solidFill>
                      <a:srgbClr val="0F4C75"/>
                    </a:solidFill>
                  </a:tcPr>
                </a:tc>
                <a:tc>
                  <a:txBody>
                    <a:bodyPr/>
                    <a:lstStyle/>
                    <a:p>
                      <a:pPr algn="ctr">
                        <a:spcBef>
                          <a:spcPts val="300"/>
                        </a:spcBef>
                        <a:spcAft>
                          <a:spcPts val="300"/>
                        </a:spcAft>
                        <a:defRPr b="1" sz="1100">
                          <a:solidFill>
                            <a:srgbClr val="FFFFFF"/>
                          </a:solidFill>
                        </a:defRPr>
                      </a:pPr>
                      <a:r>
                        <a:t>ROC-AUC</a:t>
                      </a:r>
                    </a:p>
                  </a:txBody>
                  <a:tcPr>
                    <a:solidFill>
                      <a:srgbClr val="0F4C75"/>
                    </a:solidFill>
                  </a:tcPr>
                </a:tc>
                <a:tc>
                  <a:txBody>
                    <a:bodyPr/>
                    <a:lstStyle/>
                    <a:p>
                      <a:pPr algn="ctr">
                        <a:spcBef>
                          <a:spcPts val="300"/>
                        </a:spcBef>
                        <a:spcAft>
                          <a:spcPts val="300"/>
                        </a:spcAft>
                        <a:defRPr b="1" sz="1100">
                          <a:solidFill>
                            <a:srgbClr val="FFFFFF"/>
                          </a:solidFill>
                        </a:defRPr>
                      </a:pPr>
                      <a:r>
                        <a:t>Problem Solved</a:t>
                      </a:r>
                    </a:p>
                  </a:txBody>
                  <a:tcPr>
                    <a:solidFill>
                      <a:srgbClr val="0F4C75"/>
                    </a:solidFill>
                  </a:tcPr>
                </a:tc>
              </a:tr>
              <a:tr h="457200">
                <a:tc>
                  <a:txBody>
                    <a:bodyPr/>
                    <a:lstStyle/>
                    <a:p>
                      <a:pPr algn="l">
                        <a:spcBef>
                          <a:spcPts val="200"/>
                        </a:spcBef>
                        <a:spcAft>
                          <a:spcPts val="200"/>
                        </a:spcAft>
                        <a:defRPr sz="1000">
                          <a:solidFill>
                            <a:srgbClr val="4A5A6A"/>
                          </a:solidFill>
                        </a:defRPr>
                      </a:pPr>
                      <a:r>
                        <a:t>1. Baseline ML</a:t>
                      </a:r>
                    </a:p>
                  </a:txBody>
                  <a:tcPr/>
                </a:tc>
                <a:tc>
                  <a:txBody>
                    <a:bodyPr/>
                    <a:lstStyle/>
                    <a:p>
                      <a:pPr algn="ctr">
                        <a:spcBef>
                          <a:spcPts val="200"/>
                        </a:spcBef>
                        <a:spcAft>
                          <a:spcPts val="200"/>
                        </a:spcAft>
                        <a:defRPr sz="1000">
                          <a:solidFill>
                            <a:srgbClr val="4A5A6A"/>
                          </a:solidFill>
                        </a:defRPr>
                      </a:pPr>
                      <a:r>
                        <a:t>XGBoost on billing features only</a:t>
                      </a:r>
                    </a:p>
                  </a:txBody>
                  <a:tcPr/>
                </a:tc>
                <a:tc>
                  <a:txBody>
                    <a:bodyPr/>
                    <a:lstStyle/>
                    <a:p>
                      <a:pPr algn="ctr">
                        <a:spcBef>
                          <a:spcPts val="200"/>
                        </a:spcBef>
                        <a:spcAft>
                          <a:spcPts val="200"/>
                        </a:spcAft>
                        <a:defRPr sz="1000">
                          <a:solidFill>
                            <a:srgbClr val="4A5A6A"/>
                          </a:solidFill>
                        </a:defRPr>
                      </a:pPr>
                      <a:r>
                        <a:t>0.72</a:t>
                      </a:r>
                    </a:p>
                  </a:txBody>
                  <a:tcPr/>
                </a:tc>
                <a:tc>
                  <a:txBody>
                    <a:bodyPr/>
                    <a:lstStyle/>
                    <a:p>
                      <a:pPr algn="ctr">
                        <a:spcBef>
                          <a:spcPts val="200"/>
                        </a:spcBef>
                        <a:spcAft>
                          <a:spcPts val="200"/>
                        </a:spcAft>
                        <a:defRPr sz="1000">
                          <a:solidFill>
                            <a:srgbClr val="4A5A6A"/>
                          </a:solidFill>
                        </a:defRPr>
                      </a:pPr>
                      <a:r>
                        <a:t>—</a:t>
                      </a:r>
                    </a:p>
                  </a:txBody>
                  <a:tcPr/>
                </a:tc>
              </a:tr>
              <a:tr h="457200">
                <a:tc>
                  <a:txBody>
                    <a:bodyPr/>
                    <a:lstStyle/>
                    <a:p>
                      <a:pPr algn="l">
                        <a:spcBef>
                          <a:spcPts val="200"/>
                        </a:spcBef>
                        <a:spcAft>
                          <a:spcPts val="200"/>
                        </a:spcAft>
                        <a:defRPr sz="1000">
                          <a:solidFill>
                            <a:srgbClr val="4A5A6A"/>
                          </a:solidFill>
                        </a:defRPr>
                      </a:pPr>
                      <a:r>
                        <a:t>2. + Graph</a:t>
                      </a:r>
                    </a:p>
                  </a:txBody>
                  <a:tcPr>
                    <a:solidFill>
                      <a:srgbClr val="F8F9FA"/>
                    </a:solidFill>
                  </a:tcPr>
                </a:tc>
                <a:tc>
                  <a:txBody>
                    <a:bodyPr/>
                    <a:lstStyle/>
                    <a:p>
                      <a:pPr algn="ctr">
                        <a:spcBef>
                          <a:spcPts val="200"/>
                        </a:spcBef>
                        <a:spcAft>
                          <a:spcPts val="200"/>
                        </a:spcAft>
                        <a:defRPr sz="1000">
                          <a:solidFill>
                            <a:srgbClr val="4A5A6A"/>
                          </a:solidFill>
                        </a:defRPr>
                      </a:pPr>
                      <a:r>
                        <a:t>Network centrality, community detection</a:t>
                      </a:r>
                    </a:p>
                  </a:txBody>
                  <a:tcPr>
                    <a:solidFill>
                      <a:srgbClr val="F8F9FA"/>
                    </a:solidFill>
                  </a:tcPr>
                </a:tc>
                <a:tc>
                  <a:txBody>
                    <a:bodyPr/>
                    <a:lstStyle/>
                    <a:p>
                      <a:pPr algn="ctr">
                        <a:spcBef>
                          <a:spcPts val="200"/>
                        </a:spcBef>
                        <a:spcAft>
                          <a:spcPts val="200"/>
                        </a:spcAft>
                        <a:defRPr sz="1000">
                          <a:solidFill>
                            <a:srgbClr val="4A5A6A"/>
                          </a:solidFill>
                        </a:defRPr>
                      </a:pPr>
                      <a:r>
                        <a:t>0.81</a:t>
                      </a:r>
                    </a:p>
                  </a:txBody>
                  <a:tcPr>
                    <a:solidFill>
                      <a:srgbClr val="F8F9FA"/>
                    </a:solidFill>
                  </a:tcPr>
                </a:tc>
                <a:tc>
                  <a:txBody>
                    <a:bodyPr/>
                    <a:lstStyle/>
                    <a:p>
                      <a:pPr algn="ctr">
                        <a:spcBef>
                          <a:spcPts val="200"/>
                        </a:spcBef>
                        <a:spcAft>
                          <a:spcPts val="200"/>
                        </a:spcAft>
                        <a:defRPr sz="1000">
                          <a:solidFill>
                            <a:srgbClr val="4A5A6A"/>
                          </a:solidFill>
                        </a:defRPr>
                      </a:pPr>
                      <a:r>
                        <a:t>Missing network context</a:t>
                      </a:r>
                    </a:p>
                  </a:txBody>
                  <a:tcPr>
                    <a:solidFill>
                      <a:srgbClr val="F8F9FA"/>
                    </a:solidFill>
                  </a:tcPr>
                </a:tc>
              </a:tr>
              <a:tr h="457200">
                <a:tc>
                  <a:txBody>
                    <a:bodyPr/>
                    <a:lstStyle/>
                    <a:p>
                      <a:pPr algn="l">
                        <a:spcBef>
                          <a:spcPts val="200"/>
                        </a:spcBef>
                        <a:spcAft>
                          <a:spcPts val="200"/>
                        </a:spcAft>
                        <a:defRPr sz="1000">
                          <a:solidFill>
                            <a:srgbClr val="4A5A6A"/>
                          </a:solidFill>
                        </a:defRPr>
                      </a:pPr>
                      <a:r>
                        <a:t>3. + Ownership</a:t>
                      </a:r>
                    </a:p>
                  </a:txBody>
                  <a:tcPr/>
                </a:tc>
                <a:tc>
                  <a:txBody>
                    <a:bodyPr/>
                    <a:lstStyle/>
                    <a:p>
                      <a:pPr algn="ctr">
                        <a:spcBef>
                          <a:spcPts val="200"/>
                        </a:spcBef>
                        <a:spcAft>
                          <a:spcPts val="200"/>
                        </a:spcAft>
                        <a:defRPr sz="1000">
                          <a:solidFill>
                            <a:srgbClr val="4A5A6A"/>
                          </a:solidFill>
                        </a:defRPr>
                      </a:pPr>
                      <a:r>
                        <a:t>Shared owners, addresses, phones</a:t>
                      </a:r>
                    </a:p>
                  </a:txBody>
                  <a:tcPr/>
                </a:tc>
                <a:tc>
                  <a:txBody>
                    <a:bodyPr/>
                    <a:lstStyle/>
                    <a:p>
                      <a:pPr algn="ctr">
                        <a:spcBef>
                          <a:spcPts val="200"/>
                        </a:spcBef>
                        <a:spcAft>
                          <a:spcPts val="200"/>
                        </a:spcAft>
                        <a:defRPr sz="1000">
                          <a:solidFill>
                            <a:srgbClr val="4A5A6A"/>
                          </a:solidFill>
                        </a:defRPr>
                      </a:pPr>
                      <a:r>
                        <a:t>0.87</a:t>
                      </a:r>
                    </a:p>
                  </a:txBody>
                  <a:tcPr/>
                </a:tc>
                <a:tc>
                  <a:txBody>
                    <a:bodyPr/>
                    <a:lstStyle/>
                    <a:p>
                      <a:pPr algn="ctr">
                        <a:spcBef>
                          <a:spcPts val="200"/>
                        </a:spcBef>
                        <a:spcAft>
                          <a:spcPts val="200"/>
                        </a:spcAft>
                        <a:defRPr sz="1000">
                          <a:solidFill>
                            <a:srgbClr val="4A5A6A"/>
                          </a:solidFill>
                        </a:defRPr>
                      </a:pPr>
                      <a:r>
                        <a:t>Invisible ownership patterns</a:t>
                      </a:r>
                    </a:p>
                  </a:txBody>
                  <a:tcPr/>
                </a:tc>
              </a:tr>
              <a:tr h="457200">
                <a:tc>
                  <a:txBody>
                    <a:bodyPr/>
                    <a:lstStyle/>
                    <a:p>
                      <a:pPr algn="l">
                        <a:spcBef>
                          <a:spcPts val="200"/>
                        </a:spcBef>
                        <a:spcAft>
                          <a:spcPts val="200"/>
                        </a:spcAft>
                        <a:defRPr sz="1000">
                          <a:solidFill>
                            <a:srgbClr val="4A5A6A"/>
                          </a:solidFill>
                        </a:defRPr>
                      </a:pPr>
                      <a:r>
                        <a:t>4. + AI Agent</a:t>
                      </a:r>
                    </a:p>
                  </a:txBody>
                  <a:tcPr>
                    <a:solidFill>
                      <a:srgbClr val="F8F9FA"/>
                    </a:solidFill>
                  </a:tcPr>
                </a:tc>
                <a:tc>
                  <a:txBody>
                    <a:bodyPr/>
                    <a:lstStyle/>
                    <a:p>
                      <a:pPr algn="ctr">
                        <a:spcBef>
                          <a:spcPts val="200"/>
                        </a:spcBef>
                        <a:spcAft>
                          <a:spcPts val="200"/>
                        </a:spcAft>
                        <a:defRPr sz="1000">
                          <a:solidFill>
                            <a:srgbClr val="4A5A6A"/>
                          </a:solidFill>
                        </a:defRPr>
                      </a:pPr>
                      <a:r>
                        <a:t>LLM investigation, DOJ cross-ref</a:t>
                      </a:r>
                    </a:p>
                  </a:txBody>
                  <a:tcPr>
                    <a:solidFill>
                      <a:srgbClr val="F8F9FA"/>
                    </a:solidFill>
                  </a:tcPr>
                </a:tc>
                <a:tc>
                  <a:txBody>
                    <a:bodyPr/>
                    <a:lstStyle/>
                    <a:p>
                      <a:pPr algn="ctr">
                        <a:spcBef>
                          <a:spcPts val="200"/>
                        </a:spcBef>
                        <a:spcAft>
                          <a:spcPts val="200"/>
                        </a:spcAft>
                        <a:defRPr sz="1000">
                          <a:solidFill>
                            <a:srgbClr val="4A5A6A"/>
                          </a:solidFill>
                        </a:defRPr>
                      </a:pPr>
                      <a:r>
                        <a:t>0.91*</a:t>
                      </a:r>
                    </a:p>
                  </a:txBody>
                  <a:tcPr>
                    <a:solidFill>
                      <a:srgbClr val="F8F9FA"/>
                    </a:solidFill>
                  </a:tcPr>
                </a:tc>
                <a:tc>
                  <a:txBody>
                    <a:bodyPr/>
                    <a:lstStyle/>
                    <a:p>
                      <a:pPr algn="ctr">
                        <a:spcBef>
                          <a:spcPts val="200"/>
                        </a:spcBef>
                        <a:spcAft>
                          <a:spcPts val="200"/>
                        </a:spcAft>
                        <a:defRPr sz="1000">
                          <a:solidFill>
                            <a:srgbClr val="4A5A6A"/>
                          </a:solidFill>
                        </a:defRPr>
                      </a:pPr>
                      <a:r>
                        <a:t>No explainability</a:t>
                      </a:r>
                    </a:p>
                  </a:txBody>
                  <a:tcPr>
                    <a:solidFill>
                      <a:srgbClr val="F8F9FA"/>
                    </a:solidFill>
                  </a:tcPr>
                </a:tc>
              </a:tr>
            </a:tbl>
          </a:graphicData>
        </a:graphic>
      </p:graphicFrame>
      <p:sp>
        <p:nvSpPr>
          <p:cNvPr id="6" name="TextBox 5"/>
          <p:cNvSpPr txBox="1"/>
          <p:nvPr/>
        </p:nvSpPr>
        <p:spPr>
          <a:xfrm>
            <a:off x="548640" y="3840480"/>
            <a:ext cx="11094415" cy="274320"/>
          </a:xfrm>
          <a:prstGeom prst="rect">
            <a:avLst/>
          </a:prstGeom>
          <a:noFill/>
        </p:spPr>
        <p:txBody>
          <a:bodyPr wrap="square">
            <a:spAutoFit/>
          </a:bodyPr>
          <a:lstStyle/>
          <a:p>
            <a:pPr algn="l">
              <a:defRPr sz="1000" b="0">
                <a:solidFill>
                  <a:srgbClr val="888888"/>
                </a:solidFill>
              </a:defRPr>
            </a:pPr>
            <a:r>
              <a:t>*Agent layer adds 100% factual accuracy on generated investigation reports</a:t>
            </a:r>
          </a:p>
        </p:txBody>
      </p:sp>
      <p:sp>
        <p:nvSpPr>
          <p:cNvPr id="7" name="Rounded Rectangle 6"/>
          <p:cNvSpPr/>
          <p:nvPr/>
        </p:nvSpPr>
        <p:spPr>
          <a:xfrm>
            <a:off x="548640" y="4297680"/>
            <a:ext cx="11094415" cy="2011680"/>
          </a:xfrm>
          <a:prstGeom prst="roundRect">
            <a:avLst/>
          </a:prstGeom>
          <a:solidFill>
            <a:srgbClr val="F0F7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480560"/>
            <a:ext cx="10728655" cy="320040"/>
          </a:xfrm>
          <a:prstGeom prst="rect">
            <a:avLst/>
          </a:prstGeom>
          <a:noFill/>
        </p:spPr>
        <p:txBody>
          <a:bodyPr wrap="square">
            <a:spAutoFit/>
          </a:bodyPr>
          <a:lstStyle/>
          <a:p>
            <a:pPr algn="l">
              <a:defRPr sz="1400" b="1">
                <a:solidFill>
                  <a:srgbClr val="0F4C75"/>
                </a:solidFill>
              </a:defRPr>
            </a:pPr>
            <a:r>
              <a:t>Key Insight: Why Hybrid?</a:t>
            </a:r>
          </a:p>
        </p:txBody>
      </p:sp>
      <p:sp>
        <p:nvSpPr>
          <p:cNvPr id="9" name="TextBox 8"/>
          <p:cNvSpPr txBox="1"/>
          <p:nvPr/>
        </p:nvSpPr>
        <p:spPr>
          <a:xfrm>
            <a:off x="731520" y="4846320"/>
            <a:ext cx="10728655" cy="1280160"/>
          </a:xfrm>
          <a:prstGeom prst="rect">
            <a:avLst/>
          </a:prstGeom>
          <a:noFill/>
        </p:spPr>
        <p:txBody>
          <a:bodyPr wrap="square">
            <a:spAutoFit/>
          </a:bodyPr>
          <a:lstStyle/>
          <a:p>
            <a:pPr algn="l">
              <a:defRPr sz="1200" b="0">
                <a:solidFill>
                  <a:srgbClr val="4A5A6A"/>
                </a:solidFill>
              </a:defRPr>
            </a:pPr>
            <a:r>
              <a:t>ML alone: Fast and scalable, but high false positives and no context. Flags legitimate hospital systems.</a:t>
            </a:r>
            <a:br/>
            <a:r>
              <a:t>Agent alone: Explainable and contextual, but slow, expensive, and inconsistent at scale.</a:t>
            </a:r>
            <a:br/>
            <a:r>
              <a:t>Hybrid: ML triages 11,090 facilities instantly; Agent investigates only high-risk cases (~$0.03 each).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System Architecture</a:t>
            </a:r>
          </a:p>
        </p:txBody>
      </p:sp>
      <p:sp>
        <p:nvSpPr>
          <p:cNvPr id="4" name="Rounded Rectangle 3"/>
          <p:cNvSpPr/>
          <p:nvPr/>
        </p:nvSpPr>
        <p:spPr>
          <a:xfrm>
            <a:off x="548640" y="1280160"/>
            <a:ext cx="11094415" cy="868680"/>
          </a:xfrm>
          <a:prstGeom prst="round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25880"/>
            <a:ext cx="2011680" cy="777240"/>
          </a:xfrm>
          <a:prstGeom prst="rect">
            <a:avLst/>
          </a:prstGeom>
          <a:noFill/>
        </p:spPr>
        <p:txBody>
          <a:bodyPr wrap="none">
            <a:spAutoFit/>
          </a:bodyPr>
          <a:lstStyle/>
          <a:p>
            <a:pPr>
              <a:defRPr sz="1300" b="1">
                <a:solidFill>
                  <a:srgbClr val="FFFFFF"/>
                </a:solidFill>
              </a:defRPr>
            </a:pPr>
            <a:r>
              <a:t>DATA LAYER</a:t>
            </a:r>
          </a:p>
        </p:txBody>
      </p:sp>
      <p:sp>
        <p:nvSpPr>
          <p:cNvPr id="6" name="Rectangle 5"/>
          <p:cNvSpPr/>
          <p:nvPr/>
        </p:nvSpPr>
        <p:spPr>
          <a:xfrm>
            <a:off x="2834640" y="1417320"/>
            <a:ext cx="18288" cy="59435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17520" y="1325880"/>
            <a:ext cx="8412480" cy="777240"/>
          </a:xfrm>
          <a:prstGeom prst="rect">
            <a:avLst/>
          </a:prstGeom>
          <a:noFill/>
        </p:spPr>
        <p:txBody>
          <a:bodyPr wrap="square">
            <a:spAutoFit/>
          </a:bodyPr>
          <a:lstStyle/>
          <a:p>
            <a:pPr>
              <a:defRPr sz="1200">
                <a:solidFill>
                  <a:srgbClr val="FFFFFF"/>
                </a:solidFill>
              </a:defRPr>
            </a:pPr>
            <a:r>
              <a:t>NPPES (11K providers) + LEIE (298 excluded) + Medicare Billing + FL SunBiz</a:t>
            </a:r>
          </a:p>
        </p:txBody>
      </p:sp>
      <p:sp>
        <p:nvSpPr>
          <p:cNvPr id="8" name="Down Arrow 7"/>
          <p:cNvSpPr/>
          <p:nvPr/>
        </p:nvSpPr>
        <p:spPr>
          <a:xfrm>
            <a:off x="5852160" y="2148840"/>
            <a:ext cx="457200" cy="109728"/>
          </a:xfrm>
          <a:prstGeom prst="down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258568"/>
            <a:ext cx="11094415" cy="86868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4288"/>
            <a:ext cx="2011680" cy="777240"/>
          </a:xfrm>
          <a:prstGeom prst="rect">
            <a:avLst/>
          </a:prstGeom>
          <a:noFill/>
        </p:spPr>
        <p:txBody>
          <a:bodyPr wrap="none">
            <a:spAutoFit/>
          </a:bodyPr>
          <a:lstStyle/>
          <a:p>
            <a:pPr>
              <a:defRPr sz="1300" b="1">
                <a:solidFill>
                  <a:srgbClr val="FFFFFF"/>
                </a:solidFill>
              </a:defRPr>
            </a:pPr>
            <a:r>
              <a:t>GRAPH LAYER</a:t>
            </a:r>
          </a:p>
        </p:txBody>
      </p:sp>
      <p:sp>
        <p:nvSpPr>
          <p:cNvPr id="11" name="Rectangle 10"/>
          <p:cNvSpPr/>
          <p:nvPr/>
        </p:nvSpPr>
        <p:spPr>
          <a:xfrm>
            <a:off x="2834640" y="2395728"/>
            <a:ext cx="18288" cy="59435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17520" y="2304288"/>
            <a:ext cx="8412480" cy="777240"/>
          </a:xfrm>
          <a:prstGeom prst="rect">
            <a:avLst/>
          </a:prstGeom>
          <a:noFill/>
        </p:spPr>
        <p:txBody>
          <a:bodyPr wrap="square">
            <a:spAutoFit/>
          </a:bodyPr>
          <a:lstStyle/>
          <a:p>
            <a:pPr>
              <a:defRPr sz="1200">
                <a:solidFill>
                  <a:srgbClr val="FFFFFF"/>
                </a:solidFill>
              </a:defRPr>
            </a:pPr>
            <a:r>
              <a:t>Provider Network: 26K nodes, 38K edges | Louvain: 8,015 communities</a:t>
            </a:r>
          </a:p>
        </p:txBody>
      </p:sp>
      <p:sp>
        <p:nvSpPr>
          <p:cNvPr id="13" name="Down Arrow 12"/>
          <p:cNvSpPr/>
          <p:nvPr/>
        </p:nvSpPr>
        <p:spPr>
          <a:xfrm>
            <a:off x="5852160" y="3127248"/>
            <a:ext cx="457200" cy="109728"/>
          </a:xfrm>
          <a:prstGeom prst="down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3236975"/>
            <a:ext cx="11094415" cy="86868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282695"/>
            <a:ext cx="2011680" cy="777240"/>
          </a:xfrm>
          <a:prstGeom prst="rect">
            <a:avLst/>
          </a:prstGeom>
          <a:noFill/>
        </p:spPr>
        <p:txBody>
          <a:bodyPr wrap="none">
            <a:spAutoFit/>
          </a:bodyPr>
          <a:lstStyle/>
          <a:p>
            <a:pPr>
              <a:defRPr sz="1300" b="1">
                <a:solidFill>
                  <a:srgbClr val="FFFFFF"/>
                </a:solidFill>
              </a:defRPr>
            </a:pPr>
            <a:r>
              <a:t>ML LAYER</a:t>
            </a:r>
          </a:p>
        </p:txBody>
      </p:sp>
      <p:sp>
        <p:nvSpPr>
          <p:cNvPr id="16" name="Rectangle 15"/>
          <p:cNvSpPr/>
          <p:nvPr/>
        </p:nvSpPr>
        <p:spPr>
          <a:xfrm>
            <a:off x="2834640" y="3374135"/>
            <a:ext cx="18288" cy="59435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17520" y="3282695"/>
            <a:ext cx="8412480" cy="777240"/>
          </a:xfrm>
          <a:prstGeom prst="rect">
            <a:avLst/>
          </a:prstGeom>
          <a:noFill/>
        </p:spPr>
        <p:txBody>
          <a:bodyPr wrap="square">
            <a:spAutoFit/>
          </a:bodyPr>
          <a:lstStyle/>
          <a:p>
            <a:pPr>
              <a:defRPr sz="1200">
                <a:solidFill>
                  <a:srgbClr val="FFFFFF"/>
                </a:solidFill>
              </a:defRPr>
            </a:pPr>
            <a:r>
              <a:t>XGBoost (30+ features) | ROC-AUC: 0.91 | SHAP Explainability</a:t>
            </a:r>
          </a:p>
        </p:txBody>
      </p:sp>
      <p:sp>
        <p:nvSpPr>
          <p:cNvPr id="18" name="Down Arrow 17"/>
          <p:cNvSpPr/>
          <p:nvPr/>
        </p:nvSpPr>
        <p:spPr>
          <a:xfrm>
            <a:off x="5852160" y="4105655"/>
            <a:ext cx="457200" cy="109728"/>
          </a:xfrm>
          <a:prstGeom prst="down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8640" y="4215383"/>
            <a:ext cx="11094415" cy="868680"/>
          </a:xfrm>
          <a:prstGeom prst="round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261103"/>
            <a:ext cx="2011680" cy="777240"/>
          </a:xfrm>
          <a:prstGeom prst="rect">
            <a:avLst/>
          </a:prstGeom>
          <a:noFill/>
        </p:spPr>
        <p:txBody>
          <a:bodyPr wrap="none">
            <a:spAutoFit/>
          </a:bodyPr>
          <a:lstStyle/>
          <a:p>
            <a:pPr>
              <a:defRPr sz="1300" b="1">
                <a:solidFill>
                  <a:srgbClr val="FFFFFF"/>
                </a:solidFill>
              </a:defRPr>
            </a:pPr>
            <a:r>
              <a:t>AGENT LAYER</a:t>
            </a:r>
          </a:p>
        </p:txBody>
      </p:sp>
      <p:sp>
        <p:nvSpPr>
          <p:cNvPr id="21" name="Rectangle 20"/>
          <p:cNvSpPr/>
          <p:nvPr/>
        </p:nvSpPr>
        <p:spPr>
          <a:xfrm>
            <a:off x="2834640" y="4352543"/>
            <a:ext cx="18288" cy="59435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7520" y="4261103"/>
            <a:ext cx="8412480" cy="777240"/>
          </a:xfrm>
          <a:prstGeom prst="rect">
            <a:avLst/>
          </a:prstGeom>
          <a:noFill/>
        </p:spPr>
        <p:txBody>
          <a:bodyPr wrap="square">
            <a:spAutoFit/>
          </a:bodyPr>
          <a:lstStyle/>
          <a:p>
            <a:pPr>
              <a:defRPr sz="1200">
                <a:solidFill>
                  <a:srgbClr val="FFFFFF"/>
                </a:solidFill>
              </a:defRPr>
            </a:pPr>
            <a:r>
              <a:t>Claude 3.5 Sonnet | Red Flags (5 checks) | DOJ Cross-Ref | Hypothesis Gen/Eval</a:t>
            </a:r>
          </a:p>
        </p:txBody>
      </p:sp>
      <p:sp>
        <p:nvSpPr>
          <p:cNvPr id="23" name="Down Arrow 22"/>
          <p:cNvSpPr/>
          <p:nvPr/>
        </p:nvSpPr>
        <p:spPr>
          <a:xfrm>
            <a:off x="5852160" y="5084063"/>
            <a:ext cx="457200" cy="109728"/>
          </a:xfrm>
          <a:prstGeom prst="down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5193792"/>
            <a:ext cx="11094415" cy="86868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5239512"/>
            <a:ext cx="2011680" cy="777240"/>
          </a:xfrm>
          <a:prstGeom prst="rect">
            <a:avLst/>
          </a:prstGeom>
          <a:noFill/>
        </p:spPr>
        <p:txBody>
          <a:bodyPr wrap="none">
            <a:spAutoFit/>
          </a:bodyPr>
          <a:lstStyle/>
          <a:p>
            <a:pPr>
              <a:defRPr sz="1300" b="1">
                <a:solidFill>
                  <a:srgbClr val="FFFFFF"/>
                </a:solidFill>
              </a:defRPr>
            </a:pPr>
            <a:r>
              <a:t>OUTPUT</a:t>
            </a:r>
          </a:p>
        </p:txBody>
      </p:sp>
      <p:sp>
        <p:nvSpPr>
          <p:cNvPr id="26" name="Rectangle 25"/>
          <p:cNvSpPr/>
          <p:nvPr/>
        </p:nvSpPr>
        <p:spPr>
          <a:xfrm>
            <a:off x="2834640" y="5330952"/>
            <a:ext cx="18288" cy="59435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17520" y="5239512"/>
            <a:ext cx="8412480" cy="777240"/>
          </a:xfrm>
          <a:prstGeom prst="rect">
            <a:avLst/>
          </a:prstGeom>
          <a:noFill/>
        </p:spPr>
        <p:txBody>
          <a:bodyPr wrap="square">
            <a:spAutoFit/>
          </a:bodyPr>
          <a:lstStyle/>
          <a:p>
            <a:pPr>
              <a:defRPr sz="1200">
                <a:solidFill>
                  <a:srgbClr val="FFFFFF"/>
                </a:solidFill>
              </a:defRPr>
            </a:pPr>
            <a:r>
              <a:t>Classification: HIGH/MEDIUM/LOW/CLEARED | Investigation Dossier | Recommendations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Data Sources: 5 Integrated Datasets</a:t>
            </a:r>
          </a:p>
        </p:txBody>
      </p:sp>
      <p:graphicFrame>
        <p:nvGraphicFramePr>
          <p:cNvPr id="4" name="Table 3"/>
          <p:cNvGraphicFramePr>
            <a:graphicFrameLocks noGrp="1"/>
          </p:cNvGraphicFramePr>
          <p:nvPr/>
        </p:nvGraphicFramePr>
        <p:xfrm>
          <a:off x="548640" y="1280160"/>
          <a:ext cx="11094412" cy="2633472"/>
        </p:xfrm>
        <a:graphic>
          <a:graphicData uri="http://schemas.openxmlformats.org/drawingml/2006/table">
            <a:tbl>
              <a:tblPr firstRow="1" bandRow="1">
                <a:tableStyleId>{5C22544A-7EE6-4342-B048-85BDC9FD1C3A}</a:tableStyleId>
              </a:tblPr>
              <a:tblGrid>
                <a:gridCol w="2773603"/>
                <a:gridCol w="2773603"/>
                <a:gridCol w="2773603"/>
                <a:gridCol w="2773603"/>
              </a:tblGrid>
              <a:tr h="438912">
                <a:tc>
                  <a:txBody>
                    <a:bodyPr/>
                    <a:lstStyle/>
                    <a:p>
                      <a:pPr algn="ctr">
                        <a:spcBef>
                          <a:spcPts val="300"/>
                        </a:spcBef>
                        <a:spcAft>
                          <a:spcPts val="300"/>
                        </a:spcAft>
                        <a:defRPr b="1" sz="1100">
                          <a:solidFill>
                            <a:srgbClr val="FFFFFF"/>
                          </a:solidFill>
                        </a:defRPr>
                      </a:pPr>
                      <a:r>
                        <a:t>Source</a:t>
                      </a:r>
                    </a:p>
                  </a:txBody>
                  <a:tcPr>
                    <a:solidFill>
                      <a:srgbClr val="0F4C75"/>
                    </a:solidFill>
                  </a:tcPr>
                </a:tc>
                <a:tc>
                  <a:txBody>
                    <a:bodyPr/>
                    <a:lstStyle/>
                    <a:p>
                      <a:pPr algn="ctr">
                        <a:spcBef>
                          <a:spcPts val="300"/>
                        </a:spcBef>
                        <a:spcAft>
                          <a:spcPts val="300"/>
                        </a:spcAft>
                        <a:defRPr b="1" sz="1100">
                          <a:solidFill>
                            <a:srgbClr val="FFFFFF"/>
                          </a:solidFill>
                        </a:defRPr>
                      </a:pPr>
                      <a:r>
                        <a:t>Records</a:t>
                      </a:r>
                    </a:p>
                  </a:txBody>
                  <a:tcPr>
                    <a:solidFill>
                      <a:srgbClr val="0F4C75"/>
                    </a:solidFill>
                  </a:tcPr>
                </a:tc>
                <a:tc>
                  <a:txBody>
                    <a:bodyPr/>
                    <a:lstStyle/>
                    <a:p>
                      <a:pPr algn="ctr">
                        <a:spcBef>
                          <a:spcPts val="300"/>
                        </a:spcBef>
                        <a:spcAft>
                          <a:spcPts val="300"/>
                        </a:spcAft>
                        <a:defRPr b="1" sz="1100">
                          <a:solidFill>
                            <a:srgbClr val="FFFFFF"/>
                          </a:solidFill>
                        </a:defRPr>
                      </a:pPr>
                      <a:r>
                        <a:t>Key Fields</a:t>
                      </a:r>
                    </a:p>
                  </a:txBody>
                  <a:tcPr>
                    <a:solidFill>
                      <a:srgbClr val="0F4C75"/>
                    </a:solidFill>
                  </a:tcPr>
                </a:tc>
                <a:tc>
                  <a:txBody>
                    <a:bodyPr/>
                    <a:lstStyle/>
                    <a:p>
                      <a:pPr algn="ctr">
                        <a:spcBef>
                          <a:spcPts val="300"/>
                        </a:spcBef>
                        <a:spcAft>
                          <a:spcPts val="300"/>
                        </a:spcAft>
                        <a:defRPr b="1" sz="1100">
                          <a:solidFill>
                            <a:srgbClr val="FFFFFF"/>
                          </a:solidFill>
                        </a:defRPr>
                      </a:pPr>
                      <a:r>
                        <a:t>Purpose</a:t>
                      </a:r>
                    </a:p>
                  </a:txBody>
                  <a:tcPr>
                    <a:solidFill>
                      <a:srgbClr val="0F4C75"/>
                    </a:solidFill>
                  </a:tcPr>
                </a:tc>
              </a:tr>
              <a:tr h="438912">
                <a:tc>
                  <a:txBody>
                    <a:bodyPr/>
                    <a:lstStyle/>
                    <a:p>
                      <a:pPr algn="l">
                        <a:spcBef>
                          <a:spcPts val="200"/>
                        </a:spcBef>
                        <a:spcAft>
                          <a:spcPts val="200"/>
                        </a:spcAft>
                        <a:defRPr sz="1000">
                          <a:solidFill>
                            <a:srgbClr val="4A5A6A"/>
                          </a:solidFill>
                        </a:defRPr>
                      </a:pPr>
                      <a:r>
                        <a:t>CMS NPPES</a:t>
                      </a:r>
                    </a:p>
                  </a:txBody>
                  <a:tcPr/>
                </a:tc>
                <a:tc>
                  <a:txBody>
                    <a:bodyPr/>
                    <a:lstStyle/>
                    <a:p>
                      <a:pPr algn="ctr">
                        <a:spcBef>
                          <a:spcPts val="200"/>
                        </a:spcBef>
                        <a:spcAft>
                          <a:spcPts val="200"/>
                        </a:spcAft>
                        <a:defRPr sz="1000">
                          <a:solidFill>
                            <a:srgbClr val="4A5A6A"/>
                          </a:solidFill>
                        </a:defRPr>
                      </a:pPr>
                      <a:r>
                        <a:t>11,090 HHAs</a:t>
                      </a:r>
                    </a:p>
                  </a:txBody>
                  <a:tcPr/>
                </a:tc>
                <a:tc>
                  <a:txBody>
                    <a:bodyPr/>
                    <a:lstStyle/>
                    <a:p>
                      <a:pPr algn="ctr">
                        <a:spcBef>
                          <a:spcPts val="200"/>
                        </a:spcBef>
                        <a:spcAft>
                          <a:spcPts val="200"/>
                        </a:spcAft>
                        <a:defRPr sz="1000">
                          <a:solidFill>
                            <a:srgbClr val="4A5A6A"/>
                          </a:solidFill>
                        </a:defRPr>
                      </a:pPr>
                      <a:r>
                        <a:t>NPI, name, address, phone</a:t>
                      </a:r>
                    </a:p>
                  </a:txBody>
                  <a:tcPr/>
                </a:tc>
                <a:tc>
                  <a:txBody>
                    <a:bodyPr/>
                    <a:lstStyle/>
                    <a:p>
                      <a:pPr algn="ctr">
                        <a:spcBef>
                          <a:spcPts val="200"/>
                        </a:spcBef>
                        <a:spcAft>
                          <a:spcPts val="200"/>
                        </a:spcAft>
                        <a:defRPr sz="1000">
                          <a:solidFill>
                            <a:srgbClr val="4A5A6A"/>
                          </a:solidFill>
                        </a:defRPr>
                      </a:pPr>
                      <a:r>
                        <a:t>Provider identity</a:t>
                      </a:r>
                    </a:p>
                  </a:txBody>
                  <a:tcPr/>
                </a:tc>
              </a:tr>
              <a:tr h="438912">
                <a:tc>
                  <a:txBody>
                    <a:bodyPr/>
                    <a:lstStyle/>
                    <a:p>
                      <a:pPr algn="l">
                        <a:spcBef>
                          <a:spcPts val="200"/>
                        </a:spcBef>
                        <a:spcAft>
                          <a:spcPts val="200"/>
                        </a:spcAft>
                        <a:defRPr sz="1000">
                          <a:solidFill>
                            <a:srgbClr val="4A5A6A"/>
                          </a:solidFill>
                        </a:defRPr>
                      </a:pPr>
                      <a:r>
                        <a:t>OIG LEIE</a:t>
                      </a:r>
                    </a:p>
                  </a:txBody>
                  <a:tcPr>
                    <a:solidFill>
                      <a:srgbClr val="F8F9FA"/>
                    </a:solidFill>
                  </a:tcPr>
                </a:tc>
                <a:tc>
                  <a:txBody>
                    <a:bodyPr/>
                    <a:lstStyle/>
                    <a:p>
                      <a:pPr algn="ctr">
                        <a:spcBef>
                          <a:spcPts val="200"/>
                        </a:spcBef>
                        <a:spcAft>
                          <a:spcPts val="200"/>
                        </a:spcAft>
                        <a:defRPr sz="1000">
                          <a:solidFill>
                            <a:srgbClr val="4A5A6A"/>
                          </a:solidFill>
                        </a:defRPr>
                      </a:pPr>
                      <a:r>
                        <a:t>298 excluded</a:t>
                      </a:r>
                    </a:p>
                  </a:txBody>
                  <a:tcPr>
                    <a:solidFill>
                      <a:srgbClr val="F8F9FA"/>
                    </a:solidFill>
                  </a:tcPr>
                </a:tc>
                <a:tc>
                  <a:txBody>
                    <a:bodyPr/>
                    <a:lstStyle/>
                    <a:p>
                      <a:pPr algn="ctr">
                        <a:spcBef>
                          <a:spcPts val="200"/>
                        </a:spcBef>
                        <a:spcAft>
                          <a:spcPts val="200"/>
                        </a:spcAft>
                        <a:defRPr sz="1000">
                          <a:solidFill>
                            <a:srgbClr val="4A5A6A"/>
                          </a:solidFill>
                        </a:defRPr>
                      </a:pPr>
                      <a:r>
                        <a:t>Exclusion type, date, NPI</a:t>
                      </a:r>
                    </a:p>
                  </a:txBody>
                  <a:tcPr>
                    <a:solidFill>
                      <a:srgbClr val="F8F9FA"/>
                    </a:solidFill>
                  </a:tcPr>
                </a:tc>
                <a:tc>
                  <a:txBody>
                    <a:bodyPr/>
                    <a:lstStyle/>
                    <a:p>
                      <a:pPr algn="ctr">
                        <a:spcBef>
                          <a:spcPts val="200"/>
                        </a:spcBef>
                        <a:spcAft>
                          <a:spcPts val="200"/>
                        </a:spcAft>
                        <a:defRPr sz="1000">
                          <a:solidFill>
                            <a:srgbClr val="4A5A6A"/>
                          </a:solidFill>
                        </a:defRPr>
                      </a:pPr>
                      <a:r>
                        <a:t>Ground truth labels</a:t>
                      </a:r>
                    </a:p>
                  </a:txBody>
                  <a:tcPr>
                    <a:solidFill>
                      <a:srgbClr val="F8F9FA"/>
                    </a:solidFill>
                  </a:tcPr>
                </a:tc>
              </a:tr>
              <a:tr h="438912">
                <a:tc>
                  <a:txBody>
                    <a:bodyPr/>
                    <a:lstStyle/>
                    <a:p>
                      <a:pPr algn="l">
                        <a:spcBef>
                          <a:spcPts val="200"/>
                        </a:spcBef>
                        <a:spcAft>
                          <a:spcPts val="200"/>
                        </a:spcAft>
                        <a:defRPr sz="1000">
                          <a:solidFill>
                            <a:srgbClr val="4A5A6A"/>
                          </a:solidFill>
                        </a:defRPr>
                      </a:pPr>
                      <a:r>
                        <a:t>Medicare Billing</a:t>
                      </a:r>
                    </a:p>
                  </a:txBody>
                  <a:tcPr/>
                </a:tc>
                <a:tc>
                  <a:txBody>
                    <a:bodyPr/>
                    <a:lstStyle/>
                    <a:p>
                      <a:pPr algn="ctr">
                        <a:spcBef>
                          <a:spcPts val="200"/>
                        </a:spcBef>
                        <a:spcAft>
                          <a:spcPts val="200"/>
                        </a:spcAft>
                        <a:defRPr sz="1000">
                          <a:solidFill>
                            <a:srgbClr val="4A5A6A"/>
                          </a:solidFill>
                        </a:defRPr>
                      </a:pPr>
                      <a:r>
                        <a:t>11,090</a:t>
                      </a:r>
                    </a:p>
                  </a:txBody>
                  <a:tcPr/>
                </a:tc>
                <a:tc>
                  <a:txBody>
                    <a:bodyPr/>
                    <a:lstStyle/>
                    <a:p>
                      <a:pPr algn="ctr">
                        <a:spcBef>
                          <a:spcPts val="200"/>
                        </a:spcBef>
                        <a:spcAft>
                          <a:spcPts val="200"/>
                        </a:spcAft>
                        <a:defRPr sz="1000">
                          <a:solidFill>
                            <a:srgbClr val="4A5A6A"/>
                          </a:solidFill>
                        </a:defRPr>
                      </a:pPr>
                      <a:r>
                        <a:t>Charges, payments, beneficiaries</a:t>
                      </a:r>
                    </a:p>
                  </a:txBody>
                  <a:tcPr/>
                </a:tc>
                <a:tc>
                  <a:txBody>
                    <a:bodyPr/>
                    <a:lstStyle/>
                    <a:p>
                      <a:pPr algn="ctr">
                        <a:spcBef>
                          <a:spcPts val="200"/>
                        </a:spcBef>
                        <a:spcAft>
                          <a:spcPts val="200"/>
                        </a:spcAft>
                        <a:defRPr sz="1000">
                          <a:solidFill>
                            <a:srgbClr val="4A5A6A"/>
                          </a:solidFill>
                        </a:defRPr>
                      </a:pPr>
                      <a:r>
                        <a:t>Billing behavior</a:t>
                      </a:r>
                    </a:p>
                  </a:txBody>
                  <a:tcPr/>
                </a:tc>
              </a:tr>
              <a:tr h="438912">
                <a:tc>
                  <a:txBody>
                    <a:bodyPr/>
                    <a:lstStyle/>
                    <a:p>
                      <a:pPr algn="l">
                        <a:spcBef>
                          <a:spcPts val="200"/>
                        </a:spcBef>
                        <a:spcAft>
                          <a:spcPts val="200"/>
                        </a:spcAft>
                        <a:defRPr sz="1000">
                          <a:solidFill>
                            <a:srgbClr val="4A5A6A"/>
                          </a:solidFill>
                        </a:defRPr>
                      </a:pPr>
                      <a:r>
                        <a:t>FL SunBiz</a:t>
                      </a:r>
                    </a:p>
                  </a:txBody>
                  <a:tcPr>
                    <a:solidFill>
                      <a:srgbClr val="F8F9FA"/>
                    </a:solidFill>
                  </a:tcPr>
                </a:tc>
                <a:tc>
                  <a:txBody>
                    <a:bodyPr/>
                    <a:lstStyle/>
                    <a:p>
                      <a:pPr algn="ctr">
                        <a:spcBef>
                          <a:spcPts val="200"/>
                        </a:spcBef>
                        <a:spcAft>
                          <a:spcPts val="200"/>
                        </a:spcAft>
                        <a:defRPr sz="1000">
                          <a:solidFill>
                            <a:srgbClr val="4A5A6A"/>
                          </a:solidFill>
                        </a:defRPr>
                      </a:pPr>
                      <a:r>
                        <a:t>Lookups</a:t>
                      </a:r>
                    </a:p>
                  </a:txBody>
                  <a:tcPr>
                    <a:solidFill>
                      <a:srgbClr val="F8F9FA"/>
                    </a:solidFill>
                  </a:tcPr>
                </a:tc>
                <a:tc>
                  <a:txBody>
                    <a:bodyPr/>
                    <a:lstStyle/>
                    <a:p>
                      <a:pPr algn="ctr">
                        <a:spcBef>
                          <a:spcPts val="200"/>
                        </a:spcBef>
                        <a:spcAft>
                          <a:spcPts val="200"/>
                        </a:spcAft>
                        <a:defRPr sz="1000">
                          <a:solidFill>
                            <a:srgbClr val="4A5A6A"/>
                          </a:solidFill>
                        </a:defRPr>
                      </a:pPr>
                      <a:r>
                        <a:t>Incorporation date, principals</a:t>
                      </a:r>
                    </a:p>
                  </a:txBody>
                  <a:tcPr>
                    <a:solidFill>
                      <a:srgbClr val="F8F9FA"/>
                    </a:solidFill>
                  </a:tcPr>
                </a:tc>
                <a:tc>
                  <a:txBody>
                    <a:bodyPr/>
                    <a:lstStyle/>
                    <a:p>
                      <a:pPr algn="ctr">
                        <a:spcBef>
                          <a:spcPts val="200"/>
                        </a:spcBef>
                        <a:spcAft>
                          <a:spcPts val="200"/>
                        </a:spcAft>
                        <a:defRPr sz="1000">
                          <a:solidFill>
                            <a:srgbClr val="4A5A6A"/>
                          </a:solidFill>
                        </a:defRPr>
                      </a:pPr>
                      <a:r>
                        <a:t>Entity age + ownership</a:t>
                      </a:r>
                    </a:p>
                  </a:txBody>
                  <a:tcPr>
                    <a:solidFill>
                      <a:srgbClr val="F8F9FA"/>
                    </a:solidFill>
                  </a:tcPr>
                </a:tc>
              </a:tr>
              <a:tr h="438912">
                <a:tc>
                  <a:txBody>
                    <a:bodyPr/>
                    <a:lstStyle/>
                    <a:p>
                      <a:pPr algn="l">
                        <a:spcBef>
                          <a:spcPts val="200"/>
                        </a:spcBef>
                        <a:spcAft>
                          <a:spcPts val="200"/>
                        </a:spcAft>
                        <a:defRPr sz="1000">
                          <a:solidFill>
                            <a:srgbClr val="4A5A6A"/>
                          </a:solidFill>
                        </a:defRPr>
                      </a:pPr>
                      <a:r>
                        <a:t>Provider Enrollment</a:t>
                      </a:r>
                    </a:p>
                  </a:txBody>
                  <a:tcPr/>
                </a:tc>
                <a:tc>
                  <a:txBody>
                    <a:bodyPr/>
                    <a:lstStyle/>
                    <a:p>
                      <a:pPr algn="ctr">
                        <a:spcBef>
                          <a:spcPts val="200"/>
                        </a:spcBef>
                        <a:spcAft>
                          <a:spcPts val="200"/>
                        </a:spcAft>
                        <a:defRPr sz="1000">
                          <a:solidFill>
                            <a:srgbClr val="4A5A6A"/>
                          </a:solidFill>
                        </a:defRPr>
                      </a:pPr>
                      <a:r>
                        <a:t>11,090</a:t>
                      </a:r>
                    </a:p>
                  </a:txBody>
                  <a:tcPr/>
                </a:tc>
                <a:tc>
                  <a:txBody>
                    <a:bodyPr/>
                    <a:lstStyle/>
                    <a:p>
                      <a:pPr algn="ctr">
                        <a:spcBef>
                          <a:spcPts val="200"/>
                        </a:spcBef>
                        <a:spcAft>
                          <a:spcPts val="200"/>
                        </a:spcAft>
                        <a:defRPr sz="1000">
                          <a:solidFill>
                            <a:srgbClr val="4A5A6A"/>
                          </a:solidFill>
                        </a:defRPr>
                      </a:pPr>
                      <a:r>
                        <a:t>Ownership %, role, dates</a:t>
                      </a:r>
                    </a:p>
                  </a:txBody>
                  <a:tcPr/>
                </a:tc>
                <a:tc>
                  <a:txBody>
                    <a:bodyPr/>
                    <a:lstStyle/>
                    <a:p>
                      <a:pPr algn="ctr">
                        <a:spcBef>
                          <a:spcPts val="200"/>
                        </a:spcBef>
                        <a:spcAft>
                          <a:spcPts val="200"/>
                        </a:spcAft>
                        <a:defRPr sz="1000">
                          <a:solidFill>
                            <a:srgbClr val="4A5A6A"/>
                          </a:solidFill>
                        </a:defRPr>
                      </a:pPr>
                      <a:r>
                        <a:t>Ownership network</a:t>
                      </a:r>
                    </a:p>
                  </a:txBody>
                  <a:tcPr/>
                </a:tc>
              </a:tr>
            </a:tbl>
          </a:graphicData>
        </a:graphic>
      </p:graphicFrame>
      <p:sp>
        <p:nvSpPr>
          <p:cNvPr id="5" name="TextBox 4"/>
          <p:cNvSpPr txBox="1"/>
          <p:nvPr/>
        </p:nvSpPr>
        <p:spPr>
          <a:xfrm>
            <a:off x="548640" y="3657600"/>
            <a:ext cx="11094415" cy="320040"/>
          </a:xfrm>
          <a:prstGeom prst="rect">
            <a:avLst/>
          </a:prstGeom>
          <a:noFill/>
        </p:spPr>
        <p:txBody>
          <a:bodyPr wrap="square">
            <a:spAutoFit/>
          </a:bodyPr>
          <a:lstStyle/>
          <a:p>
            <a:pPr algn="l">
              <a:defRPr sz="1300" b="1">
                <a:solidFill>
                  <a:srgbClr val="0F4C75"/>
                </a:solidFill>
              </a:defRPr>
            </a:pPr>
            <a:r>
              <a:t>Critical Fields for Fraud Detection</a:t>
            </a:r>
          </a:p>
        </p:txBody>
      </p:sp>
      <p:sp>
        <p:nvSpPr>
          <p:cNvPr id="6" name="TextBox 5"/>
          <p:cNvSpPr txBox="1"/>
          <p:nvPr/>
        </p:nvSpPr>
        <p:spPr>
          <a:xfrm>
            <a:off x="548640" y="4023360"/>
            <a:ext cx="1280160" cy="320040"/>
          </a:xfrm>
          <a:prstGeom prst="rect">
            <a:avLst/>
          </a:prstGeom>
          <a:noFill/>
        </p:spPr>
        <p:txBody>
          <a:bodyPr wrap="square">
            <a:spAutoFit/>
          </a:bodyPr>
          <a:lstStyle/>
          <a:p>
            <a:pPr algn="l">
              <a:defRPr sz="1100" b="1">
                <a:solidFill>
                  <a:srgbClr val="0F4C75"/>
                </a:solidFill>
              </a:defRPr>
            </a:pPr>
            <a:r>
              <a:t>NPPES:</a:t>
            </a:r>
          </a:p>
        </p:txBody>
      </p:sp>
      <p:sp>
        <p:nvSpPr>
          <p:cNvPr id="7" name="TextBox 6"/>
          <p:cNvSpPr txBox="1"/>
          <p:nvPr/>
        </p:nvSpPr>
        <p:spPr>
          <a:xfrm>
            <a:off x="1920240" y="4023360"/>
            <a:ext cx="9601200" cy="320040"/>
          </a:xfrm>
          <a:prstGeom prst="rect">
            <a:avLst/>
          </a:prstGeom>
          <a:noFill/>
        </p:spPr>
        <p:txBody>
          <a:bodyPr wrap="square">
            <a:spAutoFit/>
          </a:bodyPr>
          <a:lstStyle/>
          <a:p>
            <a:pPr algn="l">
              <a:defRPr sz="1000" b="0">
                <a:solidFill>
                  <a:srgbClr val="4A5A6A"/>
                </a:solidFill>
              </a:defRPr>
            </a:pPr>
            <a:r>
              <a:t>NPI (unique ID), Address (co-location), Phone (shared ops), Enumeration Date (entity age)</a:t>
            </a:r>
          </a:p>
        </p:txBody>
      </p:sp>
      <p:sp>
        <p:nvSpPr>
          <p:cNvPr id="8" name="TextBox 7"/>
          <p:cNvSpPr txBox="1"/>
          <p:nvPr/>
        </p:nvSpPr>
        <p:spPr>
          <a:xfrm>
            <a:off x="548640" y="4389120"/>
            <a:ext cx="1280160" cy="320040"/>
          </a:xfrm>
          <a:prstGeom prst="rect">
            <a:avLst/>
          </a:prstGeom>
          <a:noFill/>
        </p:spPr>
        <p:txBody>
          <a:bodyPr wrap="square">
            <a:spAutoFit/>
          </a:bodyPr>
          <a:lstStyle/>
          <a:p>
            <a:pPr algn="l">
              <a:defRPr sz="1100" b="1">
                <a:solidFill>
                  <a:srgbClr val="0F4C75"/>
                </a:solidFill>
              </a:defRPr>
            </a:pPr>
            <a:r>
              <a:t>LEIE:</a:t>
            </a:r>
          </a:p>
        </p:txBody>
      </p:sp>
      <p:sp>
        <p:nvSpPr>
          <p:cNvPr id="9" name="TextBox 8"/>
          <p:cNvSpPr txBox="1"/>
          <p:nvPr/>
        </p:nvSpPr>
        <p:spPr>
          <a:xfrm>
            <a:off x="1920240" y="4389120"/>
            <a:ext cx="9601200" cy="320040"/>
          </a:xfrm>
          <a:prstGeom prst="rect">
            <a:avLst/>
          </a:prstGeom>
          <a:noFill/>
        </p:spPr>
        <p:txBody>
          <a:bodyPr wrap="square">
            <a:spAutoFit/>
          </a:bodyPr>
          <a:lstStyle/>
          <a:p>
            <a:pPr algn="l">
              <a:defRPr sz="1000" b="0">
                <a:solidFill>
                  <a:srgbClr val="4A5A6A"/>
                </a:solidFill>
              </a:defRPr>
            </a:pPr>
            <a:r>
              <a:t>Exclusion Type (fraud category), Exclusion Date (timing), Reinstatement (still active?)</a:t>
            </a:r>
          </a:p>
        </p:txBody>
      </p:sp>
      <p:sp>
        <p:nvSpPr>
          <p:cNvPr id="10" name="TextBox 9"/>
          <p:cNvSpPr txBox="1"/>
          <p:nvPr/>
        </p:nvSpPr>
        <p:spPr>
          <a:xfrm>
            <a:off x="548640" y="4754880"/>
            <a:ext cx="1280160" cy="320040"/>
          </a:xfrm>
          <a:prstGeom prst="rect">
            <a:avLst/>
          </a:prstGeom>
          <a:noFill/>
        </p:spPr>
        <p:txBody>
          <a:bodyPr wrap="square">
            <a:spAutoFit/>
          </a:bodyPr>
          <a:lstStyle/>
          <a:p>
            <a:pPr algn="l">
              <a:defRPr sz="1100" b="1">
                <a:solidFill>
                  <a:srgbClr val="0F4C75"/>
                </a:solidFill>
              </a:defRPr>
            </a:pPr>
            <a:r>
              <a:t>SunBiz:</a:t>
            </a:r>
          </a:p>
        </p:txBody>
      </p:sp>
      <p:sp>
        <p:nvSpPr>
          <p:cNvPr id="11" name="TextBox 10"/>
          <p:cNvSpPr txBox="1"/>
          <p:nvPr/>
        </p:nvSpPr>
        <p:spPr>
          <a:xfrm>
            <a:off x="1920240" y="4754880"/>
            <a:ext cx="9601200" cy="320040"/>
          </a:xfrm>
          <a:prstGeom prst="rect">
            <a:avLst/>
          </a:prstGeom>
          <a:noFill/>
        </p:spPr>
        <p:txBody>
          <a:bodyPr wrap="square">
            <a:spAutoFit/>
          </a:bodyPr>
          <a:lstStyle/>
          <a:p>
            <a:pPr algn="l">
              <a:defRPr sz="1000" b="0">
                <a:solidFill>
                  <a:srgbClr val="4A5A6A"/>
                </a:solidFill>
              </a:defRPr>
            </a:pPr>
            <a:r>
              <a:t>Date Filed (shell company detection - entities &lt;3 years old are high risk)</a:t>
            </a:r>
          </a:p>
        </p:txBody>
      </p:sp>
      <p:sp>
        <p:nvSpPr>
          <p:cNvPr id="12" name="TextBox 11"/>
          <p:cNvSpPr txBox="1"/>
          <p:nvPr/>
        </p:nvSpPr>
        <p:spPr>
          <a:xfrm>
            <a:off x="548640" y="5120640"/>
            <a:ext cx="1280160" cy="320040"/>
          </a:xfrm>
          <a:prstGeom prst="rect">
            <a:avLst/>
          </a:prstGeom>
          <a:noFill/>
        </p:spPr>
        <p:txBody>
          <a:bodyPr wrap="square">
            <a:spAutoFit/>
          </a:bodyPr>
          <a:lstStyle/>
          <a:p>
            <a:pPr algn="l">
              <a:defRPr sz="1100" b="1">
                <a:solidFill>
                  <a:srgbClr val="0F4C75"/>
                </a:solidFill>
              </a:defRPr>
            </a:pPr>
            <a:r>
              <a:t>Enrollment:</a:t>
            </a:r>
          </a:p>
        </p:txBody>
      </p:sp>
      <p:sp>
        <p:nvSpPr>
          <p:cNvPr id="13" name="TextBox 12"/>
          <p:cNvSpPr txBox="1"/>
          <p:nvPr/>
        </p:nvSpPr>
        <p:spPr>
          <a:xfrm>
            <a:off x="1920240" y="5120640"/>
            <a:ext cx="9601200" cy="320040"/>
          </a:xfrm>
          <a:prstGeom prst="rect">
            <a:avLst/>
          </a:prstGeom>
          <a:noFill/>
        </p:spPr>
        <p:txBody>
          <a:bodyPr wrap="square">
            <a:spAutoFit/>
          </a:bodyPr>
          <a:lstStyle/>
          <a:p>
            <a:pPr algn="l">
              <a:defRPr sz="1000" b="0">
                <a:solidFill>
                  <a:srgbClr val="4A5A6A"/>
                </a:solidFill>
              </a:defRPr>
            </a:pPr>
            <a:r>
              <a:t>Owner Name (network links), Ownership % (control), Multiple NPIs (concentration)</a:t>
            </a:r>
          </a:p>
        </p:txBody>
      </p:sp>
      <p:sp>
        <p:nvSpPr>
          <p:cNvPr id="14" name="Rounded Rectangle 13"/>
          <p:cNvSpPr/>
          <p:nvPr/>
        </p:nvSpPr>
        <p:spPr>
          <a:xfrm>
            <a:off x="548640" y="5486400"/>
            <a:ext cx="11094415" cy="731520"/>
          </a:xfrm>
          <a:prstGeom prst="roundRect">
            <a:avLst/>
          </a:prstGeom>
          <a:solidFill>
            <a:srgbClr val="E3F2FD"/>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623560"/>
            <a:ext cx="10728655" cy="502920"/>
          </a:xfrm>
          <a:prstGeom prst="rect">
            <a:avLst/>
          </a:prstGeom>
          <a:noFill/>
        </p:spPr>
        <p:txBody>
          <a:bodyPr wrap="square">
            <a:spAutoFit/>
          </a:bodyPr>
          <a:lstStyle/>
          <a:p>
            <a:pPr algn="l">
              <a:defRPr sz="1000" b="0">
                <a:solidFill>
                  <a:srgbClr val="0F4C75"/>
                </a:solidFill>
              </a:defRPr>
            </a:pPr>
            <a:r>
              <a:t>Data Quality: All datasets are from official government sources (CMS, OIG, FL Division of Corporations). Entity resolution performed via NPI matching (exact) and fuzzy name+address matching (Levenshtein distance &lt;3).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Graph Data Model: Entities &amp; Relationships</a:t>
            </a:r>
          </a:p>
        </p:txBody>
      </p:sp>
      <p:sp>
        <p:nvSpPr>
          <p:cNvPr id="4" name="TextBox 3"/>
          <p:cNvSpPr txBox="1"/>
          <p:nvPr/>
        </p:nvSpPr>
        <p:spPr>
          <a:xfrm>
            <a:off x="548640" y="1234440"/>
            <a:ext cx="5029200" cy="320040"/>
          </a:xfrm>
          <a:prstGeom prst="rect">
            <a:avLst/>
          </a:prstGeom>
          <a:noFill/>
        </p:spPr>
        <p:txBody>
          <a:bodyPr wrap="square">
            <a:spAutoFit/>
          </a:bodyPr>
          <a:lstStyle/>
          <a:p>
            <a:pPr algn="l">
              <a:defRPr sz="1300" b="1">
                <a:solidFill>
                  <a:srgbClr val="0F4C75"/>
                </a:solidFill>
              </a:defRPr>
            </a:pPr>
            <a:r>
              <a:t>Entity Types (Nodes)</a:t>
            </a:r>
          </a:p>
        </p:txBody>
      </p:sp>
      <p:sp>
        <p:nvSpPr>
          <p:cNvPr id="5" name="Rounded Rectangle 4"/>
          <p:cNvSpPr/>
          <p:nvPr/>
        </p:nvSpPr>
        <p:spPr>
          <a:xfrm>
            <a:off x="548640" y="1645920"/>
            <a:ext cx="5029200" cy="59436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19072"/>
            <a:ext cx="2286000" cy="228600"/>
          </a:xfrm>
          <a:prstGeom prst="rect">
            <a:avLst/>
          </a:prstGeom>
          <a:noFill/>
        </p:spPr>
        <p:txBody>
          <a:bodyPr wrap="square">
            <a:spAutoFit/>
          </a:bodyPr>
          <a:lstStyle/>
          <a:p>
            <a:pPr algn="l">
              <a:defRPr sz="1100" b="1">
                <a:solidFill>
                  <a:srgbClr val="FFFFFF"/>
                </a:solidFill>
              </a:defRPr>
            </a:pPr>
            <a:r>
              <a:t>FACILITY (11,090)</a:t>
            </a:r>
          </a:p>
        </p:txBody>
      </p:sp>
      <p:sp>
        <p:nvSpPr>
          <p:cNvPr id="7" name="TextBox 6"/>
          <p:cNvSpPr txBox="1"/>
          <p:nvPr/>
        </p:nvSpPr>
        <p:spPr>
          <a:xfrm>
            <a:off x="685800" y="1965960"/>
            <a:ext cx="4754880" cy="228600"/>
          </a:xfrm>
          <a:prstGeom prst="rect">
            <a:avLst/>
          </a:prstGeom>
          <a:noFill/>
        </p:spPr>
        <p:txBody>
          <a:bodyPr wrap="square">
            <a:spAutoFit/>
          </a:bodyPr>
          <a:lstStyle/>
          <a:p>
            <a:pPr algn="l">
              <a:defRPr sz="900" b="0">
                <a:solidFill>
                  <a:srgbClr val="FFFFFF"/>
                </a:solidFill>
              </a:defRPr>
            </a:pPr>
            <a:r>
              <a:t>NPI, name, address, risk_score, is_excluded</a:t>
            </a:r>
          </a:p>
        </p:txBody>
      </p:sp>
      <p:sp>
        <p:nvSpPr>
          <p:cNvPr id="8" name="Rounded Rectangle 7"/>
          <p:cNvSpPr/>
          <p:nvPr/>
        </p:nvSpPr>
        <p:spPr>
          <a:xfrm>
            <a:off x="548640" y="2331720"/>
            <a:ext cx="5029200" cy="59436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04872"/>
            <a:ext cx="2286000" cy="228600"/>
          </a:xfrm>
          <a:prstGeom prst="rect">
            <a:avLst/>
          </a:prstGeom>
          <a:noFill/>
        </p:spPr>
        <p:txBody>
          <a:bodyPr wrap="square">
            <a:spAutoFit/>
          </a:bodyPr>
          <a:lstStyle/>
          <a:p>
            <a:pPr algn="l">
              <a:defRPr sz="1100" b="1">
                <a:solidFill>
                  <a:srgbClr val="FFFFFF"/>
                </a:solidFill>
              </a:defRPr>
            </a:pPr>
            <a:r>
              <a:t>OWNER (5,854)</a:t>
            </a:r>
          </a:p>
        </p:txBody>
      </p:sp>
      <p:sp>
        <p:nvSpPr>
          <p:cNvPr id="10" name="TextBox 9"/>
          <p:cNvSpPr txBox="1"/>
          <p:nvPr/>
        </p:nvSpPr>
        <p:spPr>
          <a:xfrm>
            <a:off x="685800" y="2651760"/>
            <a:ext cx="4754880" cy="228600"/>
          </a:xfrm>
          <a:prstGeom prst="rect">
            <a:avLst/>
          </a:prstGeom>
          <a:noFill/>
        </p:spPr>
        <p:txBody>
          <a:bodyPr wrap="square">
            <a:spAutoFit/>
          </a:bodyPr>
          <a:lstStyle/>
          <a:p>
            <a:pPr algn="l">
              <a:defRPr sz="900" b="0">
                <a:solidFill>
                  <a:srgbClr val="FFFFFF"/>
                </a:solidFill>
              </a:defRPr>
            </a:pPr>
            <a:r>
              <a:t>owner_id, name, type (individual/org)</a:t>
            </a:r>
          </a:p>
        </p:txBody>
      </p:sp>
      <p:sp>
        <p:nvSpPr>
          <p:cNvPr id="11" name="Rounded Rectangle 10"/>
          <p:cNvSpPr/>
          <p:nvPr/>
        </p:nvSpPr>
        <p:spPr>
          <a:xfrm>
            <a:off x="548640" y="3017520"/>
            <a:ext cx="5029200" cy="59436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090672"/>
            <a:ext cx="2286000" cy="228600"/>
          </a:xfrm>
          <a:prstGeom prst="rect">
            <a:avLst/>
          </a:prstGeom>
          <a:noFill/>
        </p:spPr>
        <p:txBody>
          <a:bodyPr wrap="square">
            <a:spAutoFit/>
          </a:bodyPr>
          <a:lstStyle/>
          <a:p>
            <a:pPr algn="l">
              <a:defRPr sz="1100" b="1">
                <a:solidFill>
                  <a:srgbClr val="FFFFFF"/>
                </a:solidFill>
              </a:defRPr>
            </a:pPr>
            <a:r>
              <a:t>ADDRESS (~9,800)</a:t>
            </a:r>
          </a:p>
        </p:txBody>
      </p:sp>
      <p:sp>
        <p:nvSpPr>
          <p:cNvPr id="13" name="TextBox 12"/>
          <p:cNvSpPr txBox="1"/>
          <p:nvPr/>
        </p:nvSpPr>
        <p:spPr>
          <a:xfrm>
            <a:off x="685800" y="3337560"/>
            <a:ext cx="4754880" cy="228600"/>
          </a:xfrm>
          <a:prstGeom prst="rect">
            <a:avLst/>
          </a:prstGeom>
          <a:noFill/>
        </p:spPr>
        <p:txBody>
          <a:bodyPr wrap="square">
            <a:spAutoFit/>
          </a:bodyPr>
          <a:lstStyle/>
          <a:p>
            <a:pPr algn="l">
              <a:defRPr sz="900" b="0">
                <a:solidFill>
                  <a:srgbClr val="FFFFFF"/>
                </a:solidFill>
              </a:defRPr>
            </a:pPr>
            <a:r>
              <a:t>address_hash, street, city, zip</a:t>
            </a:r>
          </a:p>
        </p:txBody>
      </p:sp>
      <p:sp>
        <p:nvSpPr>
          <p:cNvPr id="14" name="Rounded Rectangle 13"/>
          <p:cNvSpPr/>
          <p:nvPr/>
        </p:nvSpPr>
        <p:spPr>
          <a:xfrm>
            <a:off x="548640" y="3703320"/>
            <a:ext cx="5029200" cy="59436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776472"/>
            <a:ext cx="2286000" cy="228600"/>
          </a:xfrm>
          <a:prstGeom prst="rect">
            <a:avLst/>
          </a:prstGeom>
          <a:noFill/>
        </p:spPr>
        <p:txBody>
          <a:bodyPr wrap="square">
            <a:spAutoFit/>
          </a:bodyPr>
          <a:lstStyle/>
          <a:p>
            <a:pPr algn="l">
              <a:defRPr sz="1100" b="1">
                <a:solidFill>
                  <a:srgbClr val="FFFFFF"/>
                </a:solidFill>
              </a:defRPr>
            </a:pPr>
            <a:r>
              <a:t>PHONE (~9,796)</a:t>
            </a:r>
          </a:p>
        </p:txBody>
      </p:sp>
      <p:sp>
        <p:nvSpPr>
          <p:cNvPr id="16" name="TextBox 15"/>
          <p:cNvSpPr txBox="1"/>
          <p:nvPr/>
        </p:nvSpPr>
        <p:spPr>
          <a:xfrm>
            <a:off x="685800" y="4023359"/>
            <a:ext cx="4754880" cy="228600"/>
          </a:xfrm>
          <a:prstGeom prst="rect">
            <a:avLst/>
          </a:prstGeom>
          <a:noFill/>
        </p:spPr>
        <p:txBody>
          <a:bodyPr wrap="square">
            <a:spAutoFit/>
          </a:bodyPr>
          <a:lstStyle/>
          <a:p>
            <a:pPr algn="l">
              <a:defRPr sz="900" b="0">
                <a:solidFill>
                  <a:srgbClr val="FFFFFF"/>
                </a:solidFill>
              </a:defRPr>
            </a:pPr>
            <a:r>
              <a:t>phone_number (normalized)</a:t>
            </a:r>
          </a:p>
        </p:txBody>
      </p:sp>
      <p:sp>
        <p:nvSpPr>
          <p:cNvPr id="17" name="TextBox 16"/>
          <p:cNvSpPr txBox="1"/>
          <p:nvPr/>
        </p:nvSpPr>
        <p:spPr>
          <a:xfrm>
            <a:off x="5943600" y="1234440"/>
            <a:ext cx="5486400" cy="320040"/>
          </a:xfrm>
          <a:prstGeom prst="rect">
            <a:avLst/>
          </a:prstGeom>
          <a:noFill/>
        </p:spPr>
        <p:txBody>
          <a:bodyPr wrap="square">
            <a:spAutoFit/>
          </a:bodyPr>
          <a:lstStyle/>
          <a:p>
            <a:pPr algn="l">
              <a:defRPr sz="1300" b="1">
                <a:solidFill>
                  <a:srgbClr val="0F4C75"/>
                </a:solidFill>
              </a:defRPr>
            </a:pPr>
            <a:r>
              <a:t>Relationship Types (Edges)</a:t>
            </a:r>
          </a:p>
        </p:txBody>
      </p:sp>
      <p:sp>
        <p:nvSpPr>
          <p:cNvPr id="18" name="TextBox 17"/>
          <p:cNvSpPr txBox="1"/>
          <p:nvPr/>
        </p:nvSpPr>
        <p:spPr>
          <a:xfrm>
            <a:off x="5943600" y="1645920"/>
            <a:ext cx="2011680" cy="228600"/>
          </a:xfrm>
          <a:prstGeom prst="rect">
            <a:avLst/>
          </a:prstGeom>
          <a:noFill/>
        </p:spPr>
        <p:txBody>
          <a:bodyPr wrap="square">
            <a:spAutoFit/>
          </a:bodyPr>
          <a:lstStyle/>
          <a:p>
            <a:pPr algn="l">
              <a:defRPr sz="1000" b="1">
                <a:solidFill>
                  <a:srgbClr val="0F4C75"/>
                </a:solidFill>
              </a:defRPr>
            </a:pPr>
            <a:r>
              <a:t>OWNS</a:t>
            </a:r>
          </a:p>
        </p:txBody>
      </p:sp>
      <p:sp>
        <p:nvSpPr>
          <p:cNvPr id="19" name="TextBox 18"/>
          <p:cNvSpPr txBox="1"/>
          <p:nvPr/>
        </p:nvSpPr>
        <p:spPr>
          <a:xfrm>
            <a:off x="7955279" y="1645920"/>
            <a:ext cx="731520" cy="228600"/>
          </a:xfrm>
          <a:prstGeom prst="rect">
            <a:avLst/>
          </a:prstGeom>
          <a:noFill/>
        </p:spPr>
        <p:txBody>
          <a:bodyPr wrap="square">
            <a:spAutoFit/>
          </a:bodyPr>
          <a:lstStyle/>
          <a:p>
            <a:pPr algn="l">
              <a:defRPr sz="900" b="0">
                <a:solidFill>
                  <a:srgbClr val="4A5A6A"/>
                </a:solidFill>
              </a:defRPr>
            </a:pPr>
            <a:r>
              <a:t>(27,002)</a:t>
            </a:r>
          </a:p>
        </p:txBody>
      </p:sp>
      <p:sp>
        <p:nvSpPr>
          <p:cNvPr id="20" name="TextBox 19"/>
          <p:cNvSpPr txBox="1"/>
          <p:nvPr/>
        </p:nvSpPr>
        <p:spPr>
          <a:xfrm>
            <a:off x="8686800" y="1645920"/>
            <a:ext cx="1828800" cy="228600"/>
          </a:xfrm>
          <a:prstGeom prst="rect">
            <a:avLst/>
          </a:prstGeom>
          <a:noFill/>
        </p:spPr>
        <p:txBody>
          <a:bodyPr wrap="square">
            <a:spAutoFit/>
          </a:bodyPr>
          <a:lstStyle/>
          <a:p>
            <a:pPr algn="l">
              <a:defRPr sz="900" b="0">
                <a:solidFill>
                  <a:srgbClr val="4A5A6A"/>
                </a:solidFill>
              </a:defRPr>
            </a:pPr>
            <a:r>
              <a:t>OWNER → FACILITY</a:t>
            </a:r>
          </a:p>
        </p:txBody>
      </p:sp>
      <p:sp>
        <p:nvSpPr>
          <p:cNvPr id="21" name="TextBox 20"/>
          <p:cNvSpPr txBox="1"/>
          <p:nvPr/>
        </p:nvSpPr>
        <p:spPr>
          <a:xfrm>
            <a:off x="5943600" y="1874519"/>
            <a:ext cx="5486400" cy="228600"/>
          </a:xfrm>
          <a:prstGeom prst="rect">
            <a:avLst/>
          </a:prstGeom>
          <a:noFill/>
        </p:spPr>
        <p:txBody>
          <a:bodyPr wrap="square">
            <a:spAutoFit/>
          </a:bodyPr>
          <a:lstStyle/>
          <a:p>
            <a:pPr algn="l">
              <a:defRPr sz="800" b="0">
                <a:solidFill>
                  <a:srgbClr val="888888"/>
                </a:solidFill>
              </a:defRPr>
            </a:pPr>
            <a:r>
              <a:t>ownership_%, role, start_date</a:t>
            </a:r>
          </a:p>
        </p:txBody>
      </p:sp>
      <p:sp>
        <p:nvSpPr>
          <p:cNvPr id="22" name="TextBox 21"/>
          <p:cNvSpPr txBox="1"/>
          <p:nvPr/>
        </p:nvSpPr>
        <p:spPr>
          <a:xfrm>
            <a:off x="5943600" y="2148840"/>
            <a:ext cx="2011680" cy="228600"/>
          </a:xfrm>
          <a:prstGeom prst="rect">
            <a:avLst/>
          </a:prstGeom>
          <a:noFill/>
        </p:spPr>
        <p:txBody>
          <a:bodyPr wrap="square">
            <a:spAutoFit/>
          </a:bodyPr>
          <a:lstStyle/>
          <a:p>
            <a:pPr algn="l">
              <a:defRPr sz="1000" b="1">
                <a:solidFill>
                  <a:srgbClr val="0F4C75"/>
                </a:solidFill>
              </a:defRPr>
            </a:pPr>
            <a:r>
              <a:t>LOCATED_AT</a:t>
            </a:r>
          </a:p>
        </p:txBody>
      </p:sp>
      <p:sp>
        <p:nvSpPr>
          <p:cNvPr id="23" name="TextBox 22"/>
          <p:cNvSpPr txBox="1"/>
          <p:nvPr/>
        </p:nvSpPr>
        <p:spPr>
          <a:xfrm>
            <a:off x="7955279" y="2148840"/>
            <a:ext cx="731520" cy="228600"/>
          </a:xfrm>
          <a:prstGeom prst="rect">
            <a:avLst/>
          </a:prstGeom>
          <a:noFill/>
        </p:spPr>
        <p:txBody>
          <a:bodyPr wrap="square">
            <a:spAutoFit/>
          </a:bodyPr>
          <a:lstStyle/>
          <a:p>
            <a:pPr algn="l">
              <a:defRPr sz="900" b="0">
                <a:solidFill>
                  <a:srgbClr val="4A5A6A"/>
                </a:solidFill>
              </a:defRPr>
            </a:pPr>
            <a:r>
              <a:t>(11,090)</a:t>
            </a:r>
          </a:p>
        </p:txBody>
      </p:sp>
      <p:sp>
        <p:nvSpPr>
          <p:cNvPr id="24" name="TextBox 23"/>
          <p:cNvSpPr txBox="1"/>
          <p:nvPr/>
        </p:nvSpPr>
        <p:spPr>
          <a:xfrm>
            <a:off x="8686800" y="2148840"/>
            <a:ext cx="1828800" cy="228600"/>
          </a:xfrm>
          <a:prstGeom prst="rect">
            <a:avLst/>
          </a:prstGeom>
          <a:noFill/>
        </p:spPr>
        <p:txBody>
          <a:bodyPr wrap="square">
            <a:spAutoFit/>
          </a:bodyPr>
          <a:lstStyle/>
          <a:p>
            <a:pPr algn="l">
              <a:defRPr sz="900" b="0">
                <a:solidFill>
                  <a:srgbClr val="4A5A6A"/>
                </a:solidFill>
              </a:defRPr>
            </a:pPr>
            <a:r>
              <a:t>FACILITY → ADDRESS</a:t>
            </a:r>
          </a:p>
        </p:txBody>
      </p:sp>
      <p:sp>
        <p:nvSpPr>
          <p:cNvPr id="25" name="TextBox 24"/>
          <p:cNvSpPr txBox="1"/>
          <p:nvPr/>
        </p:nvSpPr>
        <p:spPr>
          <a:xfrm>
            <a:off x="5943600" y="2377440"/>
            <a:ext cx="5486400" cy="228600"/>
          </a:xfrm>
          <a:prstGeom prst="rect">
            <a:avLst/>
          </a:prstGeom>
          <a:noFill/>
        </p:spPr>
        <p:txBody>
          <a:bodyPr wrap="square">
            <a:spAutoFit/>
          </a:bodyPr>
          <a:lstStyle/>
          <a:p>
            <a:pPr algn="l">
              <a:defRPr sz="800" b="0">
                <a:solidFill>
                  <a:srgbClr val="888888"/>
                </a:solidFill>
              </a:defRPr>
            </a:pPr>
            <a:r>
              <a:t>primary location</a:t>
            </a:r>
          </a:p>
        </p:txBody>
      </p:sp>
      <p:sp>
        <p:nvSpPr>
          <p:cNvPr id="26" name="TextBox 25"/>
          <p:cNvSpPr txBox="1"/>
          <p:nvPr/>
        </p:nvSpPr>
        <p:spPr>
          <a:xfrm>
            <a:off x="5943600" y="2651760"/>
            <a:ext cx="2011680" cy="228600"/>
          </a:xfrm>
          <a:prstGeom prst="rect">
            <a:avLst/>
          </a:prstGeom>
          <a:noFill/>
        </p:spPr>
        <p:txBody>
          <a:bodyPr wrap="square">
            <a:spAutoFit/>
          </a:bodyPr>
          <a:lstStyle/>
          <a:p>
            <a:pPr algn="l">
              <a:defRPr sz="1000" b="1">
                <a:solidFill>
                  <a:srgbClr val="0F4C75"/>
                </a:solidFill>
              </a:defRPr>
            </a:pPr>
            <a:r>
              <a:t>HAS_PHONE</a:t>
            </a:r>
          </a:p>
        </p:txBody>
      </p:sp>
      <p:sp>
        <p:nvSpPr>
          <p:cNvPr id="27" name="TextBox 26"/>
          <p:cNvSpPr txBox="1"/>
          <p:nvPr/>
        </p:nvSpPr>
        <p:spPr>
          <a:xfrm>
            <a:off x="7955279" y="2651760"/>
            <a:ext cx="731520" cy="228600"/>
          </a:xfrm>
          <a:prstGeom prst="rect">
            <a:avLst/>
          </a:prstGeom>
          <a:noFill/>
        </p:spPr>
        <p:txBody>
          <a:bodyPr wrap="square">
            <a:spAutoFit/>
          </a:bodyPr>
          <a:lstStyle/>
          <a:p>
            <a:pPr algn="l">
              <a:defRPr sz="900" b="0">
                <a:solidFill>
                  <a:srgbClr val="4A5A6A"/>
                </a:solidFill>
              </a:defRPr>
            </a:pPr>
            <a:r>
              <a:t>(11,090)</a:t>
            </a:r>
          </a:p>
        </p:txBody>
      </p:sp>
      <p:sp>
        <p:nvSpPr>
          <p:cNvPr id="28" name="TextBox 27"/>
          <p:cNvSpPr txBox="1"/>
          <p:nvPr/>
        </p:nvSpPr>
        <p:spPr>
          <a:xfrm>
            <a:off x="8686800" y="2651760"/>
            <a:ext cx="1828800" cy="228600"/>
          </a:xfrm>
          <a:prstGeom prst="rect">
            <a:avLst/>
          </a:prstGeom>
          <a:noFill/>
        </p:spPr>
        <p:txBody>
          <a:bodyPr wrap="square">
            <a:spAutoFit/>
          </a:bodyPr>
          <a:lstStyle/>
          <a:p>
            <a:pPr algn="l">
              <a:defRPr sz="900" b="0">
                <a:solidFill>
                  <a:srgbClr val="4A5A6A"/>
                </a:solidFill>
              </a:defRPr>
            </a:pPr>
            <a:r>
              <a:t>FACILITY → PHONE</a:t>
            </a:r>
          </a:p>
        </p:txBody>
      </p:sp>
      <p:sp>
        <p:nvSpPr>
          <p:cNvPr id="29" name="TextBox 28"/>
          <p:cNvSpPr txBox="1"/>
          <p:nvPr/>
        </p:nvSpPr>
        <p:spPr>
          <a:xfrm>
            <a:off x="5943600" y="2880360"/>
            <a:ext cx="5486400" cy="228600"/>
          </a:xfrm>
          <a:prstGeom prst="rect">
            <a:avLst/>
          </a:prstGeom>
          <a:noFill/>
        </p:spPr>
        <p:txBody>
          <a:bodyPr wrap="square">
            <a:spAutoFit/>
          </a:bodyPr>
          <a:lstStyle/>
          <a:p>
            <a:pPr algn="l">
              <a:defRPr sz="800" b="0">
                <a:solidFill>
                  <a:srgbClr val="888888"/>
                </a:solidFill>
              </a:defRPr>
            </a:pPr>
            <a:r>
              <a:t>contact number</a:t>
            </a:r>
          </a:p>
        </p:txBody>
      </p:sp>
      <p:sp>
        <p:nvSpPr>
          <p:cNvPr id="30" name="TextBox 29"/>
          <p:cNvSpPr txBox="1"/>
          <p:nvPr/>
        </p:nvSpPr>
        <p:spPr>
          <a:xfrm>
            <a:off x="5943600" y="3154680"/>
            <a:ext cx="2011680" cy="228600"/>
          </a:xfrm>
          <a:prstGeom prst="rect">
            <a:avLst/>
          </a:prstGeom>
          <a:noFill/>
        </p:spPr>
        <p:txBody>
          <a:bodyPr wrap="square">
            <a:spAutoFit/>
          </a:bodyPr>
          <a:lstStyle/>
          <a:p>
            <a:pPr algn="l">
              <a:defRPr sz="1000" b="1">
                <a:solidFill>
                  <a:srgbClr val="0F4C75"/>
                </a:solidFill>
              </a:defRPr>
            </a:pPr>
            <a:r>
              <a:t>SHARES_ADDRESS</a:t>
            </a:r>
          </a:p>
        </p:txBody>
      </p:sp>
      <p:sp>
        <p:nvSpPr>
          <p:cNvPr id="31" name="TextBox 30"/>
          <p:cNvSpPr txBox="1"/>
          <p:nvPr/>
        </p:nvSpPr>
        <p:spPr>
          <a:xfrm>
            <a:off x="7955279" y="3154680"/>
            <a:ext cx="731520" cy="228600"/>
          </a:xfrm>
          <a:prstGeom prst="rect">
            <a:avLst/>
          </a:prstGeom>
          <a:noFill/>
        </p:spPr>
        <p:txBody>
          <a:bodyPr wrap="square">
            <a:spAutoFit/>
          </a:bodyPr>
          <a:lstStyle/>
          <a:p>
            <a:pPr algn="l">
              <a:defRPr sz="900" b="0">
                <a:solidFill>
                  <a:srgbClr val="4A5A6A"/>
                </a:solidFill>
              </a:defRPr>
            </a:pPr>
            <a:r>
              <a:t>(3,170)</a:t>
            </a:r>
          </a:p>
        </p:txBody>
      </p:sp>
      <p:sp>
        <p:nvSpPr>
          <p:cNvPr id="32" name="TextBox 31"/>
          <p:cNvSpPr txBox="1"/>
          <p:nvPr/>
        </p:nvSpPr>
        <p:spPr>
          <a:xfrm>
            <a:off x="8686800" y="3154680"/>
            <a:ext cx="1828800" cy="228600"/>
          </a:xfrm>
          <a:prstGeom prst="rect">
            <a:avLst/>
          </a:prstGeom>
          <a:noFill/>
        </p:spPr>
        <p:txBody>
          <a:bodyPr wrap="square">
            <a:spAutoFit/>
          </a:bodyPr>
          <a:lstStyle/>
          <a:p>
            <a:pPr algn="l">
              <a:defRPr sz="900" b="0">
                <a:solidFill>
                  <a:srgbClr val="4A5A6A"/>
                </a:solidFill>
              </a:defRPr>
            </a:pPr>
            <a:r>
              <a:t>FACILITY ↔ FACILITY</a:t>
            </a:r>
          </a:p>
        </p:txBody>
      </p:sp>
      <p:sp>
        <p:nvSpPr>
          <p:cNvPr id="33" name="TextBox 32"/>
          <p:cNvSpPr txBox="1"/>
          <p:nvPr/>
        </p:nvSpPr>
        <p:spPr>
          <a:xfrm>
            <a:off x="5943600" y="3383280"/>
            <a:ext cx="5486400" cy="228600"/>
          </a:xfrm>
          <a:prstGeom prst="rect">
            <a:avLst/>
          </a:prstGeom>
          <a:noFill/>
        </p:spPr>
        <p:txBody>
          <a:bodyPr wrap="square">
            <a:spAutoFit/>
          </a:bodyPr>
          <a:lstStyle/>
          <a:p>
            <a:pPr algn="l">
              <a:defRPr sz="800" b="0">
                <a:solidFill>
                  <a:srgbClr val="888888"/>
                </a:solidFill>
              </a:defRPr>
            </a:pPr>
            <a:r>
              <a:t>derived: same address</a:t>
            </a:r>
          </a:p>
        </p:txBody>
      </p:sp>
      <p:sp>
        <p:nvSpPr>
          <p:cNvPr id="34" name="TextBox 33"/>
          <p:cNvSpPr txBox="1"/>
          <p:nvPr/>
        </p:nvSpPr>
        <p:spPr>
          <a:xfrm>
            <a:off x="5943600" y="3657600"/>
            <a:ext cx="2011680" cy="228600"/>
          </a:xfrm>
          <a:prstGeom prst="rect">
            <a:avLst/>
          </a:prstGeom>
          <a:noFill/>
        </p:spPr>
        <p:txBody>
          <a:bodyPr wrap="square">
            <a:spAutoFit/>
          </a:bodyPr>
          <a:lstStyle/>
          <a:p>
            <a:pPr algn="l">
              <a:defRPr sz="1000" b="1">
                <a:solidFill>
                  <a:srgbClr val="0F4C75"/>
                </a:solidFill>
              </a:defRPr>
            </a:pPr>
            <a:r>
              <a:t>SHARES_OWNER</a:t>
            </a:r>
          </a:p>
        </p:txBody>
      </p:sp>
      <p:sp>
        <p:nvSpPr>
          <p:cNvPr id="35" name="TextBox 34"/>
          <p:cNvSpPr txBox="1"/>
          <p:nvPr/>
        </p:nvSpPr>
        <p:spPr>
          <a:xfrm>
            <a:off x="7955279" y="3657600"/>
            <a:ext cx="731520" cy="228600"/>
          </a:xfrm>
          <a:prstGeom prst="rect">
            <a:avLst/>
          </a:prstGeom>
          <a:noFill/>
        </p:spPr>
        <p:txBody>
          <a:bodyPr wrap="square">
            <a:spAutoFit/>
          </a:bodyPr>
          <a:lstStyle/>
          <a:p>
            <a:pPr algn="l">
              <a:defRPr sz="900" b="0">
                <a:solidFill>
                  <a:srgbClr val="4A5A6A"/>
                </a:solidFill>
              </a:defRPr>
            </a:pPr>
            <a:r>
              <a:t>(35,122)</a:t>
            </a:r>
          </a:p>
        </p:txBody>
      </p:sp>
      <p:sp>
        <p:nvSpPr>
          <p:cNvPr id="36" name="TextBox 35"/>
          <p:cNvSpPr txBox="1"/>
          <p:nvPr/>
        </p:nvSpPr>
        <p:spPr>
          <a:xfrm>
            <a:off x="8686800" y="3657600"/>
            <a:ext cx="1828800" cy="228600"/>
          </a:xfrm>
          <a:prstGeom prst="rect">
            <a:avLst/>
          </a:prstGeom>
          <a:noFill/>
        </p:spPr>
        <p:txBody>
          <a:bodyPr wrap="square">
            <a:spAutoFit/>
          </a:bodyPr>
          <a:lstStyle/>
          <a:p>
            <a:pPr algn="l">
              <a:defRPr sz="900" b="0">
                <a:solidFill>
                  <a:srgbClr val="4A5A6A"/>
                </a:solidFill>
              </a:defRPr>
            </a:pPr>
            <a:r>
              <a:t>FACILITY ↔ FACILITY</a:t>
            </a:r>
          </a:p>
        </p:txBody>
      </p:sp>
      <p:sp>
        <p:nvSpPr>
          <p:cNvPr id="37" name="TextBox 36"/>
          <p:cNvSpPr txBox="1"/>
          <p:nvPr/>
        </p:nvSpPr>
        <p:spPr>
          <a:xfrm>
            <a:off x="5943600" y="3886200"/>
            <a:ext cx="5486400" cy="228600"/>
          </a:xfrm>
          <a:prstGeom prst="rect">
            <a:avLst/>
          </a:prstGeom>
          <a:noFill/>
        </p:spPr>
        <p:txBody>
          <a:bodyPr wrap="square">
            <a:spAutoFit/>
          </a:bodyPr>
          <a:lstStyle/>
          <a:p>
            <a:pPr algn="l">
              <a:defRPr sz="800" b="0">
                <a:solidFill>
                  <a:srgbClr val="888888"/>
                </a:solidFill>
              </a:defRPr>
            </a:pPr>
            <a:r>
              <a:t>derived: common owner</a:t>
            </a:r>
          </a:p>
        </p:txBody>
      </p:sp>
      <p:sp>
        <p:nvSpPr>
          <p:cNvPr id="38" name="TextBox 37"/>
          <p:cNvSpPr txBox="1"/>
          <p:nvPr/>
        </p:nvSpPr>
        <p:spPr>
          <a:xfrm>
            <a:off x="548640" y="4572000"/>
            <a:ext cx="11094415" cy="320040"/>
          </a:xfrm>
          <a:prstGeom prst="rect">
            <a:avLst/>
          </a:prstGeom>
          <a:noFill/>
        </p:spPr>
        <p:txBody>
          <a:bodyPr wrap="square">
            <a:spAutoFit/>
          </a:bodyPr>
          <a:lstStyle/>
          <a:p>
            <a:pPr algn="l">
              <a:defRPr sz="1300" b="1">
                <a:solidFill>
                  <a:srgbClr val="0F4C75"/>
                </a:solidFill>
              </a:defRPr>
            </a:pPr>
            <a:r>
              <a:t>Graph Statistics</a:t>
            </a:r>
          </a:p>
        </p:txBody>
      </p:sp>
      <p:graphicFrame>
        <p:nvGraphicFramePr>
          <p:cNvPr id="39" name="Table 38"/>
          <p:cNvGraphicFramePr>
            <a:graphicFrameLocks noGrp="1"/>
          </p:cNvGraphicFramePr>
          <p:nvPr/>
        </p:nvGraphicFramePr>
        <p:xfrm>
          <a:off x="548640" y="4937760"/>
          <a:ext cx="11094412" cy="1389888"/>
        </p:xfrm>
        <a:graphic>
          <a:graphicData uri="http://schemas.openxmlformats.org/drawingml/2006/table">
            <a:tbl>
              <a:tblPr firstRow="1" bandRow="1">
                <a:tableStyleId>{5C22544A-7EE6-4342-B048-85BDC9FD1C3A}</a:tableStyleId>
              </a:tblPr>
              <a:tblGrid>
                <a:gridCol w="2773603"/>
                <a:gridCol w="2773603"/>
                <a:gridCol w="2773603"/>
                <a:gridCol w="2773603"/>
              </a:tblGrid>
              <a:tr h="347472">
                <a:tc>
                  <a:txBody>
                    <a:bodyPr/>
                    <a:lstStyle/>
                    <a:p>
                      <a:pPr algn="ctr">
                        <a:spcBef>
                          <a:spcPts val="300"/>
                        </a:spcBef>
                        <a:spcAft>
                          <a:spcPts val="300"/>
                        </a:spcAft>
                        <a:defRPr b="1" sz="1100">
                          <a:solidFill>
                            <a:srgbClr val="FFFFFF"/>
                          </a:solidFill>
                        </a:defRPr>
                      </a:pPr>
                      <a:r>
                        <a:t>Metric</a:t>
                      </a:r>
                    </a:p>
                  </a:txBody>
                  <a:tcPr>
                    <a:solidFill>
                      <a:srgbClr val="0F4C75"/>
                    </a:solidFill>
                  </a:tcPr>
                </a:tc>
                <a:tc>
                  <a:txBody>
                    <a:bodyPr/>
                    <a:lstStyle/>
                    <a:p>
                      <a:pPr algn="ctr">
                        <a:spcBef>
                          <a:spcPts val="300"/>
                        </a:spcBef>
                        <a:spcAft>
                          <a:spcPts val="300"/>
                        </a:spcAft>
                        <a:defRPr b="1" sz="1100">
                          <a:solidFill>
                            <a:srgbClr val="FFFFFF"/>
                          </a:solidFill>
                        </a:defRPr>
                      </a:pPr>
                      <a:r>
                        <a:t>Value</a:t>
                      </a:r>
                    </a:p>
                  </a:txBody>
                  <a:tcPr>
                    <a:solidFill>
                      <a:srgbClr val="0F4C75"/>
                    </a:solidFill>
                  </a:tcPr>
                </a:tc>
                <a:tc>
                  <a:txBody>
                    <a:bodyPr/>
                    <a:lstStyle/>
                    <a:p>
                      <a:pPr algn="ctr">
                        <a:spcBef>
                          <a:spcPts val="300"/>
                        </a:spcBef>
                        <a:spcAft>
                          <a:spcPts val="300"/>
                        </a:spcAft>
                        <a:defRPr b="1" sz="1100">
                          <a:solidFill>
                            <a:srgbClr val="FFFFFF"/>
                          </a:solidFill>
                        </a:defRPr>
                      </a:pPr>
                      <a:r>
                        <a:t>Metric</a:t>
                      </a:r>
                    </a:p>
                  </a:txBody>
                  <a:tcPr>
                    <a:solidFill>
                      <a:srgbClr val="0F4C75"/>
                    </a:solidFill>
                  </a:tcPr>
                </a:tc>
                <a:tc>
                  <a:txBody>
                    <a:bodyPr/>
                    <a:lstStyle/>
                    <a:p>
                      <a:pPr algn="ctr">
                        <a:spcBef>
                          <a:spcPts val="300"/>
                        </a:spcBef>
                        <a:spcAft>
                          <a:spcPts val="300"/>
                        </a:spcAft>
                        <a:defRPr b="1" sz="1100">
                          <a:solidFill>
                            <a:srgbClr val="FFFFFF"/>
                          </a:solidFill>
                        </a:defRPr>
                      </a:pPr>
                      <a:r>
                        <a:t>Value</a:t>
                      </a:r>
                    </a:p>
                  </a:txBody>
                  <a:tcPr>
                    <a:solidFill>
                      <a:srgbClr val="0F4C75"/>
                    </a:solidFill>
                  </a:tcPr>
                </a:tc>
              </a:tr>
              <a:tr h="347472">
                <a:tc>
                  <a:txBody>
                    <a:bodyPr/>
                    <a:lstStyle/>
                    <a:p>
                      <a:pPr algn="l">
                        <a:spcBef>
                          <a:spcPts val="200"/>
                        </a:spcBef>
                        <a:spcAft>
                          <a:spcPts val="200"/>
                        </a:spcAft>
                        <a:defRPr sz="1000">
                          <a:solidFill>
                            <a:srgbClr val="4A5A6A"/>
                          </a:solidFill>
                        </a:defRPr>
                      </a:pPr>
                      <a:r>
                        <a:t>Total Nodes</a:t>
                      </a:r>
                    </a:p>
                  </a:txBody>
                  <a:tcPr/>
                </a:tc>
                <a:tc>
                  <a:txBody>
                    <a:bodyPr/>
                    <a:lstStyle/>
                    <a:p>
                      <a:pPr algn="ctr">
                        <a:spcBef>
                          <a:spcPts val="200"/>
                        </a:spcBef>
                        <a:spcAft>
                          <a:spcPts val="200"/>
                        </a:spcAft>
                        <a:defRPr sz="1000">
                          <a:solidFill>
                            <a:srgbClr val="4A5A6A"/>
                          </a:solidFill>
                        </a:defRPr>
                      </a:pPr>
                      <a:r>
                        <a:t>26,002</a:t>
                      </a:r>
                    </a:p>
                  </a:txBody>
                  <a:tcPr/>
                </a:tc>
                <a:tc>
                  <a:txBody>
                    <a:bodyPr/>
                    <a:lstStyle/>
                    <a:p>
                      <a:pPr algn="ctr">
                        <a:spcBef>
                          <a:spcPts val="200"/>
                        </a:spcBef>
                        <a:spcAft>
                          <a:spcPts val="200"/>
                        </a:spcAft>
                        <a:defRPr sz="1000">
                          <a:solidFill>
                            <a:srgbClr val="4A5A6A"/>
                          </a:solidFill>
                        </a:defRPr>
                      </a:pPr>
                      <a:r>
                        <a:t>Louvain Communities</a:t>
                      </a:r>
                    </a:p>
                  </a:txBody>
                  <a:tcPr/>
                </a:tc>
                <a:tc>
                  <a:txBody>
                    <a:bodyPr/>
                    <a:lstStyle/>
                    <a:p>
                      <a:pPr algn="ctr">
                        <a:spcBef>
                          <a:spcPts val="200"/>
                        </a:spcBef>
                        <a:spcAft>
                          <a:spcPts val="200"/>
                        </a:spcAft>
                        <a:defRPr sz="1000">
                          <a:solidFill>
                            <a:srgbClr val="4A5A6A"/>
                          </a:solidFill>
                        </a:defRPr>
                      </a:pPr>
                      <a:r>
                        <a:t>8,015</a:t>
                      </a:r>
                    </a:p>
                  </a:txBody>
                  <a:tcPr/>
                </a:tc>
              </a:tr>
              <a:tr h="347472">
                <a:tc>
                  <a:txBody>
                    <a:bodyPr/>
                    <a:lstStyle/>
                    <a:p>
                      <a:pPr algn="l">
                        <a:spcBef>
                          <a:spcPts val="200"/>
                        </a:spcBef>
                        <a:spcAft>
                          <a:spcPts val="200"/>
                        </a:spcAft>
                        <a:defRPr sz="1000">
                          <a:solidFill>
                            <a:srgbClr val="4A5A6A"/>
                          </a:solidFill>
                        </a:defRPr>
                      </a:pPr>
                      <a:r>
                        <a:t>Total Edges</a:t>
                      </a:r>
                    </a:p>
                  </a:txBody>
                  <a:tcPr>
                    <a:solidFill>
                      <a:srgbClr val="F8F9FA"/>
                    </a:solidFill>
                  </a:tcPr>
                </a:tc>
                <a:tc>
                  <a:txBody>
                    <a:bodyPr/>
                    <a:lstStyle/>
                    <a:p>
                      <a:pPr algn="ctr">
                        <a:spcBef>
                          <a:spcPts val="200"/>
                        </a:spcBef>
                        <a:spcAft>
                          <a:spcPts val="200"/>
                        </a:spcAft>
                        <a:defRPr sz="1000">
                          <a:solidFill>
                            <a:srgbClr val="4A5A6A"/>
                          </a:solidFill>
                        </a:defRPr>
                      </a:pPr>
                      <a:r>
                        <a:t>37,691</a:t>
                      </a:r>
                    </a:p>
                  </a:txBody>
                  <a:tcPr>
                    <a:solidFill>
                      <a:srgbClr val="F8F9FA"/>
                    </a:solidFill>
                  </a:tcPr>
                </a:tc>
                <a:tc>
                  <a:txBody>
                    <a:bodyPr/>
                    <a:lstStyle/>
                    <a:p>
                      <a:pPr algn="ctr">
                        <a:spcBef>
                          <a:spcPts val="200"/>
                        </a:spcBef>
                        <a:spcAft>
                          <a:spcPts val="200"/>
                        </a:spcAft>
                        <a:defRPr sz="1000">
                          <a:solidFill>
                            <a:srgbClr val="4A5A6A"/>
                          </a:solidFill>
                        </a:defRPr>
                      </a:pPr>
                      <a:r>
                        <a:t>Avg Clustering Coef</a:t>
                      </a:r>
                    </a:p>
                  </a:txBody>
                  <a:tcPr>
                    <a:solidFill>
                      <a:srgbClr val="F8F9FA"/>
                    </a:solidFill>
                  </a:tcPr>
                </a:tc>
                <a:tc>
                  <a:txBody>
                    <a:bodyPr/>
                    <a:lstStyle/>
                    <a:p>
                      <a:pPr algn="ctr">
                        <a:spcBef>
                          <a:spcPts val="200"/>
                        </a:spcBef>
                        <a:spcAft>
                          <a:spcPts val="200"/>
                        </a:spcAft>
                        <a:defRPr sz="1000">
                          <a:solidFill>
                            <a:srgbClr val="4A5A6A"/>
                          </a:solidFill>
                        </a:defRPr>
                      </a:pPr>
                      <a:r>
                        <a:t>0.42</a:t>
                      </a:r>
                    </a:p>
                  </a:txBody>
                  <a:tcPr>
                    <a:solidFill>
                      <a:srgbClr val="F8F9FA"/>
                    </a:solidFill>
                  </a:tcPr>
                </a:tc>
              </a:tr>
              <a:tr h="347472">
                <a:tc>
                  <a:txBody>
                    <a:bodyPr/>
                    <a:lstStyle/>
                    <a:p>
                      <a:pPr algn="l">
                        <a:spcBef>
                          <a:spcPts val="200"/>
                        </a:spcBef>
                        <a:spcAft>
                          <a:spcPts val="200"/>
                        </a:spcAft>
                        <a:defRPr sz="1000">
                          <a:solidFill>
                            <a:srgbClr val="4A5A6A"/>
                          </a:solidFill>
                        </a:defRPr>
                      </a:pPr>
                      <a:r>
                        <a:t>Facility Nodes</a:t>
                      </a:r>
                    </a:p>
                  </a:txBody>
                  <a:tcPr/>
                </a:tc>
                <a:tc>
                  <a:txBody>
                    <a:bodyPr/>
                    <a:lstStyle/>
                    <a:p>
                      <a:pPr algn="ctr">
                        <a:spcBef>
                          <a:spcPts val="200"/>
                        </a:spcBef>
                        <a:spcAft>
                          <a:spcPts val="200"/>
                        </a:spcAft>
                        <a:defRPr sz="1000">
                          <a:solidFill>
                            <a:srgbClr val="4A5A6A"/>
                          </a:solidFill>
                        </a:defRPr>
                      </a:pPr>
                      <a:r>
                        <a:t>11,090</a:t>
                      </a:r>
                    </a:p>
                  </a:txBody>
                  <a:tcPr/>
                </a:tc>
                <a:tc>
                  <a:txBody>
                    <a:bodyPr/>
                    <a:lstStyle/>
                    <a:p>
                      <a:pPr algn="ctr">
                        <a:spcBef>
                          <a:spcPts val="200"/>
                        </a:spcBef>
                        <a:spcAft>
                          <a:spcPts val="200"/>
                        </a:spcAft>
                        <a:defRPr sz="1000">
                          <a:solidFill>
                            <a:srgbClr val="4A5A6A"/>
                          </a:solidFill>
                        </a:defRPr>
                      </a:pPr>
                      <a:r>
                        <a:t>Network Density</a:t>
                      </a:r>
                    </a:p>
                  </a:txBody>
                  <a:tcPr/>
                </a:tc>
                <a:tc>
                  <a:txBody>
                    <a:bodyPr/>
                    <a:lstStyle/>
                    <a:p>
                      <a:pPr algn="ctr">
                        <a:spcBef>
                          <a:spcPts val="200"/>
                        </a:spcBef>
                        <a:spcAft>
                          <a:spcPts val="200"/>
                        </a:spcAft>
                        <a:defRPr sz="1000">
                          <a:solidFill>
                            <a:srgbClr val="4A5A6A"/>
                          </a:solidFill>
                        </a:defRPr>
                      </a:pPr>
                      <a:r>
                        <a:t>0.0007</a:t>
                      </a:r>
                    </a:p>
                  </a:txBody>
                  <a:tcPr/>
                </a:tc>
              </a:tr>
            </a:tbl>
          </a:graphicData>
        </a:graphic>
      </p:graphicFrame>
      <p:sp>
        <p:nvSpPr>
          <p:cNvPr id="40" name="TextBox 39"/>
          <p:cNvSpPr txBox="1"/>
          <p:nvPr/>
        </p:nvSpPr>
        <p:spPr>
          <a:xfrm>
            <a:off x="548640" y="6080760"/>
            <a:ext cx="11094415" cy="320040"/>
          </a:xfrm>
          <a:prstGeom prst="rect">
            <a:avLst/>
          </a:prstGeom>
          <a:noFill/>
        </p:spPr>
        <p:txBody>
          <a:bodyPr wrap="square">
            <a:spAutoFit/>
          </a:bodyPr>
          <a:lstStyle/>
          <a:p>
            <a:pPr algn="l">
              <a:defRPr sz="1000" b="0">
                <a:solidFill>
                  <a:srgbClr val="667788"/>
                </a:solidFill>
              </a:defRPr>
            </a:pPr>
            <a:r>
              <a:t>Community Detection: Louvain algorithm identifies natural clusters. Fraud rings operate as communities - investigating the network (not just individuals) reveals hidden connections.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ML Model &amp; Feature Engineering</a:t>
            </a:r>
          </a:p>
        </p:txBody>
      </p:sp>
      <p:sp>
        <p:nvSpPr>
          <p:cNvPr id="4" name="TextBox 3"/>
          <p:cNvSpPr txBox="1"/>
          <p:nvPr/>
        </p:nvSpPr>
        <p:spPr>
          <a:xfrm>
            <a:off x="548640" y="1188720"/>
            <a:ext cx="5303520" cy="320040"/>
          </a:xfrm>
          <a:prstGeom prst="rect">
            <a:avLst/>
          </a:prstGeom>
          <a:noFill/>
        </p:spPr>
        <p:txBody>
          <a:bodyPr wrap="square">
            <a:spAutoFit/>
          </a:bodyPr>
          <a:lstStyle/>
          <a:p>
            <a:pPr algn="l">
              <a:defRPr sz="1300" b="1">
                <a:solidFill>
                  <a:srgbClr val="0F4C75"/>
                </a:solidFill>
              </a:defRPr>
            </a:pPr>
            <a:r>
              <a:t>Model Selection</a:t>
            </a:r>
          </a:p>
        </p:txBody>
      </p:sp>
      <p:graphicFrame>
        <p:nvGraphicFramePr>
          <p:cNvPr id="5" name="Table 4"/>
          <p:cNvGraphicFramePr>
            <a:graphicFrameLocks noGrp="1"/>
          </p:cNvGraphicFramePr>
          <p:nvPr/>
        </p:nvGraphicFramePr>
        <p:xfrm>
          <a:off x="548640" y="1554480"/>
          <a:ext cx="3657600" cy="1828800"/>
        </p:xfrm>
        <a:graphic>
          <a:graphicData uri="http://schemas.openxmlformats.org/drawingml/2006/table">
            <a:tbl>
              <a:tblPr firstRow="1" bandRow="1">
                <a:tableStyleId>{5C22544A-7EE6-4342-B048-85BDC9FD1C3A}</a:tableStyleId>
              </a:tblPr>
              <a:tblGrid>
                <a:gridCol w="1219200"/>
                <a:gridCol w="1219200"/>
                <a:gridCol w="1219200"/>
              </a:tblGrid>
              <a:tr h="365760">
                <a:tc>
                  <a:txBody>
                    <a:bodyPr/>
                    <a:lstStyle/>
                    <a:p>
                      <a:pPr algn="ctr">
                        <a:spcBef>
                          <a:spcPts val="300"/>
                        </a:spcBef>
                        <a:spcAft>
                          <a:spcPts val="300"/>
                        </a:spcAft>
                        <a:defRPr b="1" sz="1100">
                          <a:solidFill>
                            <a:srgbClr val="FFFFFF"/>
                          </a:solidFill>
                        </a:defRPr>
                      </a:pPr>
                      <a:r>
                        <a:t>Model</a:t>
                      </a:r>
                    </a:p>
                  </a:txBody>
                  <a:tcPr>
                    <a:solidFill>
                      <a:srgbClr val="0F4C75"/>
                    </a:solidFill>
                  </a:tcPr>
                </a:tc>
                <a:tc>
                  <a:txBody>
                    <a:bodyPr/>
                    <a:lstStyle/>
                    <a:p>
                      <a:pPr algn="ctr">
                        <a:spcBef>
                          <a:spcPts val="300"/>
                        </a:spcBef>
                        <a:spcAft>
                          <a:spcPts val="300"/>
                        </a:spcAft>
                        <a:defRPr b="1" sz="1100">
                          <a:solidFill>
                            <a:srgbClr val="FFFFFF"/>
                          </a:solidFill>
                        </a:defRPr>
                      </a:pPr>
                      <a:r>
                        <a:t>ROC-AUC</a:t>
                      </a:r>
                    </a:p>
                  </a:txBody>
                  <a:tcPr>
                    <a:solidFill>
                      <a:srgbClr val="0F4C75"/>
                    </a:solidFill>
                  </a:tcPr>
                </a:tc>
                <a:tc>
                  <a:txBody>
                    <a:bodyPr/>
                    <a:lstStyle/>
                    <a:p>
                      <a:pPr algn="ctr">
                        <a:spcBef>
                          <a:spcPts val="300"/>
                        </a:spcBef>
                        <a:spcAft>
                          <a:spcPts val="300"/>
                        </a:spcAft>
                        <a:defRPr b="1" sz="1100">
                          <a:solidFill>
                            <a:srgbClr val="FFFFFF"/>
                          </a:solidFill>
                        </a:defRPr>
                      </a:pPr>
                      <a:r>
                        <a:t>Prec@100</a:t>
                      </a:r>
                    </a:p>
                  </a:txBody>
                  <a:tcPr>
                    <a:solidFill>
                      <a:srgbClr val="0F4C75"/>
                    </a:solidFill>
                  </a:tcPr>
                </a:tc>
              </a:tr>
              <a:tr h="365760">
                <a:tc>
                  <a:txBody>
                    <a:bodyPr/>
                    <a:lstStyle/>
                    <a:p>
                      <a:pPr algn="l">
                        <a:spcBef>
                          <a:spcPts val="200"/>
                        </a:spcBef>
                        <a:spcAft>
                          <a:spcPts val="200"/>
                        </a:spcAft>
                        <a:defRPr sz="1000">
                          <a:solidFill>
                            <a:srgbClr val="4A5A6A"/>
                          </a:solidFill>
                        </a:defRPr>
                      </a:pPr>
                      <a:r>
                        <a:t>Random Forest</a:t>
                      </a:r>
                    </a:p>
                  </a:txBody>
                  <a:tcPr/>
                </a:tc>
                <a:tc>
                  <a:txBody>
                    <a:bodyPr/>
                    <a:lstStyle/>
                    <a:p>
                      <a:pPr algn="ctr">
                        <a:spcBef>
                          <a:spcPts val="200"/>
                        </a:spcBef>
                        <a:spcAft>
                          <a:spcPts val="200"/>
                        </a:spcAft>
                        <a:defRPr sz="1000">
                          <a:solidFill>
                            <a:srgbClr val="4A5A6A"/>
                          </a:solidFill>
                        </a:defRPr>
                      </a:pPr>
                      <a:r>
                        <a:t>0.84</a:t>
                      </a:r>
                    </a:p>
                  </a:txBody>
                  <a:tcPr/>
                </a:tc>
                <a:tc>
                  <a:txBody>
                    <a:bodyPr/>
                    <a:lstStyle/>
                    <a:p>
                      <a:pPr algn="ctr">
                        <a:spcBef>
                          <a:spcPts val="200"/>
                        </a:spcBef>
                        <a:spcAft>
                          <a:spcPts val="200"/>
                        </a:spcAft>
                        <a:defRPr sz="1000">
                          <a:solidFill>
                            <a:srgbClr val="4A5A6A"/>
                          </a:solidFill>
                        </a:defRPr>
                      </a:pPr>
                      <a:r>
                        <a:t>72%</a:t>
                      </a:r>
                    </a:p>
                  </a:txBody>
                  <a:tcPr/>
                </a:tc>
              </a:tr>
              <a:tr h="365760">
                <a:tc>
                  <a:txBody>
                    <a:bodyPr/>
                    <a:lstStyle/>
                    <a:p>
                      <a:pPr algn="l">
                        <a:spcBef>
                          <a:spcPts val="200"/>
                        </a:spcBef>
                        <a:spcAft>
                          <a:spcPts val="200"/>
                        </a:spcAft>
                        <a:defRPr sz="1000">
                          <a:solidFill>
                            <a:srgbClr val="4A5A6A"/>
                          </a:solidFill>
                        </a:defRPr>
                      </a:pPr>
                      <a:r>
                        <a:t>XGBoost</a:t>
                      </a:r>
                    </a:p>
                  </a:txBody>
                  <a:tcPr>
                    <a:solidFill>
                      <a:srgbClr val="F8F9FA"/>
                    </a:solidFill>
                  </a:tcPr>
                </a:tc>
                <a:tc>
                  <a:txBody>
                    <a:bodyPr/>
                    <a:lstStyle/>
                    <a:p>
                      <a:pPr algn="ctr">
                        <a:spcBef>
                          <a:spcPts val="200"/>
                        </a:spcBef>
                        <a:spcAft>
                          <a:spcPts val="200"/>
                        </a:spcAft>
                        <a:defRPr sz="1000">
                          <a:solidFill>
                            <a:srgbClr val="4A5A6A"/>
                          </a:solidFill>
                        </a:defRPr>
                      </a:pPr>
                      <a:r>
                        <a:t>0.91</a:t>
                      </a:r>
                    </a:p>
                  </a:txBody>
                  <a:tcPr>
                    <a:solidFill>
                      <a:srgbClr val="F8F9FA"/>
                    </a:solidFill>
                  </a:tcPr>
                </a:tc>
                <a:tc>
                  <a:txBody>
                    <a:bodyPr/>
                    <a:lstStyle/>
                    <a:p>
                      <a:pPr algn="ctr">
                        <a:spcBef>
                          <a:spcPts val="200"/>
                        </a:spcBef>
                        <a:spcAft>
                          <a:spcPts val="200"/>
                        </a:spcAft>
                        <a:defRPr sz="1000">
                          <a:solidFill>
                            <a:srgbClr val="4A5A6A"/>
                          </a:solidFill>
                        </a:defRPr>
                      </a:pPr>
                      <a:r>
                        <a:t>85%</a:t>
                      </a:r>
                    </a:p>
                  </a:txBody>
                  <a:tcPr>
                    <a:solidFill>
                      <a:srgbClr val="F8F9FA"/>
                    </a:solidFill>
                  </a:tcPr>
                </a:tc>
              </a:tr>
              <a:tr h="365760">
                <a:tc>
                  <a:txBody>
                    <a:bodyPr/>
                    <a:lstStyle/>
                    <a:p>
                      <a:pPr algn="l">
                        <a:spcBef>
                          <a:spcPts val="200"/>
                        </a:spcBef>
                        <a:spcAft>
                          <a:spcPts val="200"/>
                        </a:spcAft>
                        <a:defRPr sz="1000">
                          <a:solidFill>
                            <a:srgbClr val="4A5A6A"/>
                          </a:solidFill>
                        </a:defRPr>
                      </a:pPr>
                      <a:r>
                        <a:t>LightGBM</a:t>
                      </a:r>
                    </a:p>
                  </a:txBody>
                  <a:tcPr/>
                </a:tc>
                <a:tc>
                  <a:txBody>
                    <a:bodyPr/>
                    <a:lstStyle/>
                    <a:p>
                      <a:pPr algn="ctr">
                        <a:spcBef>
                          <a:spcPts val="200"/>
                        </a:spcBef>
                        <a:spcAft>
                          <a:spcPts val="200"/>
                        </a:spcAft>
                        <a:defRPr sz="1000">
                          <a:solidFill>
                            <a:srgbClr val="4A5A6A"/>
                          </a:solidFill>
                        </a:defRPr>
                      </a:pPr>
                      <a:r>
                        <a:t>0.89</a:t>
                      </a:r>
                    </a:p>
                  </a:txBody>
                  <a:tcPr/>
                </a:tc>
                <a:tc>
                  <a:txBody>
                    <a:bodyPr/>
                    <a:lstStyle/>
                    <a:p>
                      <a:pPr algn="ctr">
                        <a:spcBef>
                          <a:spcPts val="200"/>
                        </a:spcBef>
                        <a:spcAft>
                          <a:spcPts val="200"/>
                        </a:spcAft>
                        <a:defRPr sz="1000">
                          <a:solidFill>
                            <a:srgbClr val="4A5A6A"/>
                          </a:solidFill>
                        </a:defRPr>
                      </a:pPr>
                      <a:r>
                        <a:t>81%</a:t>
                      </a:r>
                    </a:p>
                  </a:txBody>
                  <a:tcPr/>
                </a:tc>
              </a:tr>
              <a:tr h="365760">
                <a:tc>
                  <a:txBody>
                    <a:bodyPr/>
                    <a:lstStyle/>
                    <a:p>
                      <a:pPr algn="l">
                        <a:spcBef>
                          <a:spcPts val="200"/>
                        </a:spcBef>
                        <a:spcAft>
                          <a:spcPts val="200"/>
                        </a:spcAft>
                        <a:defRPr sz="1000">
                          <a:solidFill>
                            <a:srgbClr val="4A5A6A"/>
                          </a:solidFill>
                        </a:defRPr>
                      </a:pPr>
                      <a:r>
                        <a:t>GCN (2-layer)</a:t>
                      </a:r>
                    </a:p>
                  </a:txBody>
                  <a:tcPr>
                    <a:solidFill>
                      <a:srgbClr val="F8F9FA"/>
                    </a:solidFill>
                  </a:tcPr>
                </a:tc>
                <a:tc>
                  <a:txBody>
                    <a:bodyPr/>
                    <a:lstStyle/>
                    <a:p>
                      <a:pPr algn="ctr">
                        <a:spcBef>
                          <a:spcPts val="200"/>
                        </a:spcBef>
                        <a:spcAft>
                          <a:spcPts val="200"/>
                        </a:spcAft>
                        <a:defRPr sz="1000">
                          <a:solidFill>
                            <a:srgbClr val="4A5A6A"/>
                          </a:solidFill>
                        </a:defRPr>
                      </a:pPr>
                      <a:r>
                        <a:t>0.88</a:t>
                      </a:r>
                    </a:p>
                  </a:txBody>
                  <a:tcPr>
                    <a:solidFill>
                      <a:srgbClr val="F8F9FA"/>
                    </a:solidFill>
                  </a:tcPr>
                </a:tc>
                <a:tc>
                  <a:txBody>
                    <a:bodyPr/>
                    <a:lstStyle/>
                    <a:p>
                      <a:pPr algn="ctr">
                        <a:spcBef>
                          <a:spcPts val="200"/>
                        </a:spcBef>
                        <a:spcAft>
                          <a:spcPts val="200"/>
                        </a:spcAft>
                        <a:defRPr sz="1000">
                          <a:solidFill>
                            <a:srgbClr val="4A5A6A"/>
                          </a:solidFill>
                        </a:defRPr>
                      </a:pPr>
                      <a:r>
                        <a:t>79%</a:t>
                      </a:r>
                    </a:p>
                  </a:txBody>
                  <a:tcPr>
                    <a:solidFill>
                      <a:srgbClr val="F8F9FA"/>
                    </a:solidFill>
                  </a:tcPr>
                </a:tc>
              </a:tr>
            </a:tbl>
          </a:graphicData>
        </a:graphic>
      </p:graphicFrame>
      <p:sp>
        <p:nvSpPr>
          <p:cNvPr id="6" name="TextBox 5"/>
          <p:cNvSpPr txBox="1"/>
          <p:nvPr/>
        </p:nvSpPr>
        <p:spPr>
          <a:xfrm>
            <a:off x="548640" y="3246120"/>
            <a:ext cx="3657600" cy="274320"/>
          </a:xfrm>
          <a:prstGeom prst="rect">
            <a:avLst/>
          </a:prstGeom>
          <a:noFill/>
        </p:spPr>
        <p:txBody>
          <a:bodyPr wrap="square">
            <a:spAutoFit/>
          </a:bodyPr>
          <a:lstStyle/>
          <a:p>
            <a:pPr algn="l">
              <a:defRPr sz="900" b="0">
                <a:solidFill>
                  <a:srgbClr val="22C55E"/>
                </a:solidFill>
              </a:defRPr>
            </a:pPr>
            <a:r>
              <a:t>XGBoost selected for best accuracy + SHAP support</a:t>
            </a:r>
          </a:p>
        </p:txBody>
      </p:sp>
      <p:sp>
        <p:nvSpPr>
          <p:cNvPr id="7" name="TextBox 6"/>
          <p:cNvSpPr txBox="1"/>
          <p:nvPr/>
        </p:nvSpPr>
        <p:spPr>
          <a:xfrm>
            <a:off x="4572000" y="1188720"/>
            <a:ext cx="7071055" cy="320040"/>
          </a:xfrm>
          <a:prstGeom prst="rect">
            <a:avLst/>
          </a:prstGeom>
          <a:noFill/>
        </p:spPr>
        <p:txBody>
          <a:bodyPr wrap="square">
            <a:spAutoFit/>
          </a:bodyPr>
          <a:lstStyle/>
          <a:p>
            <a:pPr algn="l">
              <a:defRPr sz="1300" b="1">
                <a:solidFill>
                  <a:srgbClr val="0F4C75"/>
                </a:solidFill>
              </a:defRPr>
            </a:pPr>
            <a:r>
              <a:t>30+ Features Across 4 Categories</a:t>
            </a:r>
          </a:p>
        </p:txBody>
      </p:sp>
      <p:sp>
        <p:nvSpPr>
          <p:cNvPr id="8" name="TextBox 7"/>
          <p:cNvSpPr txBox="1"/>
          <p:nvPr/>
        </p:nvSpPr>
        <p:spPr>
          <a:xfrm>
            <a:off x="4572000" y="1600200"/>
            <a:ext cx="3200400" cy="274320"/>
          </a:xfrm>
          <a:prstGeom prst="rect">
            <a:avLst/>
          </a:prstGeom>
          <a:noFill/>
        </p:spPr>
        <p:txBody>
          <a:bodyPr wrap="square">
            <a:spAutoFit/>
          </a:bodyPr>
          <a:lstStyle/>
          <a:p>
            <a:pPr algn="l">
              <a:defRPr sz="1100" b="1">
                <a:solidFill>
                  <a:srgbClr val="4A5A6A"/>
                </a:solidFill>
              </a:defRPr>
            </a:pPr>
            <a:r>
              <a:t>Billing (6)</a:t>
            </a:r>
          </a:p>
        </p:txBody>
      </p:sp>
      <p:sp>
        <p:nvSpPr>
          <p:cNvPr id="9" name="TextBox 8"/>
          <p:cNvSpPr txBox="1"/>
          <p:nvPr/>
        </p:nvSpPr>
        <p:spPr>
          <a:xfrm>
            <a:off x="4572000" y="1874519"/>
            <a:ext cx="3200400" cy="1371600"/>
          </a:xfrm>
          <a:prstGeom prst="rect">
            <a:avLst/>
          </a:prstGeom>
          <a:noFill/>
        </p:spPr>
        <p:txBody>
          <a:bodyPr wrap="square">
            <a:spAutoFit/>
          </a:bodyPr>
          <a:lstStyle/>
          <a:p>
            <a:pPr>
              <a:spcAft>
                <a:spcPts val="600"/>
              </a:spcAft>
              <a:defRPr sz="1000">
                <a:solidFill>
                  <a:srgbClr val="4A5A6A"/>
                </a:solidFill>
              </a:defRPr>
            </a:pPr>
            <a:r>
              <a:t>• Charges, payments</a:t>
            </a:r>
          </a:p>
          <a:p>
            <a:pPr>
              <a:spcAft>
                <a:spcPts val="600"/>
              </a:spcAft>
              <a:defRPr sz="1000">
                <a:solidFill>
                  <a:srgbClr val="4A5A6A"/>
                </a:solidFill>
              </a:defRPr>
            </a:pPr>
            <a:r>
              <a:t>• Beneficiary count</a:t>
            </a:r>
          </a:p>
          <a:p>
            <a:pPr>
              <a:spcAft>
                <a:spcPts val="600"/>
              </a:spcAft>
              <a:defRPr sz="1000">
                <a:solidFill>
                  <a:srgbClr val="4A5A6A"/>
                </a:solidFill>
              </a:defRPr>
            </a:pPr>
            <a:r>
              <a:t>• Charges per beneficiary</a:t>
            </a:r>
          </a:p>
          <a:p>
            <a:pPr>
              <a:spcAft>
                <a:spcPts val="600"/>
              </a:spcAft>
              <a:defRPr sz="1000">
                <a:solidFill>
                  <a:srgbClr val="4A5A6A"/>
                </a:solidFill>
              </a:defRPr>
            </a:pPr>
            <a:r>
              <a:t>• Payment ratio</a:t>
            </a:r>
          </a:p>
        </p:txBody>
      </p:sp>
      <p:sp>
        <p:nvSpPr>
          <p:cNvPr id="10" name="TextBox 9"/>
          <p:cNvSpPr txBox="1"/>
          <p:nvPr/>
        </p:nvSpPr>
        <p:spPr>
          <a:xfrm>
            <a:off x="7863840" y="1600200"/>
            <a:ext cx="3657600" cy="274320"/>
          </a:xfrm>
          <a:prstGeom prst="rect">
            <a:avLst/>
          </a:prstGeom>
          <a:noFill/>
        </p:spPr>
        <p:txBody>
          <a:bodyPr wrap="square">
            <a:spAutoFit/>
          </a:bodyPr>
          <a:lstStyle/>
          <a:p>
            <a:pPr algn="l">
              <a:defRPr sz="1100" b="1">
                <a:solidFill>
                  <a:srgbClr val="4A5A6A"/>
                </a:solidFill>
              </a:defRPr>
            </a:pPr>
            <a:r>
              <a:t>Network (8)</a:t>
            </a:r>
          </a:p>
        </p:txBody>
      </p:sp>
      <p:sp>
        <p:nvSpPr>
          <p:cNvPr id="11" name="TextBox 10"/>
          <p:cNvSpPr txBox="1"/>
          <p:nvPr/>
        </p:nvSpPr>
        <p:spPr>
          <a:xfrm>
            <a:off x="7863840" y="1874519"/>
            <a:ext cx="3657600" cy="1371600"/>
          </a:xfrm>
          <a:prstGeom prst="rect">
            <a:avLst/>
          </a:prstGeom>
          <a:noFill/>
        </p:spPr>
        <p:txBody>
          <a:bodyPr wrap="square">
            <a:spAutoFit/>
          </a:bodyPr>
          <a:lstStyle/>
          <a:p>
            <a:pPr>
              <a:spcAft>
                <a:spcPts val="600"/>
              </a:spcAft>
              <a:defRPr sz="1000">
                <a:solidFill>
                  <a:srgbClr val="4A5A6A"/>
                </a:solidFill>
              </a:defRPr>
            </a:pPr>
            <a:r>
              <a:t>• PageRank, degree centrality</a:t>
            </a:r>
          </a:p>
          <a:p>
            <a:pPr>
              <a:spcAft>
                <a:spcPts val="600"/>
              </a:spcAft>
              <a:defRPr sz="1000">
                <a:solidFill>
                  <a:srgbClr val="4A5A6A"/>
                </a:solidFill>
              </a:defRPr>
            </a:pPr>
            <a:r>
              <a:t>• Community size</a:t>
            </a:r>
          </a:p>
          <a:p>
            <a:pPr>
              <a:spcAft>
                <a:spcPts val="600"/>
              </a:spcAft>
              <a:defRPr sz="1000">
                <a:solidFill>
                  <a:srgbClr val="4A5A6A"/>
                </a:solidFill>
              </a:defRPr>
            </a:pPr>
            <a:r>
              <a:t>• Fraud density in community</a:t>
            </a:r>
          </a:p>
          <a:p>
            <a:pPr>
              <a:spcAft>
                <a:spcPts val="600"/>
              </a:spcAft>
              <a:defRPr sz="1000">
                <a:solidFill>
                  <a:srgbClr val="4A5A6A"/>
                </a:solidFill>
              </a:defRPr>
            </a:pPr>
            <a:r>
              <a:t>• Excluded neighbor ratio</a:t>
            </a:r>
          </a:p>
        </p:txBody>
      </p:sp>
      <p:sp>
        <p:nvSpPr>
          <p:cNvPr id="12" name="TextBox 11"/>
          <p:cNvSpPr txBox="1"/>
          <p:nvPr/>
        </p:nvSpPr>
        <p:spPr>
          <a:xfrm>
            <a:off x="4572000" y="3337560"/>
            <a:ext cx="3200400" cy="274320"/>
          </a:xfrm>
          <a:prstGeom prst="rect">
            <a:avLst/>
          </a:prstGeom>
          <a:noFill/>
        </p:spPr>
        <p:txBody>
          <a:bodyPr wrap="square">
            <a:spAutoFit/>
          </a:bodyPr>
          <a:lstStyle/>
          <a:p>
            <a:pPr algn="l">
              <a:defRPr sz="1100" b="1">
                <a:solidFill>
                  <a:srgbClr val="4A5A6A"/>
                </a:solidFill>
              </a:defRPr>
            </a:pPr>
            <a:r>
              <a:t>Ownership (8)</a:t>
            </a:r>
          </a:p>
        </p:txBody>
      </p:sp>
      <p:sp>
        <p:nvSpPr>
          <p:cNvPr id="13" name="TextBox 12"/>
          <p:cNvSpPr txBox="1"/>
          <p:nvPr/>
        </p:nvSpPr>
        <p:spPr>
          <a:xfrm>
            <a:off x="4572000" y="3611880"/>
            <a:ext cx="3200400" cy="1371600"/>
          </a:xfrm>
          <a:prstGeom prst="rect">
            <a:avLst/>
          </a:prstGeom>
          <a:noFill/>
        </p:spPr>
        <p:txBody>
          <a:bodyPr wrap="square">
            <a:spAutoFit/>
          </a:bodyPr>
          <a:lstStyle/>
          <a:p>
            <a:pPr>
              <a:spcAft>
                <a:spcPts val="600"/>
              </a:spcAft>
              <a:defRPr sz="1000">
                <a:solidFill>
                  <a:srgbClr val="4A5A6A"/>
                </a:solidFill>
              </a:defRPr>
            </a:pPr>
            <a:r>
              <a:t>• Owner count</a:t>
            </a:r>
          </a:p>
          <a:p>
            <a:pPr>
              <a:spcAft>
                <a:spcPts val="600"/>
              </a:spcAft>
              <a:defRPr sz="1000">
                <a:solidFill>
                  <a:srgbClr val="4A5A6A"/>
                </a:solidFill>
              </a:defRPr>
            </a:pPr>
            <a:r>
              <a:t>• Max facilities/owner</a:t>
            </a:r>
          </a:p>
          <a:p>
            <a:pPr>
              <a:spcAft>
                <a:spcPts val="600"/>
              </a:spcAft>
              <a:defRPr sz="1000">
                <a:solidFill>
                  <a:srgbClr val="4A5A6A"/>
                </a:solidFill>
              </a:defRPr>
            </a:pPr>
            <a:r>
              <a:t>• Shared address count</a:t>
            </a:r>
          </a:p>
          <a:p>
            <a:pPr>
              <a:spcAft>
                <a:spcPts val="600"/>
              </a:spcAft>
              <a:defRPr sz="1000">
                <a:solidFill>
                  <a:srgbClr val="4A5A6A"/>
                </a:solidFill>
              </a:defRPr>
            </a:pPr>
            <a:r>
              <a:t>• Entity age (years)</a:t>
            </a:r>
          </a:p>
        </p:txBody>
      </p:sp>
      <p:sp>
        <p:nvSpPr>
          <p:cNvPr id="14" name="TextBox 13"/>
          <p:cNvSpPr txBox="1"/>
          <p:nvPr/>
        </p:nvSpPr>
        <p:spPr>
          <a:xfrm>
            <a:off x="7863840" y="3337560"/>
            <a:ext cx="3657600" cy="274320"/>
          </a:xfrm>
          <a:prstGeom prst="rect">
            <a:avLst/>
          </a:prstGeom>
          <a:noFill/>
        </p:spPr>
        <p:txBody>
          <a:bodyPr wrap="square">
            <a:spAutoFit/>
          </a:bodyPr>
          <a:lstStyle/>
          <a:p>
            <a:pPr algn="l">
              <a:defRPr sz="1100" b="1">
                <a:solidFill>
                  <a:srgbClr val="4A5A6A"/>
                </a:solidFill>
              </a:defRPr>
            </a:pPr>
            <a:r>
              <a:t>Derived (8+)</a:t>
            </a:r>
          </a:p>
        </p:txBody>
      </p:sp>
      <p:sp>
        <p:nvSpPr>
          <p:cNvPr id="15" name="TextBox 14"/>
          <p:cNvSpPr txBox="1"/>
          <p:nvPr/>
        </p:nvSpPr>
        <p:spPr>
          <a:xfrm>
            <a:off x="7863840" y="3611880"/>
            <a:ext cx="3657600" cy="1371600"/>
          </a:xfrm>
          <a:prstGeom prst="rect">
            <a:avLst/>
          </a:prstGeom>
          <a:noFill/>
        </p:spPr>
        <p:txBody>
          <a:bodyPr wrap="square">
            <a:spAutoFit/>
          </a:bodyPr>
          <a:lstStyle/>
          <a:p>
            <a:pPr>
              <a:spcAft>
                <a:spcPts val="600"/>
              </a:spcAft>
              <a:defRPr sz="1000">
                <a:solidFill>
                  <a:srgbClr val="4A5A6A"/>
                </a:solidFill>
              </a:defRPr>
            </a:pPr>
            <a:r>
              <a:t>• Community excluded count</a:t>
            </a:r>
          </a:p>
          <a:p>
            <a:pPr>
              <a:spcAft>
                <a:spcPts val="600"/>
              </a:spcAft>
              <a:defRPr sz="1000">
                <a:solidFill>
                  <a:srgbClr val="4A5A6A"/>
                </a:solidFill>
              </a:defRPr>
            </a:pPr>
            <a:r>
              <a:t>• Fraud neighbor ratio</a:t>
            </a:r>
          </a:p>
          <a:p>
            <a:pPr>
              <a:spcAft>
                <a:spcPts val="600"/>
              </a:spcAft>
              <a:defRPr sz="1000">
                <a:solidFill>
                  <a:srgbClr val="4A5A6A"/>
                </a:solidFill>
              </a:defRPr>
            </a:pPr>
            <a:r>
              <a:t>• Billing deviation</a:t>
            </a:r>
          </a:p>
          <a:p>
            <a:pPr>
              <a:spcAft>
                <a:spcPts val="600"/>
              </a:spcAft>
              <a:defRPr sz="1000">
                <a:solidFill>
                  <a:srgbClr val="4A5A6A"/>
                </a:solidFill>
              </a:defRPr>
            </a:pPr>
            <a:r>
              <a:t>• Ownership concentration</a:t>
            </a:r>
          </a:p>
        </p:txBody>
      </p:sp>
      <p:sp>
        <p:nvSpPr>
          <p:cNvPr id="16" name="TextBox 15"/>
          <p:cNvSpPr txBox="1"/>
          <p:nvPr/>
        </p:nvSpPr>
        <p:spPr>
          <a:xfrm>
            <a:off x="548640" y="3657600"/>
            <a:ext cx="3840480" cy="320040"/>
          </a:xfrm>
          <a:prstGeom prst="rect">
            <a:avLst/>
          </a:prstGeom>
          <a:noFill/>
        </p:spPr>
        <p:txBody>
          <a:bodyPr wrap="square">
            <a:spAutoFit/>
          </a:bodyPr>
          <a:lstStyle/>
          <a:p>
            <a:pPr algn="l">
              <a:defRPr sz="1300" b="1">
                <a:solidFill>
                  <a:srgbClr val="0F4C75"/>
                </a:solidFill>
              </a:defRPr>
            </a:pPr>
            <a:r>
              <a:t>Top SHAP Features (Risk Drivers)</a:t>
            </a:r>
          </a:p>
        </p:txBody>
      </p:sp>
      <p:graphicFrame>
        <p:nvGraphicFramePr>
          <p:cNvPr id="17" name="Table 16"/>
          <p:cNvGraphicFramePr>
            <a:graphicFrameLocks noGrp="1"/>
          </p:cNvGraphicFramePr>
          <p:nvPr/>
        </p:nvGraphicFramePr>
        <p:xfrm>
          <a:off x="548640" y="4023360"/>
          <a:ext cx="3657600" cy="1389888"/>
        </p:xfrm>
        <a:graphic>
          <a:graphicData uri="http://schemas.openxmlformats.org/drawingml/2006/table">
            <a:tbl>
              <a:tblPr firstRow="1" bandRow="1">
                <a:tableStyleId>{5C22544A-7EE6-4342-B048-85BDC9FD1C3A}</a:tableStyleId>
              </a:tblPr>
              <a:tblGrid>
                <a:gridCol w="1219200"/>
                <a:gridCol w="1219200"/>
                <a:gridCol w="1219200"/>
              </a:tblGrid>
              <a:tr h="347472">
                <a:tc>
                  <a:txBody>
                    <a:bodyPr/>
                    <a:lstStyle/>
                    <a:p>
                      <a:pPr algn="ctr">
                        <a:spcBef>
                          <a:spcPts val="300"/>
                        </a:spcBef>
                        <a:spcAft>
                          <a:spcPts val="300"/>
                        </a:spcAft>
                        <a:defRPr b="1" sz="1100">
                          <a:solidFill>
                            <a:srgbClr val="FFFFFF"/>
                          </a:solidFill>
                        </a:defRPr>
                      </a:pPr>
                      <a:r>
                        <a:t>Feature</a:t>
                      </a:r>
                    </a:p>
                  </a:txBody>
                  <a:tcPr>
                    <a:solidFill>
                      <a:srgbClr val="0F4C75"/>
                    </a:solidFill>
                  </a:tcPr>
                </a:tc>
                <a:tc>
                  <a:txBody>
                    <a:bodyPr/>
                    <a:lstStyle/>
                    <a:p>
                      <a:pPr algn="ctr">
                        <a:spcBef>
                          <a:spcPts val="300"/>
                        </a:spcBef>
                        <a:spcAft>
                          <a:spcPts val="300"/>
                        </a:spcAft>
                        <a:defRPr b="1" sz="1100">
                          <a:solidFill>
                            <a:srgbClr val="FFFFFF"/>
                          </a:solidFill>
                        </a:defRPr>
                      </a:pPr>
                      <a:r>
                        <a:t>Impact</a:t>
                      </a:r>
                    </a:p>
                  </a:txBody>
                  <a:tcPr>
                    <a:solidFill>
                      <a:srgbClr val="0F4C75"/>
                    </a:solidFill>
                  </a:tcPr>
                </a:tc>
                <a:tc>
                  <a:txBody>
                    <a:bodyPr/>
                    <a:lstStyle/>
                    <a:p>
                      <a:pPr algn="ctr">
                        <a:spcBef>
                          <a:spcPts val="300"/>
                        </a:spcBef>
                        <a:spcAft>
                          <a:spcPts val="300"/>
                        </a:spcAft>
                        <a:defRPr b="1" sz="1100">
                          <a:solidFill>
                            <a:srgbClr val="FFFFFF"/>
                          </a:solidFill>
                        </a:defRPr>
                      </a:pPr>
                      <a:r>
                        <a:t>Direction</a:t>
                      </a:r>
                    </a:p>
                  </a:txBody>
                  <a:tcPr>
                    <a:solidFill>
                      <a:srgbClr val="0F4C75"/>
                    </a:solidFill>
                  </a:tcPr>
                </a:tc>
              </a:tr>
              <a:tr h="347472">
                <a:tc>
                  <a:txBody>
                    <a:bodyPr/>
                    <a:lstStyle/>
                    <a:p>
                      <a:pPr algn="l">
                        <a:spcBef>
                          <a:spcPts val="200"/>
                        </a:spcBef>
                        <a:spcAft>
                          <a:spcPts val="200"/>
                        </a:spcAft>
                        <a:defRPr sz="1000">
                          <a:solidFill>
                            <a:srgbClr val="4A5A6A"/>
                          </a:solidFill>
                        </a:defRPr>
                      </a:pPr>
                      <a:r>
                        <a:t>shared_address_count</a:t>
                      </a:r>
                    </a:p>
                  </a:txBody>
                  <a:tcPr/>
                </a:tc>
                <a:tc>
                  <a:txBody>
                    <a:bodyPr/>
                    <a:lstStyle/>
                    <a:p>
                      <a:pPr algn="ctr">
                        <a:spcBef>
                          <a:spcPts val="200"/>
                        </a:spcBef>
                        <a:spcAft>
                          <a:spcPts val="200"/>
                        </a:spcAft>
                        <a:defRPr sz="1000">
                          <a:solidFill>
                            <a:srgbClr val="4A5A6A"/>
                          </a:solidFill>
                        </a:defRPr>
                      </a:pPr>
                      <a:r>
                        <a:t>+0.32</a:t>
                      </a:r>
                    </a:p>
                  </a:txBody>
                  <a:tcPr/>
                </a:tc>
                <a:tc>
                  <a:txBody>
                    <a:bodyPr/>
                    <a:lstStyle/>
                    <a:p>
                      <a:pPr algn="ctr">
                        <a:spcBef>
                          <a:spcPts val="200"/>
                        </a:spcBef>
                        <a:spcAft>
                          <a:spcPts val="200"/>
                        </a:spcAft>
                        <a:defRPr sz="1000">
                          <a:solidFill>
                            <a:srgbClr val="4A5A6A"/>
                          </a:solidFill>
                        </a:defRPr>
                      </a:pPr>
                      <a:r>
                        <a:t>Higher = Risk</a:t>
                      </a:r>
                    </a:p>
                  </a:txBody>
                  <a:tcPr/>
                </a:tc>
              </a:tr>
              <a:tr h="347472">
                <a:tc>
                  <a:txBody>
                    <a:bodyPr/>
                    <a:lstStyle/>
                    <a:p>
                      <a:pPr algn="l">
                        <a:spcBef>
                          <a:spcPts val="200"/>
                        </a:spcBef>
                        <a:spcAft>
                          <a:spcPts val="200"/>
                        </a:spcAft>
                        <a:defRPr sz="1000">
                          <a:solidFill>
                            <a:srgbClr val="4A5A6A"/>
                          </a:solidFill>
                        </a:defRPr>
                      </a:pPr>
                      <a:r>
                        <a:t>community_excluded_count</a:t>
                      </a:r>
                    </a:p>
                  </a:txBody>
                  <a:tcPr>
                    <a:solidFill>
                      <a:srgbClr val="F8F9FA"/>
                    </a:solidFill>
                  </a:tcPr>
                </a:tc>
                <a:tc>
                  <a:txBody>
                    <a:bodyPr/>
                    <a:lstStyle/>
                    <a:p>
                      <a:pPr algn="ctr">
                        <a:spcBef>
                          <a:spcPts val="200"/>
                        </a:spcBef>
                        <a:spcAft>
                          <a:spcPts val="200"/>
                        </a:spcAft>
                        <a:defRPr sz="1000">
                          <a:solidFill>
                            <a:srgbClr val="4A5A6A"/>
                          </a:solidFill>
                        </a:defRPr>
                      </a:pPr>
                      <a:r>
                        <a:t>+0.28</a:t>
                      </a:r>
                    </a:p>
                  </a:txBody>
                  <a:tcPr>
                    <a:solidFill>
                      <a:srgbClr val="F8F9FA"/>
                    </a:solidFill>
                  </a:tcPr>
                </a:tc>
                <a:tc>
                  <a:txBody>
                    <a:bodyPr/>
                    <a:lstStyle/>
                    <a:p>
                      <a:pPr algn="ctr">
                        <a:spcBef>
                          <a:spcPts val="200"/>
                        </a:spcBef>
                        <a:spcAft>
                          <a:spcPts val="200"/>
                        </a:spcAft>
                        <a:defRPr sz="1000">
                          <a:solidFill>
                            <a:srgbClr val="4A5A6A"/>
                          </a:solidFill>
                        </a:defRPr>
                      </a:pPr>
                      <a:r>
                        <a:t>Higher = Risk</a:t>
                      </a:r>
                    </a:p>
                  </a:txBody>
                  <a:tcPr>
                    <a:solidFill>
                      <a:srgbClr val="F8F9FA"/>
                    </a:solidFill>
                  </a:tcPr>
                </a:tc>
              </a:tr>
              <a:tr h="347472">
                <a:tc>
                  <a:txBody>
                    <a:bodyPr/>
                    <a:lstStyle/>
                    <a:p>
                      <a:pPr algn="l">
                        <a:spcBef>
                          <a:spcPts val="200"/>
                        </a:spcBef>
                        <a:spcAft>
                          <a:spcPts val="200"/>
                        </a:spcAft>
                        <a:defRPr sz="1000">
                          <a:solidFill>
                            <a:srgbClr val="4A5A6A"/>
                          </a:solidFill>
                        </a:defRPr>
                      </a:pPr>
                      <a:r>
                        <a:t>entity_age_years</a:t>
                      </a:r>
                    </a:p>
                  </a:txBody>
                  <a:tcPr/>
                </a:tc>
                <a:tc>
                  <a:txBody>
                    <a:bodyPr/>
                    <a:lstStyle/>
                    <a:p>
                      <a:pPr algn="ctr">
                        <a:spcBef>
                          <a:spcPts val="200"/>
                        </a:spcBef>
                        <a:spcAft>
                          <a:spcPts val="200"/>
                        </a:spcAft>
                        <a:defRPr sz="1000">
                          <a:solidFill>
                            <a:srgbClr val="4A5A6A"/>
                          </a:solidFill>
                        </a:defRPr>
                      </a:pPr>
                      <a:r>
                        <a:t>+0.10</a:t>
                      </a:r>
                    </a:p>
                  </a:txBody>
                  <a:tcPr/>
                </a:tc>
                <a:tc>
                  <a:txBody>
                    <a:bodyPr/>
                    <a:lstStyle/>
                    <a:p>
                      <a:pPr algn="ctr">
                        <a:spcBef>
                          <a:spcPts val="200"/>
                        </a:spcBef>
                        <a:spcAft>
                          <a:spcPts val="200"/>
                        </a:spcAft>
                        <a:defRPr sz="1000">
                          <a:solidFill>
                            <a:srgbClr val="4A5A6A"/>
                          </a:solidFill>
                        </a:defRPr>
                      </a:pPr>
                      <a:r>
                        <a:t>Lower = Risk</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AI Agent Investigation Pipeline</a:t>
            </a:r>
          </a:p>
        </p:txBody>
      </p:sp>
      <p:sp>
        <p:nvSpPr>
          <p:cNvPr id="4" name="Rounded Rectangle 3"/>
          <p:cNvSpPr/>
          <p:nvPr/>
        </p:nvSpPr>
        <p:spPr>
          <a:xfrm>
            <a:off x="457200" y="1280160"/>
            <a:ext cx="2743200" cy="2560320"/>
          </a:xfrm>
          <a:prstGeom prst="roundRect">
            <a:avLst/>
          </a:prstGeom>
          <a:solidFill>
            <a:srgbClr val="F8F9FA"/>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554480" y="1417320"/>
            <a:ext cx="502920" cy="50292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54480" y="1463040"/>
            <a:ext cx="502920" cy="411480"/>
          </a:xfrm>
          <a:prstGeom prst="rect">
            <a:avLst/>
          </a:prstGeom>
          <a:noFill/>
        </p:spPr>
        <p:txBody>
          <a:bodyPr wrap="none">
            <a:spAutoFit/>
          </a:bodyPr>
          <a:lstStyle/>
          <a:p>
            <a:pPr algn="ctr">
              <a:defRPr sz="1800" b="1">
                <a:solidFill>
                  <a:srgbClr val="FFFFFF"/>
                </a:solidFill>
              </a:defRPr>
            </a:pPr>
            <a:r>
              <a:t>1</a:t>
            </a:r>
          </a:p>
        </p:txBody>
      </p:sp>
      <p:sp>
        <p:nvSpPr>
          <p:cNvPr id="7" name="TextBox 6"/>
          <p:cNvSpPr txBox="1"/>
          <p:nvPr/>
        </p:nvSpPr>
        <p:spPr>
          <a:xfrm>
            <a:off x="594360" y="2011680"/>
            <a:ext cx="2468880" cy="365760"/>
          </a:xfrm>
          <a:prstGeom prst="rect">
            <a:avLst/>
          </a:prstGeom>
          <a:noFill/>
        </p:spPr>
        <p:txBody>
          <a:bodyPr wrap="square">
            <a:spAutoFit/>
          </a:bodyPr>
          <a:lstStyle/>
          <a:p>
            <a:pPr algn="ctr">
              <a:defRPr sz="1200" b="1">
                <a:solidFill>
                  <a:srgbClr val="3B82F6"/>
                </a:solidFill>
              </a:defRPr>
            </a:pPr>
            <a:r>
              <a:t>ML TRIAGE</a:t>
            </a:r>
          </a:p>
        </p:txBody>
      </p:sp>
      <p:sp>
        <p:nvSpPr>
          <p:cNvPr id="8" name="TextBox 7"/>
          <p:cNvSpPr txBox="1"/>
          <p:nvPr/>
        </p:nvSpPr>
        <p:spPr>
          <a:xfrm>
            <a:off x="594360" y="2377440"/>
            <a:ext cx="2468880" cy="1280160"/>
          </a:xfrm>
          <a:prstGeom prst="rect">
            <a:avLst/>
          </a:prstGeom>
          <a:noFill/>
        </p:spPr>
        <p:txBody>
          <a:bodyPr wrap="square">
            <a:spAutoFit/>
          </a:bodyPr>
          <a:lstStyle/>
          <a:p>
            <a:pPr algn="ctr">
              <a:defRPr sz="1000" b="0">
                <a:solidFill>
                  <a:srgbClr val="4A5A6A"/>
                </a:solidFill>
              </a:defRPr>
            </a:pPr>
            <a:r>
              <a:t>XGBoost scores all 11,090 facilities</a:t>
            </a:r>
            <a:br/>
            <a:r>
              <a:t>Filters to ~500 high-risk communities</a:t>
            </a:r>
            <a:br/>
            <a:r>
              <a:t>Cost: ~$0 (local inference)</a:t>
            </a:r>
          </a:p>
        </p:txBody>
      </p:sp>
      <p:sp>
        <p:nvSpPr>
          <p:cNvPr id="9" name="Rounded Rectangle 8"/>
          <p:cNvSpPr/>
          <p:nvPr/>
        </p:nvSpPr>
        <p:spPr>
          <a:xfrm>
            <a:off x="3429000" y="1280160"/>
            <a:ext cx="2743200" cy="2560320"/>
          </a:xfrm>
          <a:prstGeom prst="roundRect">
            <a:avLst/>
          </a:prstGeom>
          <a:solidFill>
            <a:srgbClr val="F8F9FA"/>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26280" y="1417320"/>
            <a:ext cx="502920" cy="50292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463040"/>
            <a:ext cx="502920" cy="411480"/>
          </a:xfrm>
          <a:prstGeom prst="rect">
            <a:avLst/>
          </a:prstGeom>
          <a:noFill/>
        </p:spPr>
        <p:txBody>
          <a:bodyPr wrap="none">
            <a:spAutoFit/>
          </a:bodyPr>
          <a:lstStyle/>
          <a:p>
            <a:pPr algn="ctr">
              <a:defRPr sz="1800" b="1">
                <a:solidFill>
                  <a:srgbClr val="FFFFFF"/>
                </a:solidFill>
              </a:defRPr>
            </a:pPr>
            <a:r>
              <a:t>2</a:t>
            </a:r>
          </a:p>
        </p:txBody>
      </p:sp>
      <p:sp>
        <p:nvSpPr>
          <p:cNvPr id="12" name="TextBox 11"/>
          <p:cNvSpPr txBox="1"/>
          <p:nvPr/>
        </p:nvSpPr>
        <p:spPr>
          <a:xfrm>
            <a:off x="3566160" y="2011680"/>
            <a:ext cx="2468880" cy="365760"/>
          </a:xfrm>
          <a:prstGeom prst="rect">
            <a:avLst/>
          </a:prstGeom>
          <a:noFill/>
        </p:spPr>
        <p:txBody>
          <a:bodyPr wrap="square">
            <a:spAutoFit/>
          </a:bodyPr>
          <a:lstStyle/>
          <a:p>
            <a:pPr algn="ctr">
              <a:defRPr sz="1200" b="1">
                <a:solidFill>
                  <a:srgbClr val="8B5CF6"/>
                </a:solidFill>
              </a:defRPr>
            </a:pPr>
            <a:r>
              <a:t>RED FLAGS</a:t>
            </a:r>
          </a:p>
        </p:txBody>
      </p:sp>
      <p:sp>
        <p:nvSpPr>
          <p:cNvPr id="13" name="TextBox 12"/>
          <p:cNvSpPr txBox="1"/>
          <p:nvPr/>
        </p:nvSpPr>
        <p:spPr>
          <a:xfrm>
            <a:off x="3566160" y="2377440"/>
            <a:ext cx="2468880" cy="1280160"/>
          </a:xfrm>
          <a:prstGeom prst="rect">
            <a:avLst/>
          </a:prstGeom>
          <a:noFill/>
        </p:spPr>
        <p:txBody>
          <a:bodyPr wrap="square">
            <a:spAutoFit/>
          </a:bodyPr>
          <a:lstStyle/>
          <a:p>
            <a:pPr algn="ctr">
              <a:defRPr sz="1000" b="0">
                <a:solidFill>
                  <a:srgbClr val="4A5A6A"/>
                </a:solidFill>
              </a:defRPr>
            </a:pPr>
            <a:r>
              <a:t>5 deterministic checks per community</a:t>
            </a:r>
            <a:br/>
            <a:r>
              <a:t>No LLM calls - pure rule-based</a:t>
            </a:r>
            <a:br/>
            <a:r>
              <a:t>Ownership, address, LEIE, billing, phone</a:t>
            </a:r>
          </a:p>
        </p:txBody>
      </p:sp>
      <p:sp>
        <p:nvSpPr>
          <p:cNvPr id="14" name="Rounded Rectangle 13"/>
          <p:cNvSpPr/>
          <p:nvPr/>
        </p:nvSpPr>
        <p:spPr>
          <a:xfrm>
            <a:off x="6400800" y="1280160"/>
            <a:ext cx="2743200" cy="2560320"/>
          </a:xfrm>
          <a:prstGeom prst="roundRect">
            <a:avLst/>
          </a:prstGeom>
          <a:solidFill>
            <a:srgbClr val="F8F9FA"/>
          </a:solidFill>
          <a:ln>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498080" y="1417320"/>
            <a:ext cx="502920" cy="50292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0" y="1463040"/>
            <a:ext cx="502920" cy="411480"/>
          </a:xfrm>
          <a:prstGeom prst="rect">
            <a:avLst/>
          </a:prstGeom>
          <a:noFill/>
        </p:spPr>
        <p:txBody>
          <a:bodyPr wrap="none">
            <a:spAutoFit/>
          </a:bodyPr>
          <a:lstStyle/>
          <a:p>
            <a:pPr algn="ctr">
              <a:defRPr sz="1800" b="1">
                <a:solidFill>
                  <a:srgbClr val="FFFFFF"/>
                </a:solidFill>
              </a:defRPr>
            </a:pPr>
            <a:r>
              <a:t>3</a:t>
            </a:r>
          </a:p>
        </p:txBody>
      </p:sp>
      <p:sp>
        <p:nvSpPr>
          <p:cNvPr id="17" name="TextBox 16"/>
          <p:cNvSpPr txBox="1"/>
          <p:nvPr/>
        </p:nvSpPr>
        <p:spPr>
          <a:xfrm>
            <a:off x="6537960" y="2011680"/>
            <a:ext cx="2468880" cy="365760"/>
          </a:xfrm>
          <a:prstGeom prst="rect">
            <a:avLst/>
          </a:prstGeom>
          <a:noFill/>
        </p:spPr>
        <p:txBody>
          <a:bodyPr wrap="square">
            <a:spAutoFit/>
          </a:bodyPr>
          <a:lstStyle/>
          <a:p>
            <a:pPr algn="ctr">
              <a:defRPr sz="1200" b="1">
                <a:solidFill>
                  <a:srgbClr val="FFC107"/>
                </a:solidFill>
              </a:defRPr>
            </a:pPr>
            <a:r>
              <a:t>DOJ CHECK</a:t>
            </a:r>
          </a:p>
        </p:txBody>
      </p:sp>
      <p:sp>
        <p:nvSpPr>
          <p:cNvPr id="18" name="TextBox 17"/>
          <p:cNvSpPr txBox="1"/>
          <p:nvPr/>
        </p:nvSpPr>
        <p:spPr>
          <a:xfrm>
            <a:off x="6537960" y="2377440"/>
            <a:ext cx="2468880" cy="1280160"/>
          </a:xfrm>
          <a:prstGeom prst="rect">
            <a:avLst/>
          </a:prstGeom>
          <a:noFill/>
        </p:spPr>
        <p:txBody>
          <a:bodyPr wrap="square">
            <a:spAutoFit/>
          </a:bodyPr>
          <a:lstStyle/>
          <a:p>
            <a:pPr algn="ctr">
              <a:defRPr sz="1000" b="0">
                <a:solidFill>
                  <a:srgbClr val="4A5A6A"/>
                </a:solidFill>
              </a:defRPr>
            </a:pPr>
            <a:r>
              <a:t>Cross-reference against prosecution DB</a:t>
            </a:r>
            <a:br/>
            <a:r>
              <a:t>Forces full investigation if match</a:t>
            </a:r>
            <a:br/>
            <a:r>
              <a:t>Catches behavioral fraud ML misses</a:t>
            </a:r>
          </a:p>
        </p:txBody>
      </p:sp>
      <p:sp>
        <p:nvSpPr>
          <p:cNvPr id="19" name="Rounded Rectangle 18"/>
          <p:cNvSpPr/>
          <p:nvPr/>
        </p:nvSpPr>
        <p:spPr>
          <a:xfrm>
            <a:off x="9372600" y="1280160"/>
            <a:ext cx="2743200" cy="2560320"/>
          </a:xfrm>
          <a:prstGeom prst="roundRect">
            <a:avLst/>
          </a:prstGeom>
          <a:solidFill>
            <a:srgbClr val="F8F9FA"/>
          </a:solidFill>
          <a:ln>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469880" y="1417320"/>
            <a:ext cx="502920" cy="50292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69880" y="1463040"/>
            <a:ext cx="502920" cy="411480"/>
          </a:xfrm>
          <a:prstGeom prst="rect">
            <a:avLst/>
          </a:prstGeom>
          <a:noFill/>
        </p:spPr>
        <p:txBody>
          <a:bodyPr wrap="none">
            <a:spAutoFit/>
          </a:bodyPr>
          <a:lstStyle/>
          <a:p>
            <a:pPr algn="ctr">
              <a:defRPr sz="1800" b="1">
                <a:solidFill>
                  <a:srgbClr val="FFFFFF"/>
                </a:solidFill>
              </a:defRPr>
            </a:pPr>
            <a:r>
              <a:t>4</a:t>
            </a:r>
          </a:p>
        </p:txBody>
      </p:sp>
      <p:sp>
        <p:nvSpPr>
          <p:cNvPr id="22" name="TextBox 21"/>
          <p:cNvSpPr txBox="1"/>
          <p:nvPr/>
        </p:nvSpPr>
        <p:spPr>
          <a:xfrm>
            <a:off x="9509760" y="2011680"/>
            <a:ext cx="2468880" cy="365760"/>
          </a:xfrm>
          <a:prstGeom prst="rect">
            <a:avLst/>
          </a:prstGeom>
          <a:noFill/>
        </p:spPr>
        <p:txBody>
          <a:bodyPr wrap="square">
            <a:spAutoFit/>
          </a:bodyPr>
          <a:lstStyle/>
          <a:p>
            <a:pPr algn="ctr">
              <a:defRPr sz="1200" b="1">
                <a:solidFill>
                  <a:srgbClr val="28A745"/>
                </a:solidFill>
              </a:defRPr>
            </a:pPr>
            <a:r>
              <a:t>AI INVESTIGATION</a:t>
            </a:r>
          </a:p>
        </p:txBody>
      </p:sp>
      <p:sp>
        <p:nvSpPr>
          <p:cNvPr id="23" name="TextBox 22"/>
          <p:cNvSpPr txBox="1"/>
          <p:nvPr/>
        </p:nvSpPr>
        <p:spPr>
          <a:xfrm>
            <a:off x="9509760" y="2377440"/>
            <a:ext cx="2468880" cy="1280160"/>
          </a:xfrm>
          <a:prstGeom prst="rect">
            <a:avLst/>
          </a:prstGeom>
          <a:noFill/>
        </p:spPr>
        <p:txBody>
          <a:bodyPr wrap="square">
            <a:spAutoFit/>
          </a:bodyPr>
          <a:lstStyle/>
          <a:p>
            <a:pPr algn="ctr">
              <a:defRPr sz="1000" b="0">
                <a:solidFill>
                  <a:srgbClr val="4A5A6A"/>
                </a:solidFill>
              </a:defRPr>
            </a:pPr>
            <a:r>
              <a:t>Claude 3.5 Sonnet analysis</a:t>
            </a:r>
            <a:br/>
            <a:r>
              <a:t>3 LLM calls: hypotheses, evaluation, narrative</a:t>
            </a:r>
            <a:br/>
            <a:r>
              <a:t>Cost: ~$0.03 per investigation</a:t>
            </a:r>
          </a:p>
        </p:txBody>
      </p:sp>
      <p:sp>
        <p:nvSpPr>
          <p:cNvPr id="24" name="TextBox 23"/>
          <p:cNvSpPr txBox="1"/>
          <p:nvPr/>
        </p:nvSpPr>
        <p:spPr>
          <a:xfrm>
            <a:off x="548640" y="4114800"/>
            <a:ext cx="11094415" cy="320040"/>
          </a:xfrm>
          <a:prstGeom prst="rect">
            <a:avLst/>
          </a:prstGeom>
          <a:noFill/>
        </p:spPr>
        <p:txBody>
          <a:bodyPr wrap="square">
            <a:spAutoFit/>
          </a:bodyPr>
          <a:lstStyle/>
          <a:p>
            <a:pPr algn="l">
              <a:defRPr sz="1300" b="1">
                <a:solidFill>
                  <a:srgbClr val="0F4C75"/>
                </a:solidFill>
              </a:defRPr>
            </a:pPr>
            <a:r>
              <a:t>5 Automated Red Flags (Deterministic)</a:t>
            </a:r>
          </a:p>
        </p:txBody>
      </p:sp>
      <p:graphicFrame>
        <p:nvGraphicFramePr>
          <p:cNvPr id="25" name="Table 24"/>
          <p:cNvGraphicFramePr>
            <a:graphicFrameLocks noGrp="1"/>
          </p:cNvGraphicFramePr>
          <p:nvPr/>
        </p:nvGraphicFramePr>
        <p:xfrm>
          <a:off x="548640" y="4480560"/>
          <a:ext cx="11094414" cy="2084832"/>
        </p:xfrm>
        <a:graphic>
          <a:graphicData uri="http://schemas.openxmlformats.org/drawingml/2006/table">
            <a:tbl>
              <a:tblPr firstRow="1" bandRow="1">
                <a:tableStyleId>{5C22544A-7EE6-4342-B048-85BDC9FD1C3A}</a:tableStyleId>
              </a:tblPr>
              <a:tblGrid>
                <a:gridCol w="3698138"/>
                <a:gridCol w="3698138"/>
                <a:gridCol w="3698138"/>
              </a:tblGrid>
              <a:tr h="347472">
                <a:tc>
                  <a:txBody>
                    <a:bodyPr/>
                    <a:lstStyle/>
                    <a:p>
                      <a:pPr algn="ctr">
                        <a:spcBef>
                          <a:spcPts val="300"/>
                        </a:spcBef>
                        <a:spcAft>
                          <a:spcPts val="300"/>
                        </a:spcAft>
                        <a:defRPr b="1" sz="1100">
                          <a:solidFill>
                            <a:srgbClr val="FFFFFF"/>
                          </a:solidFill>
                        </a:defRPr>
                      </a:pPr>
                      <a:r>
                        <a:t>#</a:t>
                      </a:r>
                    </a:p>
                  </a:txBody>
                  <a:tcPr>
                    <a:solidFill>
                      <a:srgbClr val="0F4C75"/>
                    </a:solidFill>
                  </a:tcPr>
                </a:tc>
                <a:tc>
                  <a:txBody>
                    <a:bodyPr/>
                    <a:lstStyle/>
                    <a:p>
                      <a:pPr algn="ctr">
                        <a:spcBef>
                          <a:spcPts val="300"/>
                        </a:spcBef>
                        <a:spcAft>
                          <a:spcPts val="300"/>
                        </a:spcAft>
                        <a:defRPr b="1" sz="1100">
                          <a:solidFill>
                            <a:srgbClr val="FFFFFF"/>
                          </a:solidFill>
                        </a:defRPr>
                      </a:pPr>
                      <a:r>
                        <a:t>Red Flag</a:t>
                      </a:r>
                    </a:p>
                  </a:txBody>
                  <a:tcPr>
                    <a:solidFill>
                      <a:srgbClr val="0F4C75"/>
                    </a:solidFill>
                  </a:tcPr>
                </a:tc>
                <a:tc>
                  <a:txBody>
                    <a:bodyPr/>
                    <a:lstStyle/>
                    <a:p>
                      <a:pPr algn="ctr">
                        <a:spcBef>
                          <a:spcPts val="300"/>
                        </a:spcBef>
                        <a:spcAft>
                          <a:spcPts val="300"/>
                        </a:spcAft>
                        <a:defRPr b="1" sz="1100">
                          <a:solidFill>
                            <a:srgbClr val="FFFFFF"/>
                          </a:solidFill>
                        </a:defRPr>
                      </a:pPr>
                      <a:r>
                        <a:t>Trigger Condition</a:t>
                      </a:r>
                    </a:p>
                  </a:txBody>
                  <a:tcPr>
                    <a:solidFill>
                      <a:srgbClr val="0F4C75"/>
                    </a:solidFill>
                  </a:tcPr>
                </a:tc>
              </a:tr>
              <a:tr h="347472">
                <a:tc>
                  <a:txBody>
                    <a:bodyPr/>
                    <a:lstStyle/>
                    <a:p>
                      <a:pPr algn="l">
                        <a:spcBef>
                          <a:spcPts val="200"/>
                        </a:spcBef>
                        <a:spcAft>
                          <a:spcPts val="200"/>
                        </a:spcAft>
                        <a:defRPr sz="1000">
                          <a:solidFill>
                            <a:srgbClr val="4A5A6A"/>
                          </a:solidFill>
                        </a:defRPr>
                      </a:pPr>
                      <a:r>
                        <a:t>1</a:t>
                      </a:r>
                    </a:p>
                  </a:txBody>
                  <a:tcPr/>
                </a:tc>
                <a:tc>
                  <a:txBody>
                    <a:bodyPr/>
                    <a:lstStyle/>
                    <a:p>
                      <a:pPr algn="ctr">
                        <a:spcBef>
                          <a:spcPts val="200"/>
                        </a:spcBef>
                        <a:spcAft>
                          <a:spcPts val="200"/>
                        </a:spcAft>
                        <a:defRPr sz="1000">
                          <a:solidFill>
                            <a:srgbClr val="4A5A6A"/>
                          </a:solidFill>
                        </a:defRPr>
                      </a:pPr>
                      <a:r>
                        <a:t>Ownership Concentration</a:t>
                      </a:r>
                    </a:p>
                  </a:txBody>
                  <a:tcPr/>
                </a:tc>
                <a:tc>
                  <a:txBody>
                    <a:bodyPr/>
                    <a:lstStyle/>
                    <a:p>
                      <a:pPr algn="ctr">
                        <a:spcBef>
                          <a:spcPts val="200"/>
                        </a:spcBef>
                        <a:spcAft>
                          <a:spcPts val="200"/>
                        </a:spcAft>
                        <a:defRPr sz="1000">
                          <a:solidFill>
                            <a:srgbClr val="4A5A6A"/>
                          </a:solidFill>
                        </a:defRPr>
                      </a:pPr>
                      <a:r>
                        <a:t>Single owner controls 3+ facilities</a:t>
                      </a:r>
                    </a:p>
                  </a:txBody>
                  <a:tcPr/>
                </a:tc>
              </a:tr>
              <a:tr h="347472">
                <a:tc>
                  <a:txBody>
                    <a:bodyPr/>
                    <a:lstStyle/>
                    <a:p>
                      <a:pPr algn="l">
                        <a:spcBef>
                          <a:spcPts val="200"/>
                        </a:spcBef>
                        <a:spcAft>
                          <a:spcPts val="200"/>
                        </a:spcAft>
                        <a:defRPr sz="1000">
                          <a:solidFill>
                            <a:srgbClr val="4A5A6A"/>
                          </a:solidFill>
                        </a:defRPr>
                      </a:pPr>
                      <a:r>
                        <a:t>2</a:t>
                      </a:r>
                    </a:p>
                  </a:txBody>
                  <a:tcPr>
                    <a:solidFill>
                      <a:srgbClr val="F8F9FA"/>
                    </a:solidFill>
                  </a:tcPr>
                </a:tc>
                <a:tc>
                  <a:txBody>
                    <a:bodyPr/>
                    <a:lstStyle/>
                    <a:p>
                      <a:pPr algn="ctr">
                        <a:spcBef>
                          <a:spcPts val="200"/>
                        </a:spcBef>
                        <a:spcAft>
                          <a:spcPts val="200"/>
                        </a:spcAft>
                        <a:defRPr sz="1000">
                          <a:solidFill>
                            <a:srgbClr val="4A5A6A"/>
                          </a:solidFill>
                        </a:defRPr>
                      </a:pPr>
                      <a:r>
                        <a:t>Shared Address</a:t>
                      </a:r>
                    </a:p>
                  </a:txBody>
                  <a:tcPr>
                    <a:solidFill>
                      <a:srgbClr val="F8F9FA"/>
                    </a:solidFill>
                  </a:tcPr>
                </a:tc>
                <a:tc>
                  <a:txBody>
                    <a:bodyPr/>
                    <a:lstStyle/>
                    <a:p>
                      <a:pPr algn="ctr">
                        <a:spcBef>
                          <a:spcPts val="200"/>
                        </a:spcBef>
                        <a:spcAft>
                          <a:spcPts val="200"/>
                        </a:spcAft>
                        <a:defRPr sz="1000">
                          <a:solidFill>
                            <a:srgbClr val="4A5A6A"/>
                          </a:solidFill>
                        </a:defRPr>
                      </a:pPr>
                      <a:r>
                        <a:t>Multiple entities at same address</a:t>
                      </a:r>
                    </a:p>
                  </a:txBody>
                  <a:tcPr>
                    <a:solidFill>
                      <a:srgbClr val="F8F9FA"/>
                    </a:solidFill>
                  </a:tcPr>
                </a:tc>
              </a:tr>
              <a:tr h="347472">
                <a:tc>
                  <a:txBody>
                    <a:bodyPr/>
                    <a:lstStyle/>
                    <a:p>
                      <a:pPr algn="l">
                        <a:spcBef>
                          <a:spcPts val="200"/>
                        </a:spcBef>
                        <a:spcAft>
                          <a:spcPts val="200"/>
                        </a:spcAft>
                        <a:defRPr sz="1000">
                          <a:solidFill>
                            <a:srgbClr val="4A5A6A"/>
                          </a:solidFill>
                        </a:defRPr>
                      </a:pPr>
                      <a:r>
                        <a:t>3</a:t>
                      </a:r>
                    </a:p>
                  </a:txBody>
                  <a:tcPr/>
                </a:tc>
                <a:tc>
                  <a:txBody>
                    <a:bodyPr/>
                    <a:lstStyle/>
                    <a:p>
                      <a:pPr algn="ctr">
                        <a:spcBef>
                          <a:spcPts val="200"/>
                        </a:spcBef>
                        <a:spcAft>
                          <a:spcPts val="200"/>
                        </a:spcAft>
                        <a:defRPr sz="1000">
                          <a:solidFill>
                            <a:srgbClr val="4A5A6A"/>
                          </a:solidFill>
                        </a:defRPr>
                      </a:pPr>
                      <a:r>
                        <a:t>LEIE Connection</a:t>
                      </a:r>
                    </a:p>
                  </a:txBody>
                  <a:tcPr/>
                </a:tc>
                <a:tc>
                  <a:txBody>
                    <a:bodyPr/>
                    <a:lstStyle/>
                    <a:p>
                      <a:pPr algn="ctr">
                        <a:spcBef>
                          <a:spcPts val="200"/>
                        </a:spcBef>
                        <a:spcAft>
                          <a:spcPts val="200"/>
                        </a:spcAft>
                        <a:defRPr sz="1000">
                          <a:solidFill>
                            <a:srgbClr val="4A5A6A"/>
                          </a:solidFill>
                        </a:defRPr>
                      </a:pPr>
                      <a:r>
                        <a:t>Any facility/owner on exclusion list</a:t>
                      </a:r>
                    </a:p>
                  </a:txBody>
                  <a:tcPr/>
                </a:tc>
              </a:tr>
              <a:tr h="347472">
                <a:tc>
                  <a:txBody>
                    <a:bodyPr/>
                    <a:lstStyle/>
                    <a:p>
                      <a:pPr algn="l">
                        <a:spcBef>
                          <a:spcPts val="200"/>
                        </a:spcBef>
                        <a:spcAft>
                          <a:spcPts val="200"/>
                        </a:spcAft>
                        <a:defRPr sz="1000">
                          <a:solidFill>
                            <a:srgbClr val="4A5A6A"/>
                          </a:solidFill>
                        </a:defRPr>
                      </a:pPr>
                      <a:r>
                        <a:t>4</a:t>
                      </a:r>
                    </a:p>
                  </a:txBody>
                  <a:tcPr>
                    <a:solidFill>
                      <a:srgbClr val="F8F9FA"/>
                    </a:solidFill>
                  </a:tcPr>
                </a:tc>
                <a:tc>
                  <a:txBody>
                    <a:bodyPr/>
                    <a:lstStyle/>
                    <a:p>
                      <a:pPr algn="ctr">
                        <a:spcBef>
                          <a:spcPts val="200"/>
                        </a:spcBef>
                        <a:spcAft>
                          <a:spcPts val="200"/>
                        </a:spcAft>
                        <a:defRPr sz="1000">
                          <a:solidFill>
                            <a:srgbClr val="4A5A6A"/>
                          </a:solidFill>
                        </a:defRPr>
                      </a:pPr>
                      <a:r>
                        <a:t>Billing Deviation</a:t>
                      </a:r>
                    </a:p>
                  </a:txBody>
                  <a:tcPr>
                    <a:solidFill>
                      <a:srgbClr val="F8F9FA"/>
                    </a:solidFill>
                  </a:tcPr>
                </a:tc>
                <a:tc>
                  <a:txBody>
                    <a:bodyPr/>
                    <a:lstStyle/>
                    <a:p>
                      <a:pPr algn="ctr">
                        <a:spcBef>
                          <a:spcPts val="200"/>
                        </a:spcBef>
                        <a:spcAft>
                          <a:spcPts val="200"/>
                        </a:spcAft>
                        <a:defRPr sz="1000">
                          <a:solidFill>
                            <a:srgbClr val="4A5A6A"/>
                          </a:solidFill>
                        </a:defRPr>
                      </a:pPr>
                      <a:r>
                        <a:t>Billing &gt; 2σ from state median</a:t>
                      </a:r>
                    </a:p>
                  </a:txBody>
                  <a:tcPr>
                    <a:solidFill>
                      <a:srgbClr val="F8F9FA"/>
                    </a:solidFill>
                  </a:tcPr>
                </a:tc>
              </a:tr>
              <a:tr h="347472">
                <a:tc>
                  <a:txBody>
                    <a:bodyPr/>
                    <a:lstStyle/>
                    <a:p>
                      <a:pPr algn="l">
                        <a:spcBef>
                          <a:spcPts val="200"/>
                        </a:spcBef>
                        <a:spcAft>
                          <a:spcPts val="200"/>
                        </a:spcAft>
                        <a:defRPr sz="1000">
                          <a:solidFill>
                            <a:srgbClr val="4A5A6A"/>
                          </a:solidFill>
                        </a:defRPr>
                      </a:pPr>
                      <a:r>
                        <a:t>5</a:t>
                      </a:r>
                    </a:p>
                  </a:txBody>
                  <a:tcPr/>
                </a:tc>
                <a:tc>
                  <a:txBody>
                    <a:bodyPr/>
                    <a:lstStyle/>
                    <a:p>
                      <a:pPr algn="ctr">
                        <a:spcBef>
                          <a:spcPts val="200"/>
                        </a:spcBef>
                        <a:spcAft>
                          <a:spcPts val="200"/>
                        </a:spcAft>
                        <a:defRPr sz="1000">
                          <a:solidFill>
                            <a:srgbClr val="4A5A6A"/>
                          </a:solidFill>
                        </a:defRPr>
                      </a:pPr>
                      <a:r>
                        <a:t>Shared Phone</a:t>
                      </a:r>
                    </a:p>
                  </a:txBody>
                  <a:tcPr/>
                </a:tc>
                <a:tc>
                  <a:txBody>
                    <a:bodyPr/>
                    <a:lstStyle/>
                    <a:p>
                      <a:pPr algn="ctr">
                        <a:spcBef>
                          <a:spcPts val="200"/>
                        </a:spcBef>
                        <a:spcAft>
                          <a:spcPts val="200"/>
                        </a:spcAft>
                        <a:defRPr sz="1000">
                          <a:solidFill>
                            <a:srgbClr val="4A5A6A"/>
                          </a:solidFill>
                        </a:defRPr>
                      </a:pPr>
                      <a:r>
                        <a:t>Multiple entities sharing phone</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Case Studies: 5 Classification Types</a:t>
            </a:r>
          </a:p>
        </p:txBody>
      </p:sp>
      <p:sp>
        <p:nvSpPr>
          <p:cNvPr id="4" name="Rounded Rectangle 3"/>
          <p:cNvSpPr/>
          <p:nvPr/>
        </p:nvSpPr>
        <p:spPr>
          <a:xfrm>
            <a:off x="548640" y="1234440"/>
            <a:ext cx="822960" cy="320040"/>
          </a:xfrm>
          <a:prstGeom prst="round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52728"/>
            <a:ext cx="822960" cy="274320"/>
          </a:xfrm>
          <a:prstGeom prst="rect">
            <a:avLst/>
          </a:prstGeom>
          <a:noFill/>
        </p:spPr>
        <p:txBody>
          <a:bodyPr wrap="none">
            <a:spAutoFit/>
          </a:bodyPr>
          <a:lstStyle/>
          <a:p>
            <a:pPr algn="ctr">
              <a:defRPr sz="1000" b="1">
                <a:solidFill>
                  <a:srgbClr val="FFFFFF"/>
                </a:solidFill>
              </a:defRPr>
            </a:pPr>
            <a:r>
              <a:t>HIGH</a:t>
            </a:r>
          </a:p>
        </p:txBody>
      </p:sp>
      <p:sp>
        <p:nvSpPr>
          <p:cNvPr id="6" name="TextBox 5"/>
          <p:cNvSpPr txBox="1"/>
          <p:nvPr/>
        </p:nvSpPr>
        <p:spPr>
          <a:xfrm>
            <a:off x="1463040" y="1234440"/>
            <a:ext cx="3657600" cy="320040"/>
          </a:xfrm>
          <a:prstGeom prst="rect">
            <a:avLst/>
          </a:prstGeom>
          <a:noFill/>
        </p:spPr>
        <p:txBody>
          <a:bodyPr wrap="square">
            <a:spAutoFit/>
          </a:bodyPr>
          <a:lstStyle/>
          <a:p>
            <a:pPr algn="l">
              <a:defRPr sz="1200" b="1">
                <a:solidFill>
                  <a:srgbClr val="1A1A2E"/>
                </a:solidFill>
              </a:defRPr>
            </a:pPr>
            <a:r>
              <a:t>Shell Company Ring (Community 1597)</a:t>
            </a:r>
          </a:p>
        </p:txBody>
      </p:sp>
      <p:sp>
        <p:nvSpPr>
          <p:cNvPr id="7" name="TextBox 6"/>
          <p:cNvSpPr txBox="1"/>
          <p:nvPr/>
        </p:nvSpPr>
        <p:spPr>
          <a:xfrm>
            <a:off x="5212080" y="1234440"/>
            <a:ext cx="2926080" cy="320040"/>
          </a:xfrm>
          <a:prstGeom prst="rect">
            <a:avLst/>
          </a:prstGeom>
          <a:noFill/>
        </p:spPr>
        <p:txBody>
          <a:bodyPr wrap="square">
            <a:spAutoFit/>
          </a:bodyPr>
          <a:lstStyle/>
          <a:p>
            <a:pPr algn="l">
              <a:defRPr sz="1000" b="0">
                <a:solidFill>
                  <a:srgbClr val="4A5A6A"/>
                </a:solidFill>
              </a:defRPr>
            </a:pPr>
            <a:r>
              <a:t>4 HHAs, 100% excluded, similar Miami addresses</a:t>
            </a:r>
          </a:p>
        </p:txBody>
      </p:sp>
      <p:sp>
        <p:nvSpPr>
          <p:cNvPr id="8" name="TextBox 7"/>
          <p:cNvSpPr txBox="1"/>
          <p:nvPr/>
        </p:nvSpPr>
        <p:spPr>
          <a:xfrm>
            <a:off x="8229600" y="1234440"/>
            <a:ext cx="3566160" cy="320040"/>
          </a:xfrm>
          <a:prstGeom prst="rect">
            <a:avLst/>
          </a:prstGeom>
          <a:noFill/>
        </p:spPr>
        <p:txBody>
          <a:bodyPr wrap="square">
            <a:spAutoFit/>
          </a:bodyPr>
          <a:lstStyle/>
          <a:p>
            <a:pPr algn="l">
              <a:defRPr sz="900" b="0">
                <a:solidFill>
                  <a:srgbClr val="556677"/>
                </a:solidFill>
              </a:defRPr>
            </a:pPr>
            <a:r>
              <a:t>"Entity cycling to evade oversight. All 4 received NPPES-linked exclusions."</a:t>
            </a:r>
          </a:p>
        </p:txBody>
      </p:sp>
      <p:sp>
        <p:nvSpPr>
          <p:cNvPr id="9" name="Rounded Rectangle 8"/>
          <p:cNvSpPr/>
          <p:nvPr/>
        </p:nvSpPr>
        <p:spPr>
          <a:xfrm>
            <a:off x="548640" y="1737360"/>
            <a:ext cx="8229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755648"/>
            <a:ext cx="822960" cy="274320"/>
          </a:xfrm>
          <a:prstGeom prst="rect">
            <a:avLst/>
          </a:prstGeom>
          <a:noFill/>
        </p:spPr>
        <p:txBody>
          <a:bodyPr wrap="none">
            <a:spAutoFit/>
          </a:bodyPr>
          <a:lstStyle/>
          <a:p>
            <a:pPr algn="ctr">
              <a:defRPr sz="1000" b="1">
                <a:solidFill>
                  <a:srgbClr val="FFFFFF"/>
                </a:solidFill>
              </a:defRPr>
            </a:pPr>
            <a:r>
              <a:t>LOW</a:t>
            </a:r>
          </a:p>
        </p:txBody>
      </p:sp>
      <p:sp>
        <p:nvSpPr>
          <p:cNvPr id="11" name="TextBox 10"/>
          <p:cNvSpPr txBox="1"/>
          <p:nvPr/>
        </p:nvSpPr>
        <p:spPr>
          <a:xfrm>
            <a:off x="1463040" y="1737360"/>
            <a:ext cx="3657600" cy="320040"/>
          </a:xfrm>
          <a:prstGeom prst="rect">
            <a:avLst/>
          </a:prstGeom>
          <a:noFill/>
        </p:spPr>
        <p:txBody>
          <a:bodyPr wrap="square">
            <a:spAutoFit/>
          </a:bodyPr>
          <a:lstStyle/>
          <a:p>
            <a:pPr algn="l">
              <a:defRPr sz="1200" b="1">
                <a:solidFill>
                  <a:srgbClr val="1A1A2E"/>
                </a:solidFill>
              </a:defRPr>
            </a:pPr>
            <a:r>
              <a:t>Legitimate Hospital System (Community 170)</a:t>
            </a:r>
          </a:p>
        </p:txBody>
      </p:sp>
      <p:sp>
        <p:nvSpPr>
          <p:cNvPr id="12" name="TextBox 11"/>
          <p:cNvSpPr txBox="1"/>
          <p:nvPr/>
        </p:nvSpPr>
        <p:spPr>
          <a:xfrm>
            <a:off x="5212080" y="1737360"/>
            <a:ext cx="2926080" cy="320040"/>
          </a:xfrm>
          <a:prstGeom prst="rect">
            <a:avLst/>
          </a:prstGeom>
          <a:noFill/>
        </p:spPr>
        <p:txBody>
          <a:bodyPr wrap="square">
            <a:spAutoFit/>
          </a:bodyPr>
          <a:lstStyle/>
          <a:p>
            <a:pPr algn="l">
              <a:defRPr sz="1000" b="0">
                <a:solidFill>
                  <a:srgbClr val="4A5A6A"/>
                </a:solidFill>
              </a:defRPr>
            </a:pPr>
            <a:r>
              <a:t>227 facilities, Kindred Healthcare, 1.3% exclusion rate</a:t>
            </a:r>
          </a:p>
        </p:txBody>
      </p:sp>
      <p:sp>
        <p:nvSpPr>
          <p:cNvPr id="13" name="TextBox 12"/>
          <p:cNvSpPr txBox="1"/>
          <p:nvPr/>
        </p:nvSpPr>
        <p:spPr>
          <a:xfrm>
            <a:off x="8229600" y="1737360"/>
            <a:ext cx="3566160" cy="320040"/>
          </a:xfrm>
          <a:prstGeom prst="rect">
            <a:avLst/>
          </a:prstGeom>
          <a:noFill/>
        </p:spPr>
        <p:txBody>
          <a:bodyPr wrap="square">
            <a:spAutoFit/>
          </a:bodyPr>
          <a:lstStyle/>
          <a:p>
            <a:pPr algn="l">
              <a:defRPr sz="900" b="0">
                <a:solidFill>
                  <a:srgbClr val="556677"/>
                </a:solidFill>
              </a:defRPr>
            </a:pPr>
            <a:r>
              <a:t>"PE-backed chain with legitimate infrastructure. Shared structure is NOT fraud."</a:t>
            </a:r>
          </a:p>
        </p:txBody>
      </p:sp>
      <p:sp>
        <p:nvSpPr>
          <p:cNvPr id="14" name="Rounded Rectangle 13"/>
          <p:cNvSpPr/>
          <p:nvPr/>
        </p:nvSpPr>
        <p:spPr>
          <a:xfrm>
            <a:off x="548640" y="2240280"/>
            <a:ext cx="822960" cy="3200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258568"/>
            <a:ext cx="822960" cy="274320"/>
          </a:xfrm>
          <a:prstGeom prst="rect">
            <a:avLst/>
          </a:prstGeom>
          <a:noFill/>
        </p:spPr>
        <p:txBody>
          <a:bodyPr wrap="none">
            <a:spAutoFit/>
          </a:bodyPr>
          <a:lstStyle/>
          <a:p>
            <a:pPr algn="ctr">
              <a:defRPr sz="1000" b="1">
                <a:solidFill>
                  <a:srgbClr val="FFFFFF"/>
                </a:solidFill>
              </a:defRPr>
            </a:pPr>
            <a:r>
              <a:t>CLEARED</a:t>
            </a:r>
          </a:p>
        </p:txBody>
      </p:sp>
      <p:sp>
        <p:nvSpPr>
          <p:cNvPr id="16" name="TextBox 15"/>
          <p:cNvSpPr txBox="1"/>
          <p:nvPr/>
        </p:nvSpPr>
        <p:spPr>
          <a:xfrm>
            <a:off x="1463040" y="2240280"/>
            <a:ext cx="3657600" cy="320040"/>
          </a:xfrm>
          <a:prstGeom prst="rect">
            <a:avLst/>
          </a:prstGeom>
          <a:noFill/>
        </p:spPr>
        <p:txBody>
          <a:bodyPr wrap="square">
            <a:spAutoFit/>
          </a:bodyPr>
          <a:lstStyle/>
          <a:p>
            <a:pPr algn="l">
              <a:defRPr sz="1200" b="1">
                <a:solidFill>
                  <a:srgbClr val="1A1A2E"/>
                </a:solidFill>
              </a:defRPr>
            </a:pPr>
            <a:r>
              <a:t>Established Nonprofit (Community 215)</a:t>
            </a:r>
          </a:p>
        </p:txBody>
      </p:sp>
      <p:sp>
        <p:nvSpPr>
          <p:cNvPr id="17" name="TextBox 16"/>
          <p:cNvSpPr txBox="1"/>
          <p:nvPr/>
        </p:nvSpPr>
        <p:spPr>
          <a:xfrm>
            <a:off x="5212080" y="2240280"/>
            <a:ext cx="2926080" cy="320040"/>
          </a:xfrm>
          <a:prstGeom prst="rect">
            <a:avLst/>
          </a:prstGeom>
          <a:noFill/>
        </p:spPr>
        <p:txBody>
          <a:bodyPr wrap="square">
            <a:spAutoFit/>
          </a:bodyPr>
          <a:lstStyle/>
          <a:p>
            <a:pPr algn="l">
              <a:defRPr sz="1000" b="0">
                <a:solidFill>
                  <a:srgbClr val="4A5A6A"/>
                </a:solidFill>
              </a:defRPr>
            </a:pPr>
            <a:r>
              <a:t>52-year-old organization, zero exclusions</a:t>
            </a:r>
          </a:p>
        </p:txBody>
      </p:sp>
      <p:sp>
        <p:nvSpPr>
          <p:cNvPr id="18" name="TextBox 17"/>
          <p:cNvSpPr txBox="1"/>
          <p:nvPr/>
        </p:nvSpPr>
        <p:spPr>
          <a:xfrm>
            <a:off x="8229600" y="2240280"/>
            <a:ext cx="3566160" cy="320040"/>
          </a:xfrm>
          <a:prstGeom prst="rect">
            <a:avLst/>
          </a:prstGeom>
          <a:noFill/>
        </p:spPr>
        <p:txBody>
          <a:bodyPr wrap="square">
            <a:spAutoFit/>
          </a:bodyPr>
          <a:lstStyle/>
          <a:p>
            <a:pPr algn="l">
              <a:defRPr sz="900" b="0">
                <a:solidFill>
                  <a:srgbClr val="556677"/>
                </a:solidFill>
              </a:defRPr>
            </a:pPr>
            <a:r>
              <a:t>"Long operational history rules out shell company classification."</a:t>
            </a:r>
          </a:p>
        </p:txBody>
      </p:sp>
      <p:sp>
        <p:nvSpPr>
          <p:cNvPr id="19" name="Rounded Rectangle 18"/>
          <p:cNvSpPr/>
          <p:nvPr/>
        </p:nvSpPr>
        <p:spPr>
          <a:xfrm>
            <a:off x="548640" y="2743200"/>
            <a:ext cx="822960" cy="320040"/>
          </a:xfrm>
          <a:prstGeom prst="round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2761488"/>
            <a:ext cx="822960" cy="274320"/>
          </a:xfrm>
          <a:prstGeom prst="rect">
            <a:avLst/>
          </a:prstGeom>
          <a:noFill/>
        </p:spPr>
        <p:txBody>
          <a:bodyPr wrap="none">
            <a:spAutoFit/>
          </a:bodyPr>
          <a:lstStyle/>
          <a:p>
            <a:pPr algn="ctr">
              <a:defRPr sz="1000" b="1">
                <a:solidFill>
                  <a:srgbClr val="FFFFFF"/>
                </a:solidFill>
              </a:defRPr>
            </a:pPr>
            <a:r>
              <a:t>HIGH</a:t>
            </a:r>
          </a:p>
        </p:txBody>
      </p:sp>
      <p:sp>
        <p:nvSpPr>
          <p:cNvPr id="21" name="TextBox 20"/>
          <p:cNvSpPr txBox="1"/>
          <p:nvPr/>
        </p:nvSpPr>
        <p:spPr>
          <a:xfrm>
            <a:off x="1463040" y="2743200"/>
            <a:ext cx="3657600" cy="320040"/>
          </a:xfrm>
          <a:prstGeom prst="rect">
            <a:avLst/>
          </a:prstGeom>
          <a:noFill/>
        </p:spPr>
        <p:txBody>
          <a:bodyPr wrap="square">
            <a:spAutoFit/>
          </a:bodyPr>
          <a:lstStyle/>
          <a:p>
            <a:pPr algn="l">
              <a:defRPr sz="1200" b="1">
                <a:solidFill>
                  <a:srgbClr val="1A1A2E"/>
                </a:solidFill>
              </a:defRPr>
            </a:pPr>
            <a:r>
              <a:t>DOJ-Prosecuted (NPI 1851563381)</a:t>
            </a:r>
          </a:p>
        </p:txBody>
      </p:sp>
      <p:sp>
        <p:nvSpPr>
          <p:cNvPr id="22" name="TextBox 21"/>
          <p:cNvSpPr txBox="1"/>
          <p:nvPr/>
        </p:nvSpPr>
        <p:spPr>
          <a:xfrm>
            <a:off x="5212080" y="2743200"/>
            <a:ext cx="2926080" cy="320040"/>
          </a:xfrm>
          <a:prstGeom prst="rect">
            <a:avLst/>
          </a:prstGeom>
          <a:noFill/>
        </p:spPr>
        <p:txBody>
          <a:bodyPr wrap="square">
            <a:spAutoFit/>
          </a:bodyPr>
          <a:lstStyle/>
          <a:p>
            <a:pPr algn="l">
              <a:defRPr sz="1000" b="0">
                <a:solidFill>
                  <a:srgbClr val="4A5A6A"/>
                </a:solidFill>
              </a:defRPr>
            </a:pPr>
            <a:r>
              <a:t>Florida Patient Care Corp, phantom billing prosecution</a:t>
            </a:r>
          </a:p>
        </p:txBody>
      </p:sp>
      <p:sp>
        <p:nvSpPr>
          <p:cNvPr id="23" name="TextBox 22"/>
          <p:cNvSpPr txBox="1"/>
          <p:nvPr/>
        </p:nvSpPr>
        <p:spPr>
          <a:xfrm>
            <a:off x="8229600" y="2743200"/>
            <a:ext cx="3566160" cy="320040"/>
          </a:xfrm>
          <a:prstGeom prst="rect">
            <a:avLst/>
          </a:prstGeom>
          <a:noFill/>
        </p:spPr>
        <p:txBody>
          <a:bodyPr wrap="square">
            <a:spAutoFit/>
          </a:bodyPr>
          <a:lstStyle/>
          <a:p>
            <a:pPr algn="l">
              <a:defRPr sz="900" b="0">
                <a:solidFill>
                  <a:srgbClr val="556677"/>
                </a:solidFill>
              </a:defRPr>
            </a:pPr>
            <a:r>
              <a:t>"DOJ RECORD FOUND. Prosecuted for billing for services never provided."</a:t>
            </a:r>
          </a:p>
        </p:txBody>
      </p:sp>
      <p:sp>
        <p:nvSpPr>
          <p:cNvPr id="24" name="Rounded Rectangle 23"/>
          <p:cNvSpPr/>
          <p:nvPr/>
        </p:nvSpPr>
        <p:spPr>
          <a:xfrm>
            <a:off x="548640" y="3246120"/>
            <a:ext cx="822960" cy="32004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264408"/>
            <a:ext cx="822960" cy="274320"/>
          </a:xfrm>
          <a:prstGeom prst="rect">
            <a:avLst/>
          </a:prstGeom>
          <a:noFill/>
        </p:spPr>
        <p:txBody>
          <a:bodyPr wrap="none">
            <a:spAutoFit/>
          </a:bodyPr>
          <a:lstStyle/>
          <a:p>
            <a:pPr algn="ctr">
              <a:defRPr sz="1000" b="1">
                <a:solidFill>
                  <a:srgbClr val="FFFFFF"/>
                </a:solidFill>
              </a:defRPr>
            </a:pPr>
            <a:r>
              <a:t>MEDIUM</a:t>
            </a:r>
          </a:p>
        </p:txBody>
      </p:sp>
      <p:sp>
        <p:nvSpPr>
          <p:cNvPr id="26" name="TextBox 25"/>
          <p:cNvSpPr txBox="1"/>
          <p:nvPr/>
        </p:nvSpPr>
        <p:spPr>
          <a:xfrm>
            <a:off x="1463040" y="3246120"/>
            <a:ext cx="3657600" cy="320040"/>
          </a:xfrm>
          <a:prstGeom prst="rect">
            <a:avLst/>
          </a:prstGeom>
          <a:noFill/>
        </p:spPr>
        <p:txBody>
          <a:bodyPr wrap="square">
            <a:spAutoFit/>
          </a:bodyPr>
          <a:lstStyle/>
          <a:p>
            <a:pPr algn="l">
              <a:defRPr sz="1200" b="1">
                <a:solidFill>
                  <a:srgbClr val="1A1A2E"/>
                </a:solidFill>
              </a:defRPr>
            </a:pPr>
            <a:r>
              <a:t>Doral Fraud Corridor (Community 731)</a:t>
            </a:r>
          </a:p>
        </p:txBody>
      </p:sp>
      <p:sp>
        <p:nvSpPr>
          <p:cNvPr id="27" name="TextBox 26"/>
          <p:cNvSpPr txBox="1"/>
          <p:nvPr/>
        </p:nvSpPr>
        <p:spPr>
          <a:xfrm>
            <a:off x="5212080" y="3246120"/>
            <a:ext cx="2926080" cy="320040"/>
          </a:xfrm>
          <a:prstGeom prst="rect">
            <a:avLst/>
          </a:prstGeom>
          <a:noFill/>
        </p:spPr>
        <p:txBody>
          <a:bodyPr wrap="square">
            <a:spAutoFit/>
          </a:bodyPr>
          <a:lstStyle/>
          <a:p>
            <a:pPr algn="l">
              <a:defRPr sz="1000" b="0">
                <a:solidFill>
                  <a:srgbClr val="4A5A6A"/>
                </a:solidFill>
              </a:defRPr>
            </a:pPr>
            <a:r>
              <a:t>5 HHAs co-located, 1/5 excluded, DOJ Strike Force area</a:t>
            </a:r>
          </a:p>
        </p:txBody>
      </p:sp>
      <p:sp>
        <p:nvSpPr>
          <p:cNvPr id="28" name="TextBox 27"/>
          <p:cNvSpPr txBox="1"/>
          <p:nvPr/>
        </p:nvSpPr>
        <p:spPr>
          <a:xfrm>
            <a:off x="8229600" y="3246120"/>
            <a:ext cx="3566160" cy="320040"/>
          </a:xfrm>
          <a:prstGeom prst="rect">
            <a:avLst/>
          </a:prstGeom>
          <a:noFill/>
        </p:spPr>
        <p:txBody>
          <a:bodyPr wrap="square">
            <a:spAutoFit/>
          </a:bodyPr>
          <a:lstStyle/>
          <a:p>
            <a:pPr algn="l">
              <a:defRPr sz="900" b="0">
                <a:solidFill>
                  <a:srgbClr val="556677"/>
                </a:solidFill>
              </a:defRPr>
            </a:pPr>
            <a:r>
              <a:t>"Geographic risk significant. Cannot confirm fraud without claims data."</a:t>
            </a:r>
          </a:p>
        </p:txBody>
      </p:sp>
      <p:sp>
        <p:nvSpPr>
          <p:cNvPr id="29" name="Rounded Rectangle 28"/>
          <p:cNvSpPr/>
          <p:nvPr/>
        </p:nvSpPr>
        <p:spPr>
          <a:xfrm>
            <a:off x="548640" y="5623560"/>
            <a:ext cx="11094415" cy="640080"/>
          </a:xfrm>
          <a:prstGeom prst="roundRect">
            <a:avLst/>
          </a:prstGeom>
          <a:solidFill>
            <a:srgbClr val="E8F5E9"/>
          </a:solidFill>
          <a:ln>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742432"/>
            <a:ext cx="10728655" cy="457200"/>
          </a:xfrm>
          <a:prstGeom prst="rect">
            <a:avLst/>
          </a:prstGeom>
          <a:noFill/>
        </p:spPr>
        <p:txBody>
          <a:bodyPr wrap="square">
            <a:spAutoFit/>
          </a:bodyPr>
          <a:lstStyle/>
          <a:p>
            <a:pPr algn="l">
              <a:defRPr sz="1100" b="0">
                <a:solidFill>
                  <a:srgbClr val="2E7D32"/>
                </a:solidFill>
              </a:defRPr>
            </a:pPr>
            <a:r>
              <a:t>Key: Agent explains WHY each classification was made, not just the score. This enables investigators to trust or override the recommendation with full context.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Edge Cases: Why ML Score ≠ Final Classification</a:t>
            </a:r>
          </a:p>
        </p:txBody>
      </p:sp>
      <p:sp>
        <p:nvSpPr>
          <p:cNvPr id="4" name="TextBox 3"/>
          <p:cNvSpPr txBox="1"/>
          <p:nvPr/>
        </p:nvSpPr>
        <p:spPr>
          <a:xfrm>
            <a:off x="548640" y="1188720"/>
            <a:ext cx="11094415" cy="320040"/>
          </a:xfrm>
          <a:prstGeom prst="rect">
            <a:avLst/>
          </a:prstGeom>
          <a:noFill/>
        </p:spPr>
        <p:txBody>
          <a:bodyPr wrap="square">
            <a:spAutoFit/>
          </a:bodyPr>
          <a:lstStyle/>
          <a:p>
            <a:pPr algn="l">
              <a:defRPr sz="1400" b="1">
                <a:solidFill>
                  <a:srgbClr val="0F4C75"/>
                </a:solidFill>
              </a:defRPr>
            </a:pPr>
            <a:r>
              <a:t>Smart Investigation Thresholding</a:t>
            </a:r>
          </a:p>
        </p:txBody>
      </p:sp>
      <p:sp>
        <p:nvSpPr>
          <p:cNvPr id="5" name="Rounded Rectangle 4"/>
          <p:cNvSpPr/>
          <p:nvPr/>
        </p:nvSpPr>
        <p:spPr>
          <a:xfrm>
            <a:off x="731520" y="1554480"/>
            <a:ext cx="2377440" cy="1005840"/>
          </a:xfrm>
          <a:prstGeom prst="round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2377440" cy="822960"/>
          </a:xfrm>
          <a:prstGeom prst="rect">
            <a:avLst/>
          </a:prstGeom>
          <a:noFill/>
        </p:spPr>
        <p:txBody>
          <a:bodyPr wrap="square">
            <a:spAutoFit/>
          </a:bodyPr>
          <a:lstStyle/>
          <a:p>
            <a:pPr algn="ctr">
              <a:defRPr sz="1200" b="1">
                <a:solidFill>
                  <a:srgbClr val="FFFFFF"/>
                </a:solidFill>
              </a:defRPr>
            </a:pPr>
            <a:r>
              <a:t>ML SCORES</a:t>
            </a:r>
            <a:br/>
            <a:r>
              <a:t>ALL 11,090</a:t>
            </a:r>
          </a:p>
        </p:txBody>
      </p:sp>
      <p:sp>
        <p:nvSpPr>
          <p:cNvPr id="7" name="TextBox 6"/>
          <p:cNvSpPr txBox="1"/>
          <p:nvPr/>
        </p:nvSpPr>
        <p:spPr>
          <a:xfrm>
            <a:off x="731520" y="2606040"/>
            <a:ext cx="2377440" cy="274320"/>
          </a:xfrm>
          <a:prstGeom prst="rect">
            <a:avLst/>
          </a:prstGeom>
          <a:noFill/>
        </p:spPr>
        <p:txBody>
          <a:bodyPr wrap="square">
            <a:spAutoFit/>
          </a:bodyPr>
          <a:lstStyle/>
          <a:p>
            <a:pPr algn="ctr">
              <a:defRPr sz="900" b="0">
                <a:solidFill>
                  <a:srgbClr val="4A5A6A"/>
                </a:solidFill>
              </a:defRPr>
            </a:pPr>
            <a:r>
              <a:t>~0.1s</a:t>
            </a:r>
          </a:p>
        </p:txBody>
      </p:sp>
      <p:sp>
        <p:nvSpPr>
          <p:cNvPr id="8" name="Right Arrow 7"/>
          <p:cNvSpPr/>
          <p:nvPr/>
        </p:nvSpPr>
        <p:spPr>
          <a:xfrm>
            <a:off x="3154680" y="1920240"/>
            <a:ext cx="365760" cy="274320"/>
          </a:xfrm>
          <a:prstGeom prst="right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66160" y="1554480"/>
            <a:ext cx="2377440" cy="100584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1645920"/>
            <a:ext cx="2377440" cy="822960"/>
          </a:xfrm>
          <a:prstGeom prst="rect">
            <a:avLst/>
          </a:prstGeom>
          <a:noFill/>
        </p:spPr>
        <p:txBody>
          <a:bodyPr wrap="square">
            <a:spAutoFit/>
          </a:bodyPr>
          <a:lstStyle/>
          <a:p>
            <a:pPr algn="ctr">
              <a:defRPr sz="1200" b="1">
                <a:solidFill>
                  <a:srgbClr val="FFFFFF"/>
                </a:solidFill>
              </a:defRPr>
            </a:pPr>
            <a:r>
              <a:t>Score &gt; 0.3?</a:t>
            </a:r>
            <a:br/>
            <a:r>
              <a:t>OR Flags &gt; 0?</a:t>
            </a:r>
            <a:br/>
            <a:r>
              <a:t>OR DOJ Match?</a:t>
            </a:r>
          </a:p>
        </p:txBody>
      </p:sp>
      <p:sp>
        <p:nvSpPr>
          <p:cNvPr id="11" name="TextBox 10"/>
          <p:cNvSpPr txBox="1"/>
          <p:nvPr/>
        </p:nvSpPr>
        <p:spPr>
          <a:xfrm>
            <a:off x="3566160" y="2606040"/>
            <a:ext cx="2377440" cy="274320"/>
          </a:xfrm>
          <a:prstGeom prst="rect">
            <a:avLst/>
          </a:prstGeom>
          <a:noFill/>
        </p:spPr>
        <p:txBody>
          <a:bodyPr wrap="square">
            <a:spAutoFit/>
          </a:bodyPr>
          <a:lstStyle/>
          <a:p>
            <a:pPr algn="ctr">
              <a:defRPr sz="900" b="0">
                <a:solidFill>
                  <a:srgbClr val="4A5A6A"/>
                </a:solidFill>
              </a:defRPr>
            </a:pPr>
            <a:r>
              <a:t>Filter</a:t>
            </a:r>
          </a:p>
        </p:txBody>
      </p:sp>
      <p:sp>
        <p:nvSpPr>
          <p:cNvPr id="12" name="Right Arrow 11"/>
          <p:cNvSpPr/>
          <p:nvPr/>
        </p:nvSpPr>
        <p:spPr>
          <a:xfrm>
            <a:off x="5989320" y="1920240"/>
            <a:ext cx="365760" cy="274320"/>
          </a:xfrm>
          <a:prstGeom prst="right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0" y="1554480"/>
            <a:ext cx="2377440" cy="10058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645920"/>
            <a:ext cx="2377440" cy="822960"/>
          </a:xfrm>
          <a:prstGeom prst="rect">
            <a:avLst/>
          </a:prstGeom>
          <a:noFill/>
        </p:spPr>
        <p:txBody>
          <a:bodyPr wrap="square">
            <a:spAutoFit/>
          </a:bodyPr>
          <a:lstStyle/>
          <a:p>
            <a:pPr algn="ctr">
              <a:defRPr sz="1200" b="1">
                <a:solidFill>
                  <a:srgbClr val="FFFFFF"/>
                </a:solidFill>
              </a:defRPr>
            </a:pPr>
            <a:r>
              <a:t>YES → Full</a:t>
            </a:r>
            <a:br/>
            <a:r>
              <a:t>Investigation</a:t>
            </a:r>
          </a:p>
        </p:txBody>
      </p:sp>
      <p:sp>
        <p:nvSpPr>
          <p:cNvPr id="15" name="TextBox 14"/>
          <p:cNvSpPr txBox="1"/>
          <p:nvPr/>
        </p:nvSpPr>
        <p:spPr>
          <a:xfrm>
            <a:off x="6400800" y="2606040"/>
            <a:ext cx="2377440" cy="274320"/>
          </a:xfrm>
          <a:prstGeom prst="rect">
            <a:avLst/>
          </a:prstGeom>
          <a:noFill/>
        </p:spPr>
        <p:txBody>
          <a:bodyPr wrap="square">
            <a:spAutoFit/>
          </a:bodyPr>
          <a:lstStyle/>
          <a:p>
            <a:pPr algn="ctr">
              <a:defRPr sz="900" b="0">
                <a:solidFill>
                  <a:srgbClr val="4A5A6A"/>
                </a:solidFill>
              </a:defRPr>
            </a:pPr>
            <a:r>
              <a:t>~$0.03</a:t>
            </a:r>
          </a:p>
        </p:txBody>
      </p:sp>
      <p:sp>
        <p:nvSpPr>
          <p:cNvPr id="16" name="Right Arrow 15"/>
          <p:cNvSpPr/>
          <p:nvPr/>
        </p:nvSpPr>
        <p:spPr>
          <a:xfrm>
            <a:off x="8823960" y="1920240"/>
            <a:ext cx="365760" cy="274320"/>
          </a:xfrm>
          <a:prstGeom prst="rightArrow">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235440" y="1554480"/>
            <a:ext cx="2377440" cy="1005840"/>
          </a:xfrm>
          <a:prstGeom prst="roundRect">
            <a:avLst/>
          </a:prstGeom>
          <a:solidFill>
            <a:srgbClr val="4A5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0" y="1645920"/>
            <a:ext cx="2377440" cy="822960"/>
          </a:xfrm>
          <a:prstGeom prst="rect">
            <a:avLst/>
          </a:prstGeom>
          <a:noFill/>
        </p:spPr>
        <p:txBody>
          <a:bodyPr wrap="square">
            <a:spAutoFit/>
          </a:bodyPr>
          <a:lstStyle/>
          <a:p>
            <a:pPr algn="ctr">
              <a:defRPr sz="1200" b="1">
                <a:solidFill>
                  <a:srgbClr val="FFFFFF"/>
                </a:solidFill>
              </a:defRPr>
            </a:pPr>
            <a:r>
              <a:t>NO → Skip</a:t>
            </a:r>
            <a:br/>
            <a:r>
              <a:t>(Save Cost)</a:t>
            </a:r>
          </a:p>
        </p:txBody>
      </p:sp>
      <p:sp>
        <p:nvSpPr>
          <p:cNvPr id="19" name="TextBox 18"/>
          <p:cNvSpPr txBox="1"/>
          <p:nvPr/>
        </p:nvSpPr>
        <p:spPr>
          <a:xfrm>
            <a:off x="9235440" y="2606040"/>
            <a:ext cx="2377440" cy="274320"/>
          </a:xfrm>
          <a:prstGeom prst="rect">
            <a:avLst/>
          </a:prstGeom>
          <a:noFill/>
        </p:spPr>
        <p:txBody>
          <a:bodyPr wrap="square">
            <a:spAutoFit/>
          </a:bodyPr>
          <a:lstStyle/>
          <a:p>
            <a:pPr algn="ctr">
              <a:defRPr sz="900" b="0">
                <a:solidFill>
                  <a:srgbClr val="4A5A6A"/>
                </a:solidFill>
              </a:defRPr>
            </a:pPr>
            <a:r>
              <a:t>$0</a:t>
            </a:r>
          </a:p>
        </p:txBody>
      </p:sp>
      <p:sp>
        <p:nvSpPr>
          <p:cNvPr id="20" name="TextBox 19"/>
          <p:cNvSpPr txBox="1"/>
          <p:nvPr/>
        </p:nvSpPr>
        <p:spPr>
          <a:xfrm>
            <a:off x="548640" y="3017520"/>
            <a:ext cx="11094415" cy="320040"/>
          </a:xfrm>
          <a:prstGeom prst="rect">
            <a:avLst/>
          </a:prstGeom>
          <a:noFill/>
        </p:spPr>
        <p:txBody>
          <a:bodyPr wrap="square">
            <a:spAutoFit/>
          </a:bodyPr>
          <a:lstStyle/>
          <a:p>
            <a:pPr algn="l">
              <a:defRPr sz="1400" b="1">
                <a:solidFill>
                  <a:srgbClr val="0F4C75"/>
                </a:solidFill>
              </a:defRPr>
            </a:pPr>
            <a:r>
              <a:t>Edge Cases Handled Correctly</a:t>
            </a:r>
          </a:p>
        </p:txBody>
      </p:sp>
      <p:graphicFrame>
        <p:nvGraphicFramePr>
          <p:cNvPr id="21" name="Table 20"/>
          <p:cNvGraphicFramePr>
            <a:graphicFrameLocks noGrp="1"/>
          </p:cNvGraphicFramePr>
          <p:nvPr/>
        </p:nvGraphicFramePr>
        <p:xfrm>
          <a:off x="548640" y="3383280"/>
          <a:ext cx="11094412" cy="2304288"/>
        </p:xfrm>
        <a:graphic>
          <a:graphicData uri="http://schemas.openxmlformats.org/drawingml/2006/table">
            <a:tbl>
              <a:tblPr firstRow="1" bandRow="1">
                <a:tableStyleId>{5C22544A-7EE6-4342-B048-85BDC9FD1C3A}</a:tableStyleId>
              </a:tblPr>
              <a:tblGrid>
                <a:gridCol w="2773603"/>
                <a:gridCol w="2773603"/>
                <a:gridCol w="2773603"/>
                <a:gridCol w="2773603"/>
              </a:tblGrid>
              <a:tr h="384048">
                <a:tc>
                  <a:txBody>
                    <a:bodyPr/>
                    <a:lstStyle/>
                    <a:p>
                      <a:pPr algn="ctr">
                        <a:spcBef>
                          <a:spcPts val="300"/>
                        </a:spcBef>
                        <a:spcAft>
                          <a:spcPts val="300"/>
                        </a:spcAft>
                        <a:defRPr b="1" sz="1100">
                          <a:solidFill>
                            <a:srgbClr val="FFFFFF"/>
                          </a:solidFill>
                        </a:defRPr>
                      </a:pPr>
                      <a:r>
                        <a:t>Scenario</a:t>
                      </a:r>
                    </a:p>
                  </a:txBody>
                  <a:tcPr>
                    <a:solidFill>
                      <a:srgbClr val="0F4C75"/>
                    </a:solidFill>
                  </a:tcPr>
                </a:tc>
                <a:tc>
                  <a:txBody>
                    <a:bodyPr/>
                    <a:lstStyle/>
                    <a:p>
                      <a:pPr algn="ctr">
                        <a:spcBef>
                          <a:spcPts val="300"/>
                        </a:spcBef>
                        <a:spcAft>
                          <a:spcPts val="300"/>
                        </a:spcAft>
                        <a:defRPr b="1" sz="1100">
                          <a:solidFill>
                            <a:srgbClr val="FFFFFF"/>
                          </a:solidFill>
                        </a:defRPr>
                      </a:pPr>
                      <a:r>
                        <a:t>ML Score</a:t>
                      </a:r>
                    </a:p>
                  </a:txBody>
                  <a:tcPr>
                    <a:solidFill>
                      <a:srgbClr val="0F4C75"/>
                    </a:solidFill>
                  </a:tcPr>
                </a:tc>
                <a:tc>
                  <a:txBody>
                    <a:bodyPr/>
                    <a:lstStyle/>
                    <a:p>
                      <a:pPr algn="ctr">
                        <a:spcBef>
                          <a:spcPts val="300"/>
                        </a:spcBef>
                        <a:spcAft>
                          <a:spcPts val="300"/>
                        </a:spcAft>
                        <a:defRPr b="1" sz="1100">
                          <a:solidFill>
                            <a:srgbClr val="FFFFFF"/>
                          </a:solidFill>
                        </a:defRPr>
                      </a:pPr>
                      <a:r>
                        <a:t>Classification</a:t>
                      </a:r>
                    </a:p>
                  </a:txBody>
                  <a:tcPr>
                    <a:solidFill>
                      <a:srgbClr val="0F4C75"/>
                    </a:solidFill>
                  </a:tcPr>
                </a:tc>
                <a:tc>
                  <a:txBody>
                    <a:bodyPr/>
                    <a:lstStyle/>
                    <a:p>
                      <a:pPr algn="ctr">
                        <a:spcBef>
                          <a:spcPts val="300"/>
                        </a:spcBef>
                        <a:spcAft>
                          <a:spcPts val="300"/>
                        </a:spcAft>
                        <a:defRPr b="1" sz="1100">
                          <a:solidFill>
                            <a:srgbClr val="FFFFFF"/>
                          </a:solidFill>
                        </a:defRPr>
                      </a:pPr>
                      <a:r>
                        <a:t>Why?</a:t>
                      </a:r>
                    </a:p>
                  </a:txBody>
                  <a:tcPr>
                    <a:solidFill>
                      <a:srgbClr val="0F4C75"/>
                    </a:solidFill>
                  </a:tcPr>
                </a:tc>
              </a:tr>
              <a:tr h="384048">
                <a:tc>
                  <a:txBody>
                    <a:bodyPr/>
                    <a:lstStyle/>
                    <a:p>
                      <a:pPr algn="l">
                        <a:spcBef>
                          <a:spcPts val="200"/>
                        </a:spcBef>
                        <a:spcAft>
                          <a:spcPts val="200"/>
                        </a:spcAft>
                        <a:defRPr sz="1000">
                          <a:solidFill>
                            <a:srgbClr val="4A5A6A"/>
                          </a:solidFill>
                        </a:defRPr>
                      </a:pPr>
                      <a:r>
                        <a:t>Kindred Healthcare (227 facilities)</a:t>
                      </a:r>
                    </a:p>
                  </a:txBody>
                  <a:tcPr/>
                </a:tc>
                <a:tc>
                  <a:txBody>
                    <a:bodyPr/>
                    <a:lstStyle/>
                    <a:p>
                      <a:pPr algn="ctr">
                        <a:spcBef>
                          <a:spcPts val="200"/>
                        </a:spcBef>
                        <a:spcAft>
                          <a:spcPts val="200"/>
                        </a:spcAft>
                        <a:defRPr sz="1000">
                          <a:solidFill>
                            <a:srgbClr val="4A5A6A"/>
                          </a:solidFill>
                        </a:defRPr>
                      </a:pPr>
                      <a:r>
                        <a:t>0.81</a:t>
                      </a:r>
                    </a:p>
                  </a:txBody>
                  <a:tcPr/>
                </a:tc>
                <a:tc>
                  <a:txBody>
                    <a:bodyPr/>
                    <a:lstStyle/>
                    <a:p>
                      <a:pPr algn="ctr">
                        <a:spcBef>
                          <a:spcPts val="200"/>
                        </a:spcBef>
                        <a:spcAft>
                          <a:spcPts val="200"/>
                        </a:spcAft>
                        <a:defRPr sz="1000">
                          <a:solidFill>
                            <a:srgbClr val="4A5A6A"/>
                          </a:solidFill>
                        </a:defRPr>
                      </a:pPr>
                      <a:r>
                        <a:t>LOW</a:t>
                      </a:r>
                    </a:p>
                  </a:txBody>
                  <a:tcPr/>
                </a:tc>
                <a:tc>
                  <a:txBody>
                    <a:bodyPr/>
                    <a:lstStyle/>
                    <a:p>
                      <a:pPr algn="ctr">
                        <a:spcBef>
                          <a:spcPts val="200"/>
                        </a:spcBef>
                        <a:spcAft>
                          <a:spcPts val="200"/>
                        </a:spcAft>
                        <a:defRPr sz="1000">
                          <a:solidFill>
                            <a:srgbClr val="4A5A6A"/>
                          </a:solidFill>
                        </a:defRPr>
                      </a:pPr>
                      <a:r>
                        <a:t>Agent recognizes legitimate PE-backed system</a:t>
                      </a:r>
                    </a:p>
                  </a:txBody>
                  <a:tcPr/>
                </a:tc>
              </a:tr>
              <a:tr h="384048">
                <a:tc>
                  <a:txBody>
                    <a:bodyPr/>
                    <a:lstStyle/>
                    <a:p>
                      <a:pPr algn="l">
                        <a:spcBef>
                          <a:spcPts val="200"/>
                        </a:spcBef>
                        <a:spcAft>
                          <a:spcPts val="200"/>
                        </a:spcAft>
                        <a:defRPr sz="1000">
                          <a:solidFill>
                            <a:srgbClr val="4A5A6A"/>
                          </a:solidFill>
                        </a:defRPr>
                      </a:pPr>
                      <a:r>
                        <a:t>Community 698 (large network)</a:t>
                      </a:r>
                    </a:p>
                  </a:txBody>
                  <a:tcPr>
                    <a:solidFill>
                      <a:srgbClr val="F8F9FA"/>
                    </a:solidFill>
                  </a:tcPr>
                </a:tc>
                <a:tc>
                  <a:txBody>
                    <a:bodyPr/>
                    <a:lstStyle/>
                    <a:p>
                      <a:pPr algn="ctr">
                        <a:spcBef>
                          <a:spcPts val="200"/>
                        </a:spcBef>
                        <a:spcAft>
                          <a:spcPts val="200"/>
                        </a:spcAft>
                        <a:defRPr sz="1000">
                          <a:solidFill>
                            <a:srgbClr val="4A5A6A"/>
                          </a:solidFill>
                        </a:defRPr>
                      </a:pPr>
                      <a:r>
                        <a:t>0.80</a:t>
                      </a:r>
                    </a:p>
                  </a:txBody>
                  <a:tcPr>
                    <a:solidFill>
                      <a:srgbClr val="F8F9FA"/>
                    </a:solidFill>
                  </a:tcPr>
                </a:tc>
                <a:tc>
                  <a:txBody>
                    <a:bodyPr/>
                    <a:lstStyle/>
                    <a:p>
                      <a:pPr algn="ctr">
                        <a:spcBef>
                          <a:spcPts val="200"/>
                        </a:spcBef>
                        <a:spcAft>
                          <a:spcPts val="200"/>
                        </a:spcAft>
                        <a:defRPr sz="1000">
                          <a:solidFill>
                            <a:srgbClr val="4A5A6A"/>
                          </a:solidFill>
                        </a:defRPr>
                      </a:pPr>
                      <a:r>
                        <a:t>LOW</a:t>
                      </a:r>
                    </a:p>
                  </a:txBody>
                  <a:tcPr>
                    <a:solidFill>
                      <a:srgbClr val="F8F9FA"/>
                    </a:solidFill>
                  </a:tcPr>
                </a:tc>
                <a:tc>
                  <a:txBody>
                    <a:bodyPr/>
                    <a:lstStyle/>
                    <a:p>
                      <a:pPr algn="ctr">
                        <a:spcBef>
                          <a:spcPts val="200"/>
                        </a:spcBef>
                        <a:spcAft>
                          <a:spcPts val="200"/>
                        </a:spcAft>
                        <a:defRPr sz="1000">
                          <a:solidFill>
                            <a:srgbClr val="4A5A6A"/>
                          </a:solidFill>
                        </a:defRPr>
                      </a:pPr>
                      <a:r>
                        <a:t>High score from size, but 0% exclusion rate</a:t>
                      </a:r>
                    </a:p>
                  </a:txBody>
                  <a:tcPr>
                    <a:solidFill>
                      <a:srgbClr val="F8F9FA"/>
                    </a:solidFill>
                  </a:tcPr>
                </a:tc>
              </a:tr>
              <a:tr h="384048">
                <a:tc>
                  <a:txBody>
                    <a:bodyPr/>
                    <a:lstStyle/>
                    <a:p>
                      <a:pPr algn="l">
                        <a:spcBef>
                          <a:spcPts val="200"/>
                        </a:spcBef>
                        <a:spcAft>
                          <a:spcPts val="200"/>
                        </a:spcAft>
                        <a:defRPr sz="1000">
                          <a:solidFill>
                            <a:srgbClr val="4A5A6A"/>
                          </a:solidFill>
                        </a:defRPr>
                      </a:pPr>
                      <a:r>
                        <a:t>Florida Patient Care Corp</a:t>
                      </a:r>
                    </a:p>
                  </a:txBody>
                  <a:tcPr/>
                </a:tc>
                <a:tc>
                  <a:txBody>
                    <a:bodyPr/>
                    <a:lstStyle/>
                    <a:p>
                      <a:pPr algn="ctr">
                        <a:spcBef>
                          <a:spcPts val="200"/>
                        </a:spcBef>
                        <a:spcAft>
                          <a:spcPts val="200"/>
                        </a:spcAft>
                        <a:defRPr sz="1000">
                          <a:solidFill>
                            <a:srgbClr val="4A5A6A"/>
                          </a:solidFill>
                        </a:defRPr>
                      </a:pPr>
                      <a:r>
                        <a:t>0.42</a:t>
                      </a:r>
                    </a:p>
                  </a:txBody>
                  <a:tcPr/>
                </a:tc>
                <a:tc>
                  <a:txBody>
                    <a:bodyPr/>
                    <a:lstStyle/>
                    <a:p>
                      <a:pPr algn="ctr">
                        <a:spcBef>
                          <a:spcPts val="200"/>
                        </a:spcBef>
                        <a:spcAft>
                          <a:spcPts val="200"/>
                        </a:spcAft>
                        <a:defRPr sz="1000">
                          <a:solidFill>
                            <a:srgbClr val="4A5A6A"/>
                          </a:solidFill>
                        </a:defRPr>
                      </a:pPr>
                      <a:r>
                        <a:t>HIGH</a:t>
                      </a:r>
                    </a:p>
                  </a:txBody>
                  <a:tcPr/>
                </a:tc>
                <a:tc>
                  <a:txBody>
                    <a:bodyPr/>
                    <a:lstStyle/>
                    <a:p>
                      <a:pPr algn="ctr">
                        <a:spcBef>
                          <a:spcPts val="200"/>
                        </a:spcBef>
                        <a:spcAft>
                          <a:spcPts val="200"/>
                        </a:spcAft>
                        <a:defRPr sz="1000">
                          <a:solidFill>
                            <a:srgbClr val="4A5A6A"/>
                          </a:solidFill>
                        </a:defRPr>
                      </a:pPr>
                      <a:r>
                        <a:t>DOJ match forces investigation despite low score</a:t>
                      </a:r>
                    </a:p>
                  </a:txBody>
                  <a:tcPr/>
                </a:tc>
              </a:tr>
              <a:tr h="384048">
                <a:tc>
                  <a:txBody>
                    <a:bodyPr/>
                    <a:lstStyle/>
                    <a:p>
                      <a:pPr algn="l">
                        <a:spcBef>
                          <a:spcPts val="200"/>
                        </a:spcBef>
                        <a:spcAft>
                          <a:spcPts val="200"/>
                        </a:spcAft>
                        <a:defRPr sz="1000">
                          <a:solidFill>
                            <a:srgbClr val="4A5A6A"/>
                          </a:solidFill>
                        </a:defRPr>
                      </a:pPr>
                      <a:r>
                        <a:t>Doral office building (5 HHAs)</a:t>
                      </a:r>
                    </a:p>
                  </a:txBody>
                  <a:tcPr>
                    <a:solidFill>
                      <a:srgbClr val="F8F9FA"/>
                    </a:solidFill>
                  </a:tcPr>
                </a:tc>
                <a:tc>
                  <a:txBody>
                    <a:bodyPr/>
                    <a:lstStyle/>
                    <a:p>
                      <a:pPr algn="ctr">
                        <a:spcBef>
                          <a:spcPts val="200"/>
                        </a:spcBef>
                        <a:spcAft>
                          <a:spcPts val="200"/>
                        </a:spcAft>
                        <a:defRPr sz="1000">
                          <a:solidFill>
                            <a:srgbClr val="4A5A6A"/>
                          </a:solidFill>
                        </a:defRPr>
                      </a:pPr>
                      <a:r>
                        <a:t>0.72</a:t>
                      </a:r>
                    </a:p>
                  </a:txBody>
                  <a:tcPr>
                    <a:solidFill>
                      <a:srgbClr val="F8F9FA"/>
                    </a:solidFill>
                  </a:tcPr>
                </a:tc>
                <a:tc>
                  <a:txBody>
                    <a:bodyPr/>
                    <a:lstStyle/>
                    <a:p>
                      <a:pPr algn="ctr">
                        <a:spcBef>
                          <a:spcPts val="200"/>
                        </a:spcBef>
                        <a:spcAft>
                          <a:spcPts val="200"/>
                        </a:spcAft>
                        <a:defRPr sz="1000">
                          <a:solidFill>
                            <a:srgbClr val="4A5A6A"/>
                          </a:solidFill>
                        </a:defRPr>
                      </a:pPr>
                      <a:r>
                        <a:t>MEDIUM</a:t>
                      </a:r>
                    </a:p>
                  </a:txBody>
                  <a:tcPr>
                    <a:solidFill>
                      <a:srgbClr val="F8F9FA"/>
                    </a:solidFill>
                  </a:tcPr>
                </a:tc>
                <a:tc>
                  <a:txBody>
                    <a:bodyPr/>
                    <a:lstStyle/>
                    <a:p>
                      <a:pPr algn="ctr">
                        <a:spcBef>
                          <a:spcPts val="200"/>
                        </a:spcBef>
                        <a:spcAft>
                          <a:spcPts val="200"/>
                        </a:spcAft>
                        <a:defRPr sz="1000">
                          <a:solidFill>
                            <a:srgbClr val="4A5A6A"/>
                          </a:solidFill>
                        </a:defRPr>
                      </a:pPr>
                      <a:r>
                        <a:t>Co-location is legitimate, but geographic risk</a:t>
                      </a:r>
                    </a:p>
                  </a:txBody>
                  <a:tcPr>
                    <a:solidFill>
                      <a:srgbClr val="F8F9FA"/>
                    </a:solidFill>
                  </a:tcPr>
                </a:tc>
              </a:tr>
              <a:tr h="384048">
                <a:tc>
                  <a:txBody>
                    <a:bodyPr/>
                    <a:lstStyle/>
                    <a:p>
                      <a:pPr algn="l">
                        <a:spcBef>
                          <a:spcPts val="200"/>
                        </a:spcBef>
                        <a:spcAft>
                          <a:spcPts val="200"/>
                        </a:spcAft>
                        <a:defRPr sz="1000">
                          <a:solidFill>
                            <a:srgbClr val="4A5A6A"/>
                          </a:solidFill>
                        </a:defRPr>
                      </a:pPr>
                      <a:r>
                        <a:t>New entity, clean record</a:t>
                      </a:r>
                    </a:p>
                  </a:txBody>
                  <a:tcPr/>
                </a:tc>
                <a:tc>
                  <a:txBody>
                    <a:bodyPr/>
                    <a:lstStyle/>
                    <a:p>
                      <a:pPr algn="ctr">
                        <a:spcBef>
                          <a:spcPts val="200"/>
                        </a:spcBef>
                        <a:spcAft>
                          <a:spcPts val="200"/>
                        </a:spcAft>
                        <a:defRPr sz="1000">
                          <a:solidFill>
                            <a:srgbClr val="4A5A6A"/>
                          </a:solidFill>
                        </a:defRPr>
                      </a:pPr>
                      <a:r>
                        <a:t>0.55</a:t>
                      </a:r>
                    </a:p>
                  </a:txBody>
                  <a:tcPr/>
                </a:tc>
                <a:tc>
                  <a:txBody>
                    <a:bodyPr/>
                    <a:lstStyle/>
                    <a:p>
                      <a:pPr algn="ctr">
                        <a:spcBef>
                          <a:spcPts val="200"/>
                        </a:spcBef>
                        <a:spcAft>
                          <a:spcPts val="200"/>
                        </a:spcAft>
                        <a:defRPr sz="1000">
                          <a:solidFill>
                            <a:srgbClr val="4A5A6A"/>
                          </a:solidFill>
                        </a:defRPr>
                      </a:pPr>
                      <a:r>
                        <a:t>LOW</a:t>
                      </a:r>
                    </a:p>
                  </a:txBody>
                  <a:tcPr/>
                </a:tc>
                <a:tc>
                  <a:txBody>
                    <a:bodyPr/>
                    <a:lstStyle/>
                    <a:p>
                      <a:pPr algn="ctr">
                        <a:spcBef>
                          <a:spcPts val="200"/>
                        </a:spcBef>
                        <a:spcAft>
                          <a:spcPts val="200"/>
                        </a:spcAft>
                        <a:defRPr sz="1000">
                          <a:solidFill>
                            <a:srgbClr val="4A5A6A"/>
                          </a:solidFill>
                        </a:defRPr>
                      </a:pPr>
                      <a:r>
                        <a:t>No red flags despite being new</a:t>
                      </a:r>
                    </a:p>
                  </a:txBody>
                  <a:tcPr/>
                </a:tc>
              </a:tr>
            </a:tbl>
          </a:graphicData>
        </a:graphic>
      </p:graphicFrame>
      <p:sp>
        <p:nvSpPr>
          <p:cNvPr id="22" name="Rounded Rectangle 21"/>
          <p:cNvSpPr/>
          <p:nvPr/>
        </p:nvSpPr>
        <p:spPr>
          <a:xfrm>
            <a:off x="548640" y="5486400"/>
            <a:ext cx="11094415" cy="822960"/>
          </a:xfrm>
          <a:prstGeom prst="roundRect">
            <a:avLst/>
          </a:prstGeom>
          <a:solidFill>
            <a:srgbClr val="FFF8E1"/>
          </a:solidFill>
          <a:ln>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623560"/>
            <a:ext cx="10728655" cy="548640"/>
          </a:xfrm>
          <a:prstGeom prst="rect">
            <a:avLst/>
          </a:prstGeom>
          <a:noFill/>
        </p:spPr>
        <p:txBody>
          <a:bodyPr wrap="square">
            <a:spAutoFit/>
          </a:bodyPr>
          <a:lstStyle/>
          <a:p>
            <a:pPr algn="l">
              <a:defRPr sz="1100" b="0">
                <a:solidFill>
                  <a:srgbClr val="8D6E00"/>
                </a:solidFill>
              </a:defRPr>
            </a:pPr>
            <a:r>
              <a:t>Key: ML score is a starting point, not the answer. The agent evaluates context that ML cannot see: entity age, corporate structure legitimacy, DOJ history, and geographic risk factors. This reduces false positives by 60%+.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Iterative Improvements: Making the Agent Smarter</a:t>
            </a:r>
          </a:p>
        </p:txBody>
      </p:sp>
      <p:sp>
        <p:nvSpPr>
          <p:cNvPr id="4" name="Oval 3"/>
          <p:cNvSpPr/>
          <p:nvPr/>
        </p:nvSpPr>
        <p:spPr>
          <a:xfrm>
            <a:off x="548640" y="1234440"/>
            <a:ext cx="365760" cy="365760"/>
          </a:xfrm>
          <a:prstGeom prst="ellipse">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365760" cy="274320"/>
          </a:xfrm>
          <a:prstGeom prst="rect">
            <a:avLst/>
          </a:prstGeom>
          <a:noFill/>
        </p:spPr>
        <p:txBody>
          <a:bodyPr wrap="none">
            <a:spAutoFit/>
          </a:bodyPr>
          <a:lstStyle/>
          <a:p>
            <a:pPr algn="ctr">
              <a:defRPr sz="1200" b="1">
                <a:solidFill>
                  <a:srgbClr val="FFFFFF"/>
                </a:solidFill>
              </a:defRPr>
            </a:pPr>
            <a:r>
              <a:t>1</a:t>
            </a:r>
          </a:p>
        </p:txBody>
      </p:sp>
      <p:sp>
        <p:nvSpPr>
          <p:cNvPr id="6" name="TextBox 5"/>
          <p:cNvSpPr txBox="1"/>
          <p:nvPr/>
        </p:nvSpPr>
        <p:spPr>
          <a:xfrm>
            <a:off x="1005840" y="1280160"/>
            <a:ext cx="2194560" cy="320040"/>
          </a:xfrm>
          <a:prstGeom prst="rect">
            <a:avLst/>
          </a:prstGeom>
          <a:noFill/>
        </p:spPr>
        <p:txBody>
          <a:bodyPr wrap="square">
            <a:spAutoFit/>
          </a:bodyPr>
          <a:lstStyle/>
          <a:p>
            <a:pPr algn="l">
              <a:defRPr sz="1200" b="1">
                <a:solidFill>
                  <a:srgbClr val="1A1A2E"/>
                </a:solidFill>
              </a:defRPr>
            </a:pPr>
            <a:r>
              <a:t>SunBiz Integration</a:t>
            </a:r>
          </a:p>
        </p:txBody>
      </p:sp>
      <p:sp>
        <p:nvSpPr>
          <p:cNvPr id="7" name="TextBox 6"/>
          <p:cNvSpPr txBox="1"/>
          <p:nvPr/>
        </p:nvSpPr>
        <p:spPr>
          <a:xfrm>
            <a:off x="3291840" y="1234440"/>
            <a:ext cx="8229600" cy="457200"/>
          </a:xfrm>
          <a:prstGeom prst="rect">
            <a:avLst/>
          </a:prstGeom>
          <a:noFill/>
        </p:spPr>
        <p:txBody>
          <a:bodyPr wrap="square">
            <a:spAutoFit/>
          </a:bodyPr>
          <a:lstStyle/>
          <a:p>
            <a:pPr algn="l">
              <a:defRPr sz="1000" b="0">
                <a:solidFill>
                  <a:srgbClr val="4A5A6A"/>
                </a:solidFill>
              </a:defRPr>
            </a:pPr>
            <a:r>
              <a:t>Added FL corporate records for entity age. Shell companies are NEW by definition—52-year entities cannot be shell companies.</a:t>
            </a:r>
          </a:p>
        </p:txBody>
      </p:sp>
      <p:sp>
        <p:nvSpPr>
          <p:cNvPr id="8" name="Oval 7"/>
          <p:cNvSpPr/>
          <p:nvPr/>
        </p:nvSpPr>
        <p:spPr>
          <a:xfrm>
            <a:off x="548640" y="1764792"/>
            <a:ext cx="365760" cy="365760"/>
          </a:xfrm>
          <a:prstGeom prst="ellipse">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810512"/>
            <a:ext cx="365760" cy="274320"/>
          </a:xfrm>
          <a:prstGeom prst="rect">
            <a:avLst/>
          </a:prstGeom>
          <a:noFill/>
        </p:spPr>
        <p:txBody>
          <a:bodyPr wrap="none">
            <a:spAutoFit/>
          </a:bodyPr>
          <a:lstStyle/>
          <a:p>
            <a:pPr algn="ctr">
              <a:defRPr sz="1200" b="1">
                <a:solidFill>
                  <a:srgbClr val="FFFFFF"/>
                </a:solidFill>
              </a:defRPr>
            </a:pPr>
            <a:r>
              <a:t>2</a:t>
            </a:r>
          </a:p>
        </p:txBody>
      </p:sp>
      <p:sp>
        <p:nvSpPr>
          <p:cNvPr id="10" name="TextBox 9"/>
          <p:cNvSpPr txBox="1"/>
          <p:nvPr/>
        </p:nvSpPr>
        <p:spPr>
          <a:xfrm>
            <a:off x="1005840" y="1810512"/>
            <a:ext cx="2194560" cy="320040"/>
          </a:xfrm>
          <a:prstGeom prst="rect">
            <a:avLst/>
          </a:prstGeom>
          <a:noFill/>
        </p:spPr>
        <p:txBody>
          <a:bodyPr wrap="square">
            <a:spAutoFit/>
          </a:bodyPr>
          <a:lstStyle/>
          <a:p>
            <a:pPr algn="l">
              <a:defRPr sz="1200" b="1">
                <a:solidFill>
                  <a:srgbClr val="1A1A2E"/>
                </a:solidFill>
              </a:defRPr>
            </a:pPr>
            <a:r>
              <a:t>DOJ Cross-Reference</a:t>
            </a:r>
          </a:p>
        </p:txBody>
      </p:sp>
      <p:sp>
        <p:nvSpPr>
          <p:cNvPr id="11" name="TextBox 10"/>
          <p:cNvSpPr txBox="1"/>
          <p:nvPr/>
        </p:nvSpPr>
        <p:spPr>
          <a:xfrm>
            <a:off x="3291840" y="1764792"/>
            <a:ext cx="8229600" cy="457200"/>
          </a:xfrm>
          <a:prstGeom prst="rect">
            <a:avLst/>
          </a:prstGeom>
          <a:noFill/>
        </p:spPr>
        <p:txBody>
          <a:bodyPr wrap="square">
            <a:spAutoFit/>
          </a:bodyPr>
          <a:lstStyle/>
          <a:p>
            <a:pPr algn="l">
              <a:defRPr sz="1000" b="0">
                <a:solidFill>
                  <a:srgbClr val="4A5A6A"/>
                </a:solidFill>
              </a:defRPr>
            </a:pPr>
            <a:r>
              <a:t>Built prosecution database (50+ cases). Forces investigation on matches regardless of ML score. Catches behavioral fraud.</a:t>
            </a:r>
          </a:p>
        </p:txBody>
      </p:sp>
      <p:sp>
        <p:nvSpPr>
          <p:cNvPr id="12" name="Oval 11"/>
          <p:cNvSpPr/>
          <p:nvPr/>
        </p:nvSpPr>
        <p:spPr>
          <a:xfrm>
            <a:off x="548640" y="2295144"/>
            <a:ext cx="365760" cy="365760"/>
          </a:xfrm>
          <a:prstGeom prst="ellipse">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340864"/>
            <a:ext cx="365760" cy="274320"/>
          </a:xfrm>
          <a:prstGeom prst="rect">
            <a:avLst/>
          </a:prstGeom>
          <a:noFill/>
        </p:spPr>
        <p:txBody>
          <a:bodyPr wrap="none">
            <a:spAutoFit/>
          </a:bodyPr>
          <a:lstStyle/>
          <a:p>
            <a:pPr algn="ctr">
              <a:defRPr sz="1200" b="1">
                <a:solidFill>
                  <a:srgbClr val="FFFFFF"/>
                </a:solidFill>
              </a:defRPr>
            </a:pPr>
            <a:r>
              <a:t>3</a:t>
            </a:r>
          </a:p>
        </p:txBody>
      </p:sp>
      <p:sp>
        <p:nvSpPr>
          <p:cNvPr id="14" name="TextBox 13"/>
          <p:cNvSpPr txBox="1"/>
          <p:nvPr/>
        </p:nvSpPr>
        <p:spPr>
          <a:xfrm>
            <a:off x="1005840" y="2340864"/>
            <a:ext cx="2194560" cy="320040"/>
          </a:xfrm>
          <a:prstGeom prst="rect">
            <a:avLst/>
          </a:prstGeom>
          <a:noFill/>
        </p:spPr>
        <p:txBody>
          <a:bodyPr wrap="square">
            <a:spAutoFit/>
          </a:bodyPr>
          <a:lstStyle/>
          <a:p>
            <a:pPr algn="l">
              <a:defRPr sz="1200" b="1">
                <a:solidFill>
                  <a:srgbClr val="1A1A2E"/>
                </a:solidFill>
              </a:defRPr>
            </a:pPr>
            <a:r>
              <a:t>Red Flag Checklist</a:t>
            </a:r>
          </a:p>
        </p:txBody>
      </p:sp>
      <p:sp>
        <p:nvSpPr>
          <p:cNvPr id="15" name="TextBox 14"/>
          <p:cNvSpPr txBox="1"/>
          <p:nvPr/>
        </p:nvSpPr>
        <p:spPr>
          <a:xfrm>
            <a:off x="3291840" y="2295144"/>
            <a:ext cx="8229600" cy="457200"/>
          </a:xfrm>
          <a:prstGeom prst="rect">
            <a:avLst/>
          </a:prstGeom>
          <a:noFill/>
        </p:spPr>
        <p:txBody>
          <a:bodyPr wrap="square">
            <a:spAutoFit/>
          </a:bodyPr>
          <a:lstStyle/>
          <a:p>
            <a:pPr algn="l">
              <a:defRPr sz="1000" b="0">
                <a:solidFill>
                  <a:srgbClr val="4A5A6A"/>
                </a:solidFill>
              </a:defRPr>
            </a:pPr>
            <a:r>
              <a:t>5 deterministic checks BEFORE LLM. Agent cannot contradict hard facts (exclusion status, shared addresses).</a:t>
            </a:r>
          </a:p>
        </p:txBody>
      </p:sp>
      <p:sp>
        <p:nvSpPr>
          <p:cNvPr id="16" name="Oval 15"/>
          <p:cNvSpPr/>
          <p:nvPr/>
        </p:nvSpPr>
        <p:spPr>
          <a:xfrm>
            <a:off x="548640" y="2825496"/>
            <a:ext cx="365760" cy="365760"/>
          </a:xfrm>
          <a:prstGeom prst="ellipse">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871216"/>
            <a:ext cx="365760" cy="274320"/>
          </a:xfrm>
          <a:prstGeom prst="rect">
            <a:avLst/>
          </a:prstGeom>
          <a:noFill/>
        </p:spPr>
        <p:txBody>
          <a:bodyPr wrap="none">
            <a:spAutoFit/>
          </a:bodyPr>
          <a:lstStyle/>
          <a:p>
            <a:pPr algn="ctr">
              <a:defRPr sz="1200" b="1">
                <a:solidFill>
                  <a:srgbClr val="FFFFFF"/>
                </a:solidFill>
              </a:defRPr>
            </a:pPr>
            <a:r>
              <a:t>4</a:t>
            </a:r>
          </a:p>
        </p:txBody>
      </p:sp>
      <p:sp>
        <p:nvSpPr>
          <p:cNvPr id="18" name="TextBox 17"/>
          <p:cNvSpPr txBox="1"/>
          <p:nvPr/>
        </p:nvSpPr>
        <p:spPr>
          <a:xfrm>
            <a:off x="1005840" y="2871216"/>
            <a:ext cx="2194560" cy="320040"/>
          </a:xfrm>
          <a:prstGeom prst="rect">
            <a:avLst/>
          </a:prstGeom>
          <a:noFill/>
        </p:spPr>
        <p:txBody>
          <a:bodyPr wrap="square">
            <a:spAutoFit/>
          </a:bodyPr>
          <a:lstStyle/>
          <a:p>
            <a:pPr algn="l">
              <a:defRPr sz="1200" b="1">
                <a:solidFill>
                  <a:srgbClr val="1A1A2E"/>
                </a:solidFill>
              </a:defRPr>
            </a:pPr>
            <a:r>
              <a:t>False Positive Rules</a:t>
            </a:r>
          </a:p>
        </p:txBody>
      </p:sp>
      <p:sp>
        <p:nvSpPr>
          <p:cNvPr id="19" name="TextBox 18"/>
          <p:cNvSpPr txBox="1"/>
          <p:nvPr/>
        </p:nvSpPr>
        <p:spPr>
          <a:xfrm>
            <a:off x="3291840" y="2825496"/>
            <a:ext cx="8229600" cy="457200"/>
          </a:xfrm>
          <a:prstGeom prst="rect">
            <a:avLst/>
          </a:prstGeom>
          <a:noFill/>
        </p:spPr>
        <p:txBody>
          <a:bodyPr wrap="square">
            <a:spAutoFit/>
          </a:bodyPr>
          <a:lstStyle/>
          <a:p>
            <a:pPr algn="l">
              <a:defRPr sz="1000" b="0">
                <a:solidFill>
                  <a:srgbClr val="4A5A6A"/>
                </a:solidFill>
              </a:defRPr>
            </a:pPr>
            <a:r>
              <a:t>System prompt warns about Kindred, HCA, Solaris. Large healthcare systems have legitimate shared infrastructure.</a:t>
            </a:r>
          </a:p>
        </p:txBody>
      </p:sp>
      <p:sp>
        <p:nvSpPr>
          <p:cNvPr id="20" name="Oval 19"/>
          <p:cNvSpPr/>
          <p:nvPr/>
        </p:nvSpPr>
        <p:spPr>
          <a:xfrm>
            <a:off x="548640" y="3355848"/>
            <a:ext cx="365760" cy="365760"/>
          </a:xfrm>
          <a:prstGeom prst="ellipse">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401568"/>
            <a:ext cx="365760" cy="274320"/>
          </a:xfrm>
          <a:prstGeom prst="rect">
            <a:avLst/>
          </a:prstGeom>
          <a:noFill/>
        </p:spPr>
        <p:txBody>
          <a:bodyPr wrap="none">
            <a:spAutoFit/>
          </a:bodyPr>
          <a:lstStyle/>
          <a:p>
            <a:pPr algn="ctr">
              <a:defRPr sz="1200" b="1">
                <a:solidFill>
                  <a:srgbClr val="FFFFFF"/>
                </a:solidFill>
              </a:defRPr>
            </a:pPr>
            <a:r>
              <a:t>5</a:t>
            </a:r>
          </a:p>
        </p:txBody>
      </p:sp>
      <p:sp>
        <p:nvSpPr>
          <p:cNvPr id="22" name="TextBox 21"/>
          <p:cNvSpPr txBox="1"/>
          <p:nvPr/>
        </p:nvSpPr>
        <p:spPr>
          <a:xfrm>
            <a:off x="1005840" y="3401568"/>
            <a:ext cx="2194560" cy="320040"/>
          </a:xfrm>
          <a:prstGeom prst="rect">
            <a:avLst/>
          </a:prstGeom>
          <a:noFill/>
        </p:spPr>
        <p:txBody>
          <a:bodyPr wrap="square">
            <a:spAutoFit/>
          </a:bodyPr>
          <a:lstStyle/>
          <a:p>
            <a:pPr algn="l">
              <a:defRPr sz="1200" b="1">
                <a:solidFill>
                  <a:srgbClr val="1A1A2E"/>
                </a:solidFill>
              </a:defRPr>
            </a:pPr>
            <a:r>
              <a:t>SHAP Explainability</a:t>
            </a:r>
          </a:p>
        </p:txBody>
      </p:sp>
      <p:sp>
        <p:nvSpPr>
          <p:cNvPr id="23" name="TextBox 22"/>
          <p:cNvSpPr txBox="1"/>
          <p:nvPr/>
        </p:nvSpPr>
        <p:spPr>
          <a:xfrm>
            <a:off x="3291840" y="3355848"/>
            <a:ext cx="8229600" cy="457200"/>
          </a:xfrm>
          <a:prstGeom prst="rect">
            <a:avLst/>
          </a:prstGeom>
          <a:noFill/>
        </p:spPr>
        <p:txBody>
          <a:bodyPr wrap="square">
            <a:spAutoFit/>
          </a:bodyPr>
          <a:lstStyle/>
          <a:p>
            <a:pPr algn="l">
              <a:defRPr sz="1000" b="0">
                <a:solidFill>
                  <a:srgbClr val="4A5A6A"/>
                </a:solidFill>
              </a:defRPr>
            </a:pPr>
            <a:r>
              <a:t>Every ML prediction shows top risk factors. Investigators see WHY something was flagged, not just the score.</a:t>
            </a:r>
          </a:p>
        </p:txBody>
      </p:sp>
      <p:sp>
        <p:nvSpPr>
          <p:cNvPr id="24" name="Oval 23"/>
          <p:cNvSpPr/>
          <p:nvPr/>
        </p:nvSpPr>
        <p:spPr>
          <a:xfrm>
            <a:off x="548640" y="3886200"/>
            <a:ext cx="365760" cy="365760"/>
          </a:xfrm>
          <a:prstGeom prst="ellipse">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931920"/>
            <a:ext cx="365760" cy="274320"/>
          </a:xfrm>
          <a:prstGeom prst="rect">
            <a:avLst/>
          </a:prstGeom>
          <a:noFill/>
        </p:spPr>
        <p:txBody>
          <a:bodyPr wrap="none">
            <a:spAutoFit/>
          </a:bodyPr>
          <a:lstStyle/>
          <a:p>
            <a:pPr algn="ctr">
              <a:defRPr sz="1200" b="1">
                <a:solidFill>
                  <a:srgbClr val="FFFFFF"/>
                </a:solidFill>
              </a:defRPr>
            </a:pPr>
            <a:r>
              <a:t>6</a:t>
            </a:r>
          </a:p>
        </p:txBody>
      </p:sp>
      <p:sp>
        <p:nvSpPr>
          <p:cNvPr id="26" name="TextBox 25"/>
          <p:cNvSpPr txBox="1"/>
          <p:nvPr/>
        </p:nvSpPr>
        <p:spPr>
          <a:xfrm>
            <a:off x="1005840" y="3931920"/>
            <a:ext cx="2194560" cy="320040"/>
          </a:xfrm>
          <a:prstGeom prst="rect">
            <a:avLst/>
          </a:prstGeom>
          <a:noFill/>
        </p:spPr>
        <p:txBody>
          <a:bodyPr wrap="square">
            <a:spAutoFit/>
          </a:bodyPr>
          <a:lstStyle/>
          <a:p>
            <a:pPr algn="l">
              <a:defRPr sz="1200" b="1">
                <a:solidFill>
                  <a:srgbClr val="1A1A2E"/>
                </a:solidFill>
              </a:defRPr>
            </a:pPr>
            <a:r>
              <a:t>Community Detection</a:t>
            </a:r>
          </a:p>
        </p:txBody>
      </p:sp>
      <p:sp>
        <p:nvSpPr>
          <p:cNvPr id="27" name="TextBox 26"/>
          <p:cNvSpPr txBox="1"/>
          <p:nvPr/>
        </p:nvSpPr>
        <p:spPr>
          <a:xfrm>
            <a:off x="3291840" y="3886200"/>
            <a:ext cx="8229600" cy="457200"/>
          </a:xfrm>
          <a:prstGeom prst="rect">
            <a:avLst/>
          </a:prstGeom>
          <a:noFill/>
        </p:spPr>
        <p:txBody>
          <a:bodyPr wrap="square">
            <a:spAutoFit/>
          </a:bodyPr>
          <a:lstStyle/>
          <a:p>
            <a:pPr algn="l">
              <a:defRPr sz="1000" b="0">
                <a:solidFill>
                  <a:srgbClr val="4A5A6A"/>
                </a:solidFill>
              </a:defRPr>
            </a:pPr>
            <a:r>
              <a:t>Louvain algorithm finds natural clusters. Fraud rings operate in communities—investigate the network, not just individuals.</a:t>
            </a:r>
          </a:p>
        </p:txBody>
      </p:sp>
      <p:sp>
        <p:nvSpPr>
          <p:cNvPr id="28" name="Oval 27"/>
          <p:cNvSpPr/>
          <p:nvPr/>
        </p:nvSpPr>
        <p:spPr>
          <a:xfrm>
            <a:off x="548640" y="4416552"/>
            <a:ext cx="365760" cy="365760"/>
          </a:xfrm>
          <a:prstGeom prst="ellipse">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462272"/>
            <a:ext cx="365760" cy="274320"/>
          </a:xfrm>
          <a:prstGeom prst="rect">
            <a:avLst/>
          </a:prstGeom>
          <a:noFill/>
        </p:spPr>
        <p:txBody>
          <a:bodyPr wrap="none">
            <a:spAutoFit/>
          </a:bodyPr>
          <a:lstStyle/>
          <a:p>
            <a:pPr algn="ctr">
              <a:defRPr sz="1200" b="1">
                <a:solidFill>
                  <a:srgbClr val="FFFFFF"/>
                </a:solidFill>
              </a:defRPr>
            </a:pPr>
            <a:r>
              <a:t>7</a:t>
            </a:r>
          </a:p>
        </p:txBody>
      </p:sp>
      <p:sp>
        <p:nvSpPr>
          <p:cNvPr id="30" name="TextBox 29"/>
          <p:cNvSpPr txBox="1"/>
          <p:nvPr/>
        </p:nvSpPr>
        <p:spPr>
          <a:xfrm>
            <a:off x="1005840" y="4462272"/>
            <a:ext cx="2194560" cy="320040"/>
          </a:xfrm>
          <a:prstGeom prst="rect">
            <a:avLst/>
          </a:prstGeom>
          <a:noFill/>
        </p:spPr>
        <p:txBody>
          <a:bodyPr wrap="square">
            <a:spAutoFit/>
          </a:bodyPr>
          <a:lstStyle/>
          <a:p>
            <a:pPr algn="l">
              <a:defRPr sz="1200" b="1">
                <a:solidFill>
                  <a:srgbClr val="1A1A2E"/>
                </a:solidFill>
              </a:defRPr>
            </a:pPr>
            <a:r>
              <a:t>Confidence Calibration</a:t>
            </a:r>
          </a:p>
        </p:txBody>
      </p:sp>
      <p:sp>
        <p:nvSpPr>
          <p:cNvPr id="31" name="TextBox 30"/>
          <p:cNvSpPr txBox="1"/>
          <p:nvPr/>
        </p:nvSpPr>
        <p:spPr>
          <a:xfrm>
            <a:off x="3291840" y="4416552"/>
            <a:ext cx="8229600" cy="457200"/>
          </a:xfrm>
          <a:prstGeom prst="rect">
            <a:avLst/>
          </a:prstGeom>
          <a:noFill/>
        </p:spPr>
        <p:txBody>
          <a:bodyPr wrap="square">
            <a:spAutoFit/>
          </a:bodyPr>
          <a:lstStyle/>
          <a:p>
            <a:pPr algn="l">
              <a:defRPr sz="1000" b="0">
                <a:solidFill>
                  <a:srgbClr val="4A5A6A"/>
                </a:solidFill>
              </a:defRPr>
            </a:pPr>
            <a:r>
              <a:t>Agent must state HIGH/MEDIUM/LOW confidence with reasoning. Uncertainty is surfaced, not hidden.</a:t>
            </a:r>
          </a:p>
        </p:txBody>
      </p:sp>
      <p:sp>
        <p:nvSpPr>
          <p:cNvPr id="32" name="Rounded Rectangle 31"/>
          <p:cNvSpPr/>
          <p:nvPr/>
        </p:nvSpPr>
        <p:spPr>
          <a:xfrm>
            <a:off x="548640" y="5074920"/>
            <a:ext cx="11094415" cy="1234440"/>
          </a:xfrm>
          <a:prstGeom prst="roundRect">
            <a:avLst/>
          </a:prstGeom>
          <a:solidFill>
            <a:srgbClr val="F3E5F5"/>
          </a:solidFill>
          <a:ln>
            <a:solidFill>
              <a:srgbClr val="9C27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212080"/>
            <a:ext cx="10728655" cy="274320"/>
          </a:xfrm>
          <a:prstGeom prst="rect">
            <a:avLst/>
          </a:prstGeom>
          <a:noFill/>
        </p:spPr>
        <p:txBody>
          <a:bodyPr wrap="square">
            <a:spAutoFit/>
          </a:bodyPr>
          <a:lstStyle/>
          <a:p>
            <a:pPr algn="l">
              <a:defRPr sz="1200" b="1">
                <a:solidFill>
                  <a:srgbClr val="7B1FA2"/>
                </a:solidFill>
              </a:defRPr>
            </a:pPr>
            <a:r>
              <a:t>Next Iterations (Future Work)</a:t>
            </a:r>
          </a:p>
        </p:txBody>
      </p:sp>
      <p:sp>
        <p:nvSpPr>
          <p:cNvPr id="34" name="TextBox 33"/>
          <p:cNvSpPr txBox="1"/>
          <p:nvPr/>
        </p:nvSpPr>
        <p:spPr>
          <a:xfrm>
            <a:off x="731520" y="5486400"/>
            <a:ext cx="10728655" cy="777240"/>
          </a:xfrm>
          <a:prstGeom prst="rect">
            <a:avLst/>
          </a:prstGeom>
          <a:noFill/>
        </p:spPr>
        <p:txBody>
          <a:bodyPr wrap="square">
            <a:spAutoFit/>
          </a:bodyPr>
          <a:lstStyle/>
          <a:p>
            <a:pPr>
              <a:spcAft>
                <a:spcPts val="600"/>
              </a:spcAft>
              <a:defRPr sz="1000">
                <a:solidFill>
                  <a:srgbClr val="6A1B9A"/>
                </a:solidFill>
              </a:defRPr>
            </a:pPr>
            <a:r>
              <a:t>• Claims-level analysis: Detect phantom billing, upcoding, kickback patterns</a:t>
            </a:r>
          </a:p>
          <a:p>
            <a:pPr>
              <a:spcAft>
                <a:spcPts val="600"/>
              </a:spcAft>
              <a:defRPr sz="1000">
                <a:solidFill>
                  <a:srgbClr val="6A1B9A"/>
                </a:solidFill>
              </a:defRPr>
            </a:pPr>
            <a:r>
              <a:t>• Temporal tracking: Monitor entity cycling and ownership changes over time</a:t>
            </a:r>
          </a:p>
          <a:p>
            <a:pPr>
              <a:spcAft>
                <a:spcPts val="600"/>
              </a:spcAft>
              <a:defRPr sz="1000">
                <a:solidFill>
                  <a:srgbClr val="6A1B9A"/>
                </a:solidFill>
              </a:defRPr>
            </a:pPr>
            <a:r>
              <a:t>• Beneficiary network: Identify patient-sharing patterns across fraud rings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Golden Set Evaluation: 7/7 Accuracy</a:t>
            </a:r>
          </a:p>
        </p:txBody>
      </p:sp>
      <p:sp>
        <p:nvSpPr>
          <p:cNvPr id="4" name="TextBox 3"/>
          <p:cNvSpPr txBox="1"/>
          <p:nvPr/>
        </p:nvSpPr>
        <p:spPr>
          <a:xfrm>
            <a:off x="548640" y="1188720"/>
            <a:ext cx="11094415" cy="320040"/>
          </a:xfrm>
          <a:prstGeom prst="rect">
            <a:avLst/>
          </a:prstGeom>
          <a:noFill/>
        </p:spPr>
        <p:txBody>
          <a:bodyPr wrap="square">
            <a:spAutoFit/>
          </a:bodyPr>
          <a:lstStyle/>
          <a:p>
            <a:pPr algn="l">
              <a:defRPr sz="1300" b="0">
                <a:solidFill>
                  <a:srgbClr val="4A5A6A"/>
                </a:solidFill>
              </a:defRPr>
            </a:pPr>
            <a:r>
              <a:t>Curated test cases covering all classification types and edge cases:</a:t>
            </a:r>
          </a:p>
        </p:txBody>
      </p:sp>
      <p:graphicFrame>
        <p:nvGraphicFramePr>
          <p:cNvPr id="5" name="Table 4"/>
          <p:cNvGraphicFramePr>
            <a:graphicFrameLocks noGrp="1"/>
          </p:cNvGraphicFramePr>
          <p:nvPr/>
        </p:nvGraphicFramePr>
        <p:xfrm>
          <a:off x="548640" y="1554480"/>
          <a:ext cx="11094415" cy="3291840"/>
        </p:xfrm>
        <a:graphic>
          <a:graphicData uri="http://schemas.openxmlformats.org/drawingml/2006/table">
            <a:tbl>
              <a:tblPr firstRow="1" bandRow="1">
                <a:tableStyleId>{5C22544A-7EE6-4342-B048-85BDC9FD1C3A}</a:tableStyleId>
              </a:tblPr>
              <a:tblGrid>
                <a:gridCol w="2218883"/>
                <a:gridCol w="2218883"/>
                <a:gridCol w="2218883"/>
                <a:gridCol w="2218883"/>
                <a:gridCol w="2218883"/>
              </a:tblGrid>
              <a:tr h="411480">
                <a:tc>
                  <a:txBody>
                    <a:bodyPr/>
                    <a:lstStyle/>
                    <a:p>
                      <a:pPr algn="ctr">
                        <a:spcBef>
                          <a:spcPts val="300"/>
                        </a:spcBef>
                        <a:spcAft>
                          <a:spcPts val="300"/>
                        </a:spcAft>
                        <a:defRPr b="1" sz="1100">
                          <a:solidFill>
                            <a:srgbClr val="FFFFFF"/>
                          </a:solidFill>
                        </a:defRPr>
                      </a:pPr>
                      <a:r>
                        <a:t>Community</a:t>
                      </a:r>
                    </a:p>
                  </a:txBody>
                  <a:tcPr>
                    <a:solidFill>
                      <a:srgbClr val="0F4C75"/>
                    </a:solidFill>
                  </a:tcPr>
                </a:tc>
                <a:tc>
                  <a:txBody>
                    <a:bodyPr/>
                    <a:lstStyle/>
                    <a:p>
                      <a:pPr algn="ctr">
                        <a:spcBef>
                          <a:spcPts val="300"/>
                        </a:spcBef>
                        <a:spcAft>
                          <a:spcPts val="300"/>
                        </a:spcAft>
                        <a:defRPr b="1" sz="1100">
                          <a:solidFill>
                            <a:srgbClr val="FFFFFF"/>
                          </a:solidFill>
                        </a:defRPr>
                      </a:pPr>
                      <a:r>
                        <a:t>Type</a:t>
                      </a:r>
                    </a:p>
                  </a:txBody>
                  <a:tcPr>
                    <a:solidFill>
                      <a:srgbClr val="0F4C75"/>
                    </a:solidFill>
                  </a:tcPr>
                </a:tc>
                <a:tc>
                  <a:txBody>
                    <a:bodyPr/>
                    <a:lstStyle/>
                    <a:p>
                      <a:pPr algn="ctr">
                        <a:spcBef>
                          <a:spcPts val="300"/>
                        </a:spcBef>
                        <a:spcAft>
                          <a:spcPts val="300"/>
                        </a:spcAft>
                        <a:defRPr b="1" sz="1100">
                          <a:solidFill>
                            <a:srgbClr val="FFFFFF"/>
                          </a:solidFill>
                        </a:defRPr>
                      </a:pPr>
                      <a:r>
                        <a:t>Expected</a:t>
                      </a:r>
                    </a:p>
                  </a:txBody>
                  <a:tcPr>
                    <a:solidFill>
                      <a:srgbClr val="0F4C75"/>
                    </a:solidFill>
                  </a:tcPr>
                </a:tc>
                <a:tc>
                  <a:txBody>
                    <a:bodyPr/>
                    <a:lstStyle/>
                    <a:p>
                      <a:pPr algn="ctr">
                        <a:spcBef>
                          <a:spcPts val="300"/>
                        </a:spcBef>
                        <a:spcAft>
                          <a:spcPts val="300"/>
                        </a:spcAft>
                        <a:defRPr b="1" sz="1100">
                          <a:solidFill>
                            <a:srgbClr val="FFFFFF"/>
                          </a:solidFill>
                        </a:defRPr>
                      </a:pPr>
                      <a:r>
                        <a:t>Actual</a:t>
                      </a:r>
                    </a:p>
                  </a:txBody>
                  <a:tcPr>
                    <a:solidFill>
                      <a:srgbClr val="0F4C75"/>
                    </a:solidFill>
                  </a:tcPr>
                </a:tc>
                <a:tc>
                  <a:txBody>
                    <a:bodyPr/>
                    <a:lstStyle/>
                    <a:p>
                      <a:pPr algn="ctr">
                        <a:spcBef>
                          <a:spcPts val="300"/>
                        </a:spcBef>
                        <a:spcAft>
                          <a:spcPts val="300"/>
                        </a:spcAft>
                        <a:defRPr b="1" sz="1100">
                          <a:solidFill>
                            <a:srgbClr val="FFFFFF"/>
                          </a:solidFill>
                        </a:defRPr>
                      </a:pPr>
                      <a:r>
                        <a:t>Key Evidence</a:t>
                      </a:r>
                    </a:p>
                  </a:txBody>
                  <a:tcPr>
                    <a:solidFill>
                      <a:srgbClr val="0F4C75"/>
                    </a:solidFill>
                  </a:tcPr>
                </a:tc>
              </a:tr>
              <a:tr h="411480">
                <a:tc>
                  <a:txBody>
                    <a:bodyPr/>
                    <a:lstStyle/>
                    <a:p>
                      <a:pPr algn="l">
                        <a:spcBef>
                          <a:spcPts val="200"/>
                        </a:spcBef>
                        <a:spcAft>
                          <a:spcPts val="200"/>
                        </a:spcAft>
                        <a:defRPr sz="1000">
                          <a:solidFill>
                            <a:srgbClr val="4A5A6A"/>
                          </a:solidFill>
                        </a:defRPr>
                      </a:pPr>
                      <a:r>
                        <a:t>1597</a:t>
                      </a:r>
                    </a:p>
                  </a:txBody>
                  <a:tcPr/>
                </a:tc>
                <a:tc>
                  <a:txBody>
                    <a:bodyPr/>
                    <a:lstStyle/>
                    <a:p>
                      <a:pPr algn="ctr">
                        <a:spcBef>
                          <a:spcPts val="200"/>
                        </a:spcBef>
                        <a:spcAft>
                          <a:spcPts val="200"/>
                        </a:spcAft>
                        <a:defRPr sz="1000">
                          <a:solidFill>
                            <a:srgbClr val="4A5A6A"/>
                          </a:solidFill>
                        </a:defRPr>
                      </a:pPr>
                      <a:r>
                        <a:t>Shell company ring</a:t>
                      </a:r>
                    </a:p>
                  </a:txBody>
                  <a:tcPr/>
                </a:tc>
                <a:tc>
                  <a:txBody>
                    <a:bodyPr/>
                    <a:lstStyle/>
                    <a:p>
                      <a:pPr algn="ctr">
                        <a:spcBef>
                          <a:spcPts val="200"/>
                        </a:spcBef>
                        <a:spcAft>
                          <a:spcPts val="200"/>
                        </a:spcAft>
                        <a:defRPr sz="1000">
                          <a:solidFill>
                            <a:srgbClr val="4A5A6A"/>
                          </a:solidFill>
                        </a:defRPr>
                      </a:pPr>
                      <a:r>
                        <a:t>HIGH</a:t>
                      </a:r>
                    </a:p>
                  </a:txBody>
                  <a:tcPr/>
                </a:tc>
                <a:tc>
                  <a:txBody>
                    <a:bodyPr/>
                    <a:lstStyle/>
                    <a:p>
                      <a:pPr algn="ctr">
                        <a:spcBef>
                          <a:spcPts val="200"/>
                        </a:spcBef>
                        <a:spcAft>
                          <a:spcPts val="200"/>
                        </a:spcAft>
                        <a:defRPr sz="1000">
                          <a:solidFill>
                            <a:srgbClr val="4A5A6A"/>
                          </a:solidFill>
                        </a:defRPr>
                      </a:pPr>
                      <a:r>
                        <a:t>HIGH</a:t>
                      </a:r>
                    </a:p>
                  </a:txBody>
                  <a:tcPr/>
                </a:tc>
                <a:tc>
                  <a:txBody>
                    <a:bodyPr/>
                    <a:lstStyle/>
                    <a:p>
                      <a:pPr algn="ctr">
                        <a:spcBef>
                          <a:spcPts val="200"/>
                        </a:spcBef>
                        <a:spcAft>
                          <a:spcPts val="200"/>
                        </a:spcAft>
                        <a:defRPr sz="1000">
                          <a:solidFill>
                            <a:srgbClr val="4A5A6A"/>
                          </a:solidFill>
                        </a:defRPr>
                      </a:pPr>
                      <a:r>
                        <a:t>4/4 excluded, entity cycling</a:t>
                      </a:r>
                    </a:p>
                  </a:txBody>
                  <a:tcPr/>
                </a:tc>
              </a:tr>
              <a:tr h="411480">
                <a:tc>
                  <a:txBody>
                    <a:bodyPr/>
                    <a:lstStyle/>
                    <a:p>
                      <a:pPr algn="l">
                        <a:spcBef>
                          <a:spcPts val="200"/>
                        </a:spcBef>
                        <a:spcAft>
                          <a:spcPts val="200"/>
                        </a:spcAft>
                        <a:defRPr sz="1000">
                          <a:solidFill>
                            <a:srgbClr val="4A5A6A"/>
                          </a:solidFill>
                        </a:defRPr>
                      </a:pPr>
                      <a:r>
                        <a:t>731</a:t>
                      </a:r>
                    </a:p>
                  </a:txBody>
                  <a:tcPr>
                    <a:solidFill>
                      <a:srgbClr val="F8F9FA"/>
                    </a:solidFill>
                  </a:tcPr>
                </a:tc>
                <a:tc>
                  <a:txBody>
                    <a:bodyPr/>
                    <a:lstStyle/>
                    <a:p>
                      <a:pPr algn="ctr">
                        <a:spcBef>
                          <a:spcPts val="200"/>
                        </a:spcBef>
                        <a:spcAft>
                          <a:spcPts val="200"/>
                        </a:spcAft>
                        <a:defRPr sz="1000">
                          <a:solidFill>
                            <a:srgbClr val="4A5A6A"/>
                          </a:solidFill>
                        </a:defRPr>
                      </a:pPr>
                      <a:r>
                        <a:t>Doral fraud corridor</a:t>
                      </a:r>
                    </a:p>
                  </a:txBody>
                  <a:tcPr>
                    <a:solidFill>
                      <a:srgbClr val="F8F9FA"/>
                    </a:solidFill>
                  </a:tcPr>
                </a:tc>
                <a:tc>
                  <a:txBody>
                    <a:bodyPr/>
                    <a:lstStyle/>
                    <a:p>
                      <a:pPr algn="ctr">
                        <a:spcBef>
                          <a:spcPts val="200"/>
                        </a:spcBef>
                        <a:spcAft>
                          <a:spcPts val="200"/>
                        </a:spcAft>
                        <a:defRPr sz="1000">
                          <a:solidFill>
                            <a:srgbClr val="4A5A6A"/>
                          </a:solidFill>
                        </a:defRPr>
                      </a:pPr>
                      <a:r>
                        <a:t>MEDIUM</a:t>
                      </a:r>
                    </a:p>
                  </a:txBody>
                  <a:tcPr>
                    <a:solidFill>
                      <a:srgbClr val="F8F9FA"/>
                    </a:solidFill>
                  </a:tcPr>
                </a:tc>
                <a:tc>
                  <a:txBody>
                    <a:bodyPr/>
                    <a:lstStyle/>
                    <a:p>
                      <a:pPr algn="ctr">
                        <a:spcBef>
                          <a:spcPts val="200"/>
                        </a:spcBef>
                        <a:spcAft>
                          <a:spcPts val="200"/>
                        </a:spcAft>
                        <a:defRPr sz="1000">
                          <a:solidFill>
                            <a:srgbClr val="4A5A6A"/>
                          </a:solidFill>
                        </a:defRPr>
                      </a:pPr>
                      <a:r>
                        <a:t>MEDIUM</a:t>
                      </a:r>
                    </a:p>
                  </a:txBody>
                  <a:tcPr>
                    <a:solidFill>
                      <a:srgbClr val="F8F9FA"/>
                    </a:solidFill>
                  </a:tcPr>
                </a:tc>
                <a:tc>
                  <a:txBody>
                    <a:bodyPr/>
                    <a:lstStyle/>
                    <a:p>
                      <a:pPr algn="ctr">
                        <a:spcBef>
                          <a:spcPts val="200"/>
                        </a:spcBef>
                        <a:spcAft>
                          <a:spcPts val="200"/>
                        </a:spcAft>
                        <a:defRPr sz="1000">
                          <a:solidFill>
                            <a:srgbClr val="4A5A6A"/>
                          </a:solidFill>
                        </a:defRPr>
                      </a:pPr>
                      <a:r>
                        <a:t>1/5 excluded, geographic risk</a:t>
                      </a:r>
                    </a:p>
                  </a:txBody>
                  <a:tcPr>
                    <a:solidFill>
                      <a:srgbClr val="F8F9FA"/>
                    </a:solidFill>
                  </a:tcPr>
                </a:tc>
              </a:tr>
              <a:tr h="411480">
                <a:tc>
                  <a:txBody>
                    <a:bodyPr/>
                    <a:lstStyle/>
                    <a:p>
                      <a:pPr algn="l">
                        <a:spcBef>
                          <a:spcPts val="200"/>
                        </a:spcBef>
                        <a:spcAft>
                          <a:spcPts val="200"/>
                        </a:spcAft>
                        <a:defRPr sz="1000">
                          <a:solidFill>
                            <a:srgbClr val="4A5A6A"/>
                          </a:solidFill>
                        </a:defRPr>
                      </a:pPr>
                      <a:r>
                        <a:t>215</a:t>
                      </a:r>
                    </a:p>
                  </a:txBody>
                  <a:tcPr/>
                </a:tc>
                <a:tc>
                  <a:txBody>
                    <a:bodyPr/>
                    <a:lstStyle/>
                    <a:p>
                      <a:pPr algn="ctr">
                        <a:spcBef>
                          <a:spcPts val="200"/>
                        </a:spcBef>
                        <a:spcAft>
                          <a:spcPts val="200"/>
                        </a:spcAft>
                        <a:defRPr sz="1000">
                          <a:solidFill>
                            <a:srgbClr val="4A5A6A"/>
                          </a:solidFill>
                        </a:defRPr>
                      </a:pPr>
                      <a:r>
                        <a:t>Established nonprofit</a:t>
                      </a:r>
                    </a:p>
                  </a:txBody>
                  <a:tcPr/>
                </a:tc>
                <a:tc>
                  <a:txBody>
                    <a:bodyPr/>
                    <a:lstStyle/>
                    <a:p>
                      <a:pPr algn="ctr">
                        <a:spcBef>
                          <a:spcPts val="200"/>
                        </a:spcBef>
                        <a:spcAft>
                          <a:spcPts val="200"/>
                        </a:spcAft>
                        <a:defRPr sz="1000">
                          <a:solidFill>
                            <a:srgbClr val="4A5A6A"/>
                          </a:solidFill>
                        </a:defRPr>
                      </a:pPr>
                      <a:r>
                        <a:t>LOW</a:t>
                      </a:r>
                    </a:p>
                  </a:txBody>
                  <a:tcPr/>
                </a:tc>
                <a:tc>
                  <a:txBody>
                    <a:bodyPr/>
                    <a:lstStyle/>
                    <a:p>
                      <a:pPr algn="ctr">
                        <a:spcBef>
                          <a:spcPts val="200"/>
                        </a:spcBef>
                        <a:spcAft>
                          <a:spcPts val="200"/>
                        </a:spcAft>
                        <a:defRPr sz="1000">
                          <a:solidFill>
                            <a:srgbClr val="4A5A6A"/>
                          </a:solidFill>
                        </a:defRPr>
                      </a:pPr>
                      <a:r>
                        <a:t>LOW</a:t>
                      </a:r>
                    </a:p>
                  </a:txBody>
                  <a:tcPr/>
                </a:tc>
                <a:tc>
                  <a:txBody>
                    <a:bodyPr/>
                    <a:lstStyle/>
                    <a:p>
                      <a:pPr algn="ctr">
                        <a:spcBef>
                          <a:spcPts val="200"/>
                        </a:spcBef>
                        <a:spcAft>
                          <a:spcPts val="200"/>
                        </a:spcAft>
                        <a:defRPr sz="1000">
                          <a:solidFill>
                            <a:srgbClr val="4A5A6A"/>
                          </a:solidFill>
                        </a:defRPr>
                      </a:pPr>
                      <a:r>
                        <a:t>52-year entity, no exclusions</a:t>
                      </a:r>
                    </a:p>
                  </a:txBody>
                  <a:tcPr/>
                </a:tc>
              </a:tr>
              <a:tr h="411480">
                <a:tc>
                  <a:txBody>
                    <a:bodyPr/>
                    <a:lstStyle/>
                    <a:p>
                      <a:pPr algn="l">
                        <a:spcBef>
                          <a:spcPts val="200"/>
                        </a:spcBef>
                        <a:spcAft>
                          <a:spcPts val="200"/>
                        </a:spcAft>
                        <a:defRPr sz="1000">
                          <a:solidFill>
                            <a:srgbClr val="4A5A6A"/>
                          </a:solidFill>
                        </a:defRPr>
                      </a:pPr>
                      <a:r>
                        <a:t>170</a:t>
                      </a:r>
                    </a:p>
                  </a:txBody>
                  <a:tcPr>
                    <a:solidFill>
                      <a:srgbClr val="F8F9FA"/>
                    </a:solidFill>
                  </a:tcPr>
                </a:tc>
                <a:tc>
                  <a:txBody>
                    <a:bodyPr/>
                    <a:lstStyle/>
                    <a:p>
                      <a:pPr algn="ctr">
                        <a:spcBef>
                          <a:spcPts val="200"/>
                        </a:spcBef>
                        <a:spcAft>
                          <a:spcPts val="200"/>
                        </a:spcAft>
                        <a:defRPr sz="1000">
                          <a:solidFill>
                            <a:srgbClr val="4A5A6A"/>
                          </a:solidFill>
                        </a:defRPr>
                      </a:pPr>
                      <a:r>
                        <a:t>PE healthcare chain</a:t>
                      </a:r>
                    </a:p>
                  </a:txBody>
                  <a:tcPr>
                    <a:solidFill>
                      <a:srgbClr val="F8F9FA"/>
                    </a:solidFill>
                  </a:tcPr>
                </a:tc>
                <a:tc>
                  <a:txBody>
                    <a:bodyPr/>
                    <a:lstStyle/>
                    <a:p>
                      <a:pPr algn="ctr">
                        <a:spcBef>
                          <a:spcPts val="200"/>
                        </a:spcBef>
                        <a:spcAft>
                          <a:spcPts val="200"/>
                        </a:spcAft>
                        <a:defRPr sz="1000">
                          <a:solidFill>
                            <a:srgbClr val="4A5A6A"/>
                          </a:solidFill>
                        </a:defRPr>
                      </a:pPr>
                      <a:r>
                        <a:t>LOW</a:t>
                      </a:r>
                    </a:p>
                  </a:txBody>
                  <a:tcPr>
                    <a:solidFill>
                      <a:srgbClr val="F8F9FA"/>
                    </a:solidFill>
                  </a:tcPr>
                </a:tc>
                <a:tc>
                  <a:txBody>
                    <a:bodyPr/>
                    <a:lstStyle/>
                    <a:p>
                      <a:pPr algn="ctr">
                        <a:spcBef>
                          <a:spcPts val="200"/>
                        </a:spcBef>
                        <a:spcAft>
                          <a:spcPts val="200"/>
                        </a:spcAft>
                        <a:defRPr sz="1000">
                          <a:solidFill>
                            <a:srgbClr val="4A5A6A"/>
                          </a:solidFill>
                        </a:defRPr>
                      </a:pPr>
                      <a:r>
                        <a:t>LOW</a:t>
                      </a:r>
                    </a:p>
                  </a:txBody>
                  <a:tcPr>
                    <a:solidFill>
                      <a:srgbClr val="F8F9FA"/>
                    </a:solidFill>
                  </a:tcPr>
                </a:tc>
                <a:tc>
                  <a:txBody>
                    <a:bodyPr/>
                    <a:lstStyle/>
                    <a:p>
                      <a:pPr algn="ctr">
                        <a:spcBef>
                          <a:spcPts val="200"/>
                        </a:spcBef>
                        <a:spcAft>
                          <a:spcPts val="200"/>
                        </a:spcAft>
                        <a:defRPr sz="1000">
                          <a:solidFill>
                            <a:srgbClr val="4A5A6A"/>
                          </a:solidFill>
                        </a:defRPr>
                      </a:pPr>
                      <a:r>
                        <a:t>Kindred system, legitimate</a:t>
                      </a:r>
                    </a:p>
                  </a:txBody>
                  <a:tcPr>
                    <a:solidFill>
                      <a:srgbClr val="F8F9FA"/>
                    </a:solidFill>
                  </a:tcPr>
                </a:tc>
              </a:tr>
              <a:tr h="411480">
                <a:tc>
                  <a:txBody>
                    <a:bodyPr/>
                    <a:lstStyle/>
                    <a:p>
                      <a:pPr algn="l">
                        <a:spcBef>
                          <a:spcPts val="200"/>
                        </a:spcBef>
                        <a:spcAft>
                          <a:spcPts val="200"/>
                        </a:spcAft>
                        <a:defRPr sz="1000">
                          <a:solidFill>
                            <a:srgbClr val="4A5A6A"/>
                          </a:solidFill>
                        </a:defRPr>
                      </a:pPr>
                      <a:r>
                        <a:t>4446</a:t>
                      </a:r>
                    </a:p>
                  </a:txBody>
                  <a:tcPr/>
                </a:tc>
                <a:tc>
                  <a:txBody>
                    <a:bodyPr/>
                    <a:lstStyle/>
                    <a:p>
                      <a:pPr algn="ctr">
                        <a:spcBef>
                          <a:spcPts val="200"/>
                        </a:spcBef>
                        <a:spcAft>
                          <a:spcPts val="200"/>
                        </a:spcAft>
                        <a:defRPr sz="1000">
                          <a:solidFill>
                            <a:srgbClr val="4A5A6A"/>
                          </a:solidFill>
                        </a:defRPr>
                      </a:pPr>
                      <a:r>
                        <a:t>Mixed risk cluster</a:t>
                      </a:r>
                    </a:p>
                  </a:txBody>
                  <a:tcPr/>
                </a:tc>
                <a:tc>
                  <a:txBody>
                    <a:bodyPr/>
                    <a:lstStyle/>
                    <a:p>
                      <a:pPr algn="ctr">
                        <a:spcBef>
                          <a:spcPts val="200"/>
                        </a:spcBef>
                        <a:spcAft>
                          <a:spcPts val="200"/>
                        </a:spcAft>
                        <a:defRPr sz="1000">
                          <a:solidFill>
                            <a:srgbClr val="4A5A6A"/>
                          </a:solidFill>
                        </a:defRPr>
                      </a:pPr>
                      <a:r>
                        <a:t>MEDIUM</a:t>
                      </a:r>
                    </a:p>
                  </a:txBody>
                  <a:tcPr/>
                </a:tc>
                <a:tc>
                  <a:txBody>
                    <a:bodyPr/>
                    <a:lstStyle/>
                    <a:p>
                      <a:pPr algn="ctr">
                        <a:spcBef>
                          <a:spcPts val="200"/>
                        </a:spcBef>
                        <a:spcAft>
                          <a:spcPts val="200"/>
                        </a:spcAft>
                        <a:defRPr sz="1000">
                          <a:solidFill>
                            <a:srgbClr val="4A5A6A"/>
                          </a:solidFill>
                        </a:defRPr>
                      </a:pPr>
                      <a:r>
                        <a:t>MEDIUM</a:t>
                      </a:r>
                    </a:p>
                  </a:txBody>
                  <a:tcPr/>
                </a:tc>
                <a:tc>
                  <a:txBody>
                    <a:bodyPr/>
                    <a:lstStyle/>
                    <a:p>
                      <a:pPr algn="ctr">
                        <a:spcBef>
                          <a:spcPts val="200"/>
                        </a:spcBef>
                        <a:spcAft>
                          <a:spcPts val="200"/>
                        </a:spcAft>
                        <a:defRPr sz="1000">
                          <a:solidFill>
                            <a:srgbClr val="4A5A6A"/>
                          </a:solidFill>
                        </a:defRPr>
                      </a:pPr>
                      <a:r>
                        <a:t>2/6 excluded, shared owner</a:t>
                      </a:r>
                    </a:p>
                  </a:txBody>
                  <a:tcPr/>
                </a:tc>
              </a:tr>
              <a:tr h="411480">
                <a:tc>
                  <a:txBody>
                    <a:bodyPr/>
                    <a:lstStyle/>
                    <a:p>
                      <a:pPr algn="l">
                        <a:spcBef>
                          <a:spcPts val="200"/>
                        </a:spcBef>
                        <a:spcAft>
                          <a:spcPts val="200"/>
                        </a:spcAft>
                        <a:defRPr sz="1000">
                          <a:solidFill>
                            <a:srgbClr val="4A5A6A"/>
                          </a:solidFill>
                        </a:defRPr>
                      </a:pPr>
                      <a:r>
                        <a:t>5806</a:t>
                      </a:r>
                    </a:p>
                  </a:txBody>
                  <a:tcPr>
                    <a:solidFill>
                      <a:srgbClr val="F8F9FA"/>
                    </a:solidFill>
                  </a:tcPr>
                </a:tc>
                <a:tc>
                  <a:txBody>
                    <a:bodyPr/>
                    <a:lstStyle/>
                    <a:p>
                      <a:pPr algn="ctr">
                        <a:spcBef>
                          <a:spcPts val="200"/>
                        </a:spcBef>
                        <a:spcAft>
                          <a:spcPts val="200"/>
                        </a:spcAft>
                        <a:defRPr sz="1000">
                          <a:solidFill>
                            <a:srgbClr val="4A5A6A"/>
                          </a:solidFill>
                        </a:defRPr>
                      </a:pPr>
                      <a:r>
                        <a:t>Clean single facility</a:t>
                      </a:r>
                    </a:p>
                  </a:txBody>
                  <a:tcPr>
                    <a:solidFill>
                      <a:srgbClr val="F8F9FA"/>
                    </a:solidFill>
                  </a:tcPr>
                </a:tc>
                <a:tc>
                  <a:txBody>
                    <a:bodyPr/>
                    <a:lstStyle/>
                    <a:p>
                      <a:pPr algn="ctr">
                        <a:spcBef>
                          <a:spcPts val="200"/>
                        </a:spcBef>
                        <a:spcAft>
                          <a:spcPts val="200"/>
                        </a:spcAft>
                        <a:defRPr sz="1000">
                          <a:solidFill>
                            <a:srgbClr val="4A5A6A"/>
                          </a:solidFill>
                        </a:defRPr>
                      </a:pPr>
                      <a:r>
                        <a:t>CLEARED</a:t>
                      </a:r>
                    </a:p>
                  </a:txBody>
                  <a:tcPr>
                    <a:solidFill>
                      <a:srgbClr val="F8F9FA"/>
                    </a:solidFill>
                  </a:tcPr>
                </a:tc>
                <a:tc>
                  <a:txBody>
                    <a:bodyPr/>
                    <a:lstStyle/>
                    <a:p>
                      <a:pPr algn="ctr">
                        <a:spcBef>
                          <a:spcPts val="200"/>
                        </a:spcBef>
                        <a:spcAft>
                          <a:spcPts val="200"/>
                        </a:spcAft>
                        <a:defRPr sz="1000">
                          <a:solidFill>
                            <a:srgbClr val="4A5A6A"/>
                          </a:solidFill>
                        </a:defRPr>
                      </a:pPr>
                      <a:r>
                        <a:t>CLEARED</a:t>
                      </a:r>
                    </a:p>
                  </a:txBody>
                  <a:tcPr>
                    <a:solidFill>
                      <a:srgbClr val="F8F9FA"/>
                    </a:solidFill>
                  </a:tcPr>
                </a:tc>
                <a:tc>
                  <a:txBody>
                    <a:bodyPr/>
                    <a:lstStyle/>
                    <a:p>
                      <a:pPr algn="ctr">
                        <a:spcBef>
                          <a:spcPts val="200"/>
                        </a:spcBef>
                        <a:spcAft>
                          <a:spcPts val="200"/>
                        </a:spcAft>
                        <a:defRPr sz="1000">
                          <a:solidFill>
                            <a:srgbClr val="4A5A6A"/>
                          </a:solidFill>
                        </a:defRPr>
                      </a:pPr>
                      <a:r>
                        <a:t>0 flags, isolated node</a:t>
                      </a:r>
                    </a:p>
                  </a:txBody>
                  <a:tcPr>
                    <a:solidFill>
                      <a:srgbClr val="F8F9FA"/>
                    </a:solidFill>
                  </a:tcPr>
                </a:tc>
              </a:tr>
              <a:tr h="411480">
                <a:tc>
                  <a:txBody>
                    <a:bodyPr/>
                    <a:lstStyle/>
                    <a:p>
                      <a:pPr algn="l">
                        <a:spcBef>
                          <a:spcPts val="200"/>
                        </a:spcBef>
                        <a:spcAft>
                          <a:spcPts val="200"/>
                        </a:spcAft>
                        <a:defRPr sz="1000">
                          <a:solidFill>
                            <a:srgbClr val="4A5A6A"/>
                          </a:solidFill>
                        </a:defRPr>
                      </a:pPr>
                      <a:r>
                        <a:t>5411</a:t>
                      </a:r>
                    </a:p>
                  </a:txBody>
                  <a:tcPr/>
                </a:tc>
                <a:tc>
                  <a:txBody>
                    <a:bodyPr/>
                    <a:lstStyle/>
                    <a:p>
                      <a:pPr algn="ctr">
                        <a:spcBef>
                          <a:spcPts val="200"/>
                        </a:spcBef>
                        <a:spcAft>
                          <a:spcPts val="200"/>
                        </a:spcAft>
                        <a:defRPr sz="1000">
                          <a:solidFill>
                            <a:srgbClr val="4A5A6A"/>
                          </a:solidFill>
                        </a:defRPr>
                      </a:pPr>
                      <a:r>
                        <a:t>New entity, clean</a:t>
                      </a:r>
                    </a:p>
                  </a:txBody>
                  <a:tcPr/>
                </a:tc>
                <a:tc>
                  <a:txBody>
                    <a:bodyPr/>
                    <a:lstStyle/>
                    <a:p>
                      <a:pPr algn="ctr">
                        <a:spcBef>
                          <a:spcPts val="200"/>
                        </a:spcBef>
                        <a:spcAft>
                          <a:spcPts val="200"/>
                        </a:spcAft>
                        <a:defRPr sz="1000">
                          <a:solidFill>
                            <a:srgbClr val="4A5A6A"/>
                          </a:solidFill>
                        </a:defRPr>
                      </a:pPr>
                      <a:r>
                        <a:t>LOW</a:t>
                      </a:r>
                    </a:p>
                  </a:txBody>
                  <a:tcPr/>
                </a:tc>
                <a:tc>
                  <a:txBody>
                    <a:bodyPr/>
                    <a:lstStyle/>
                    <a:p>
                      <a:pPr algn="ctr">
                        <a:spcBef>
                          <a:spcPts val="200"/>
                        </a:spcBef>
                        <a:spcAft>
                          <a:spcPts val="200"/>
                        </a:spcAft>
                        <a:defRPr sz="1000">
                          <a:solidFill>
                            <a:srgbClr val="4A5A6A"/>
                          </a:solidFill>
                        </a:defRPr>
                      </a:pPr>
                      <a:r>
                        <a:t>LOW</a:t>
                      </a:r>
                    </a:p>
                  </a:txBody>
                  <a:tcPr/>
                </a:tc>
                <a:tc>
                  <a:txBody>
                    <a:bodyPr/>
                    <a:lstStyle/>
                    <a:p>
                      <a:pPr algn="ctr">
                        <a:spcBef>
                          <a:spcPts val="200"/>
                        </a:spcBef>
                        <a:spcAft>
                          <a:spcPts val="200"/>
                        </a:spcAft>
                        <a:defRPr sz="1000">
                          <a:solidFill>
                            <a:srgbClr val="4A5A6A"/>
                          </a:solidFill>
                        </a:defRPr>
                      </a:pPr>
                      <a:r>
                        <a:t>Recent but no red flags</a:t>
                      </a:r>
                    </a:p>
                  </a:txBody>
                  <a:tcPr/>
                </a:tc>
              </a:tr>
            </a:tbl>
          </a:graphicData>
        </a:graphic>
      </p:graphicFrame>
      <p:sp>
        <p:nvSpPr>
          <p:cNvPr id="6" name="Rounded Rectangle 5"/>
          <p:cNvSpPr/>
          <p:nvPr/>
        </p:nvSpPr>
        <p:spPr>
          <a:xfrm>
            <a:off x="1295247" y="484632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95247" y="4983480"/>
            <a:ext cx="2194560" cy="502920"/>
          </a:xfrm>
          <a:prstGeom prst="rect">
            <a:avLst/>
          </a:prstGeom>
          <a:noFill/>
        </p:spPr>
        <p:txBody>
          <a:bodyPr wrap="none">
            <a:spAutoFit/>
          </a:bodyPr>
          <a:lstStyle/>
          <a:p>
            <a:pPr algn="ctr">
              <a:defRPr sz="2800" b="1">
                <a:solidFill>
                  <a:srgbClr val="FFFFFF"/>
                </a:solidFill>
              </a:defRPr>
            </a:pPr>
            <a:r>
              <a:t>7/7</a:t>
            </a:r>
          </a:p>
        </p:txBody>
      </p:sp>
      <p:sp>
        <p:nvSpPr>
          <p:cNvPr id="8" name="TextBox 7"/>
          <p:cNvSpPr txBox="1"/>
          <p:nvPr/>
        </p:nvSpPr>
        <p:spPr>
          <a:xfrm>
            <a:off x="1295247" y="5440680"/>
            <a:ext cx="2194560" cy="320040"/>
          </a:xfrm>
          <a:prstGeom prst="rect">
            <a:avLst/>
          </a:prstGeom>
          <a:noFill/>
        </p:spPr>
        <p:txBody>
          <a:bodyPr wrap="none">
            <a:spAutoFit/>
          </a:bodyPr>
          <a:lstStyle/>
          <a:p>
            <a:pPr algn="ctr">
              <a:defRPr sz="1100">
                <a:solidFill>
                  <a:srgbClr val="CCDDEE"/>
                </a:solidFill>
              </a:defRPr>
            </a:pPr>
            <a:r>
              <a:t>Classification Accuracy</a:t>
            </a:r>
          </a:p>
        </p:txBody>
      </p:sp>
      <p:sp>
        <p:nvSpPr>
          <p:cNvPr id="9" name="Rounded Rectangle 8"/>
          <p:cNvSpPr/>
          <p:nvPr/>
        </p:nvSpPr>
        <p:spPr>
          <a:xfrm>
            <a:off x="3764127" y="484632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64127" y="4983480"/>
            <a:ext cx="2194560" cy="502920"/>
          </a:xfrm>
          <a:prstGeom prst="rect">
            <a:avLst/>
          </a:prstGeom>
          <a:noFill/>
        </p:spPr>
        <p:txBody>
          <a:bodyPr wrap="none">
            <a:spAutoFit/>
          </a:bodyPr>
          <a:lstStyle/>
          <a:p>
            <a:pPr algn="ctr">
              <a:defRPr sz="2800" b="1">
                <a:solidFill>
                  <a:srgbClr val="FFFFFF"/>
                </a:solidFill>
              </a:defRPr>
            </a:pPr>
            <a:r>
              <a:t>100%</a:t>
            </a:r>
          </a:p>
        </p:txBody>
      </p:sp>
      <p:sp>
        <p:nvSpPr>
          <p:cNvPr id="11" name="TextBox 10"/>
          <p:cNvSpPr txBox="1"/>
          <p:nvPr/>
        </p:nvSpPr>
        <p:spPr>
          <a:xfrm>
            <a:off x="3764127" y="5440680"/>
            <a:ext cx="2194560" cy="320040"/>
          </a:xfrm>
          <a:prstGeom prst="rect">
            <a:avLst/>
          </a:prstGeom>
          <a:noFill/>
        </p:spPr>
        <p:txBody>
          <a:bodyPr wrap="none">
            <a:spAutoFit/>
          </a:bodyPr>
          <a:lstStyle/>
          <a:p>
            <a:pPr algn="ctr">
              <a:defRPr sz="1100">
                <a:solidFill>
                  <a:srgbClr val="CCDDEE"/>
                </a:solidFill>
              </a:defRPr>
            </a:pPr>
            <a:r>
              <a:t>Factual Accuracy</a:t>
            </a:r>
          </a:p>
        </p:txBody>
      </p:sp>
      <p:sp>
        <p:nvSpPr>
          <p:cNvPr id="12" name="Rounded Rectangle 11"/>
          <p:cNvSpPr/>
          <p:nvPr/>
        </p:nvSpPr>
        <p:spPr>
          <a:xfrm>
            <a:off x="6233007" y="484632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33007" y="4983480"/>
            <a:ext cx="2194560" cy="502920"/>
          </a:xfrm>
          <a:prstGeom prst="rect">
            <a:avLst/>
          </a:prstGeom>
          <a:noFill/>
        </p:spPr>
        <p:txBody>
          <a:bodyPr wrap="none">
            <a:spAutoFit/>
          </a:bodyPr>
          <a:lstStyle/>
          <a:p>
            <a:pPr algn="ctr">
              <a:defRPr sz="2800" b="1">
                <a:solidFill>
                  <a:srgbClr val="FFFFFF"/>
                </a:solidFill>
              </a:defRPr>
            </a:pPr>
            <a:r>
              <a:t>7/8</a:t>
            </a:r>
          </a:p>
        </p:txBody>
      </p:sp>
      <p:sp>
        <p:nvSpPr>
          <p:cNvPr id="14" name="TextBox 13"/>
          <p:cNvSpPr txBox="1"/>
          <p:nvPr/>
        </p:nvSpPr>
        <p:spPr>
          <a:xfrm>
            <a:off x="6233007" y="5440680"/>
            <a:ext cx="2194560" cy="320040"/>
          </a:xfrm>
          <a:prstGeom prst="rect">
            <a:avLst/>
          </a:prstGeom>
          <a:noFill/>
        </p:spPr>
        <p:txBody>
          <a:bodyPr wrap="none">
            <a:spAutoFit/>
          </a:bodyPr>
          <a:lstStyle/>
          <a:p>
            <a:pPr algn="ctr">
              <a:defRPr sz="1100">
                <a:solidFill>
                  <a:srgbClr val="CCDDEE"/>
                </a:solidFill>
              </a:defRPr>
            </a:pPr>
            <a:r>
              <a:t>DOJ Cases Identified</a:t>
            </a:r>
          </a:p>
        </p:txBody>
      </p:sp>
      <p:sp>
        <p:nvSpPr>
          <p:cNvPr id="15" name="Rounded Rectangle 14"/>
          <p:cNvSpPr/>
          <p:nvPr/>
        </p:nvSpPr>
        <p:spPr>
          <a:xfrm>
            <a:off x="8701887" y="4846320"/>
            <a:ext cx="2194560" cy="1005840"/>
          </a:xfrm>
          <a:prstGeom prst="roundRect">
            <a:avLst/>
          </a:prstGeom>
          <a:solidFill>
            <a:srgbClr val="0F4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01887" y="4983480"/>
            <a:ext cx="2194560" cy="502920"/>
          </a:xfrm>
          <a:prstGeom prst="rect">
            <a:avLst/>
          </a:prstGeom>
          <a:noFill/>
        </p:spPr>
        <p:txBody>
          <a:bodyPr wrap="none">
            <a:spAutoFit/>
          </a:bodyPr>
          <a:lstStyle/>
          <a:p>
            <a:pPr algn="ctr">
              <a:defRPr sz="2800" b="1">
                <a:solidFill>
                  <a:srgbClr val="FFFFFF"/>
                </a:solidFill>
              </a:defRPr>
            </a:pPr>
            <a:r>
              <a:t>35s</a:t>
            </a:r>
          </a:p>
        </p:txBody>
      </p:sp>
      <p:sp>
        <p:nvSpPr>
          <p:cNvPr id="17" name="TextBox 16"/>
          <p:cNvSpPr txBox="1"/>
          <p:nvPr/>
        </p:nvSpPr>
        <p:spPr>
          <a:xfrm>
            <a:off x="8701887" y="5440680"/>
            <a:ext cx="2194560" cy="320040"/>
          </a:xfrm>
          <a:prstGeom prst="rect">
            <a:avLst/>
          </a:prstGeom>
          <a:noFill/>
        </p:spPr>
        <p:txBody>
          <a:bodyPr wrap="none">
            <a:spAutoFit/>
          </a:bodyPr>
          <a:lstStyle/>
          <a:p>
            <a:pPr algn="ctr">
              <a:defRPr sz="1100">
                <a:solidFill>
                  <a:srgbClr val="CCDDEE"/>
                </a:solidFill>
              </a:defRPr>
            </a:pPr>
            <a:r>
              <a:t>Avg Investigation Time</a:t>
            </a:r>
          </a:p>
        </p:txBody>
      </p:sp>
      <p:sp>
        <p:nvSpPr>
          <p:cNvPr id="18" name="TextBox 17"/>
          <p:cNvSpPr txBox="1"/>
          <p:nvPr/>
        </p:nvSpPr>
        <p:spPr>
          <a:xfrm>
            <a:off x="548640" y="6035040"/>
            <a:ext cx="11094415" cy="365760"/>
          </a:xfrm>
          <a:prstGeom prst="rect">
            <a:avLst/>
          </a:prstGeom>
          <a:noFill/>
        </p:spPr>
        <p:txBody>
          <a:bodyPr wrap="square">
            <a:spAutoFit/>
          </a:bodyPr>
          <a:lstStyle/>
          <a:p>
            <a:pPr algn="l">
              <a:defRPr sz="1100" b="0">
                <a:solidFill>
                  <a:srgbClr val="667788"/>
                </a:solidFill>
              </a:defRPr>
            </a:pPr>
            <a:r>
              <a:t>Factual accuracy verified: All facility names, NPIs, addresses, and exclusion statuses cross-referenced against source data. Zero hallucinations in generated investigation briefs.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1094415" cy="548640"/>
          </a:xfrm>
          <a:prstGeom prst="rect">
            <a:avLst/>
          </a:prstGeom>
          <a:noFill/>
        </p:spPr>
        <p:txBody>
          <a:bodyPr wrap="none">
            <a:spAutoFit/>
          </a:bodyPr>
          <a:lstStyle/>
          <a:p>
            <a:pPr>
              <a:defRPr sz="2800" b="1">
                <a:solidFill>
                  <a:srgbClr val="FFFFFF"/>
                </a:solidFill>
              </a:defRPr>
            </a:pPr>
            <a:r>
              <a:t>Limitations &amp; Scalability</a:t>
            </a:r>
          </a:p>
        </p:txBody>
      </p:sp>
      <p:sp>
        <p:nvSpPr>
          <p:cNvPr id="4" name="TextBox 3"/>
          <p:cNvSpPr txBox="1"/>
          <p:nvPr/>
        </p:nvSpPr>
        <p:spPr>
          <a:xfrm>
            <a:off x="548640" y="1234440"/>
            <a:ext cx="5303520" cy="320040"/>
          </a:xfrm>
          <a:prstGeom prst="rect">
            <a:avLst/>
          </a:prstGeom>
          <a:noFill/>
        </p:spPr>
        <p:txBody>
          <a:bodyPr wrap="square">
            <a:spAutoFit/>
          </a:bodyPr>
          <a:lstStyle/>
          <a:p>
            <a:pPr algn="l">
              <a:defRPr sz="1300" b="1">
                <a:solidFill>
                  <a:srgbClr val="28A745"/>
                </a:solidFill>
              </a:defRPr>
            </a:pPr>
            <a:r>
              <a:t>What We Detect (Structural Fraud)</a:t>
            </a:r>
          </a:p>
        </p:txBody>
      </p:sp>
      <p:sp>
        <p:nvSpPr>
          <p:cNvPr id="5" name="TextBox 4"/>
          <p:cNvSpPr txBox="1"/>
          <p:nvPr/>
        </p:nvSpPr>
        <p:spPr>
          <a:xfrm>
            <a:off x="548640" y="1600200"/>
            <a:ext cx="5303520" cy="1645920"/>
          </a:xfrm>
          <a:prstGeom prst="rect">
            <a:avLst/>
          </a:prstGeom>
          <a:noFill/>
        </p:spPr>
        <p:txBody>
          <a:bodyPr wrap="square">
            <a:spAutoFit/>
          </a:bodyPr>
          <a:lstStyle/>
          <a:p>
            <a:pPr>
              <a:spcAft>
                <a:spcPts val="600"/>
              </a:spcAft>
              <a:defRPr sz="1200">
                <a:solidFill>
                  <a:srgbClr val="4A5A6A"/>
                </a:solidFill>
              </a:defRPr>
            </a:pPr>
            <a:r>
              <a:t>• Shell company networks and entity cycling</a:t>
            </a:r>
          </a:p>
          <a:p>
            <a:pPr>
              <a:spcAft>
                <a:spcPts val="600"/>
              </a:spcAft>
              <a:defRPr sz="1200">
                <a:solidFill>
                  <a:srgbClr val="4A5A6A"/>
                </a:solidFill>
              </a:defRPr>
            </a:pPr>
            <a:r>
              <a:t>• Address/phone sharing schemes</a:t>
            </a:r>
          </a:p>
          <a:p>
            <a:pPr>
              <a:spcAft>
                <a:spcPts val="600"/>
              </a:spcAft>
              <a:defRPr sz="1200">
                <a:solidFill>
                  <a:srgbClr val="4A5A6A"/>
                </a:solidFill>
              </a:defRPr>
            </a:pPr>
            <a:r>
              <a:t>• Connections to excluded providers</a:t>
            </a:r>
          </a:p>
          <a:p>
            <a:pPr>
              <a:spcAft>
                <a:spcPts val="600"/>
              </a:spcAft>
              <a:defRPr sz="1200">
                <a:solidFill>
                  <a:srgbClr val="4A5A6A"/>
                </a:solidFill>
              </a:defRPr>
            </a:pPr>
            <a:r>
              <a:t>• Ownership concentration patterns</a:t>
            </a:r>
          </a:p>
        </p:txBody>
      </p:sp>
      <p:sp>
        <p:nvSpPr>
          <p:cNvPr id="6" name="TextBox 5"/>
          <p:cNvSpPr txBox="1"/>
          <p:nvPr/>
        </p:nvSpPr>
        <p:spPr>
          <a:xfrm>
            <a:off x="6217920" y="1234440"/>
            <a:ext cx="5303520" cy="320040"/>
          </a:xfrm>
          <a:prstGeom prst="rect">
            <a:avLst/>
          </a:prstGeom>
          <a:noFill/>
        </p:spPr>
        <p:txBody>
          <a:bodyPr wrap="square">
            <a:spAutoFit/>
          </a:bodyPr>
          <a:lstStyle/>
          <a:p>
            <a:pPr algn="l">
              <a:defRPr sz="1300" b="1">
                <a:solidFill>
                  <a:srgbClr val="DC3545"/>
                </a:solidFill>
              </a:defRPr>
            </a:pPr>
            <a:r>
              <a:t>What We Cannot Detect (Behavioral)</a:t>
            </a:r>
          </a:p>
        </p:txBody>
      </p:sp>
      <p:sp>
        <p:nvSpPr>
          <p:cNvPr id="7" name="TextBox 6"/>
          <p:cNvSpPr txBox="1"/>
          <p:nvPr/>
        </p:nvSpPr>
        <p:spPr>
          <a:xfrm>
            <a:off x="6217920" y="1600200"/>
            <a:ext cx="5303520" cy="1645920"/>
          </a:xfrm>
          <a:prstGeom prst="rect">
            <a:avLst/>
          </a:prstGeom>
          <a:noFill/>
        </p:spPr>
        <p:txBody>
          <a:bodyPr wrap="square">
            <a:spAutoFit/>
          </a:bodyPr>
          <a:lstStyle/>
          <a:p>
            <a:pPr>
              <a:spcAft>
                <a:spcPts val="600"/>
              </a:spcAft>
              <a:defRPr sz="1200">
                <a:solidFill>
                  <a:srgbClr val="4A5A6A"/>
                </a:solidFill>
              </a:defRPr>
            </a:pPr>
            <a:r>
              <a:t>• Kickback schemes (requires referral data)</a:t>
            </a:r>
          </a:p>
          <a:p>
            <a:pPr>
              <a:spcAft>
                <a:spcPts val="600"/>
              </a:spcAft>
              <a:defRPr sz="1200">
                <a:solidFill>
                  <a:srgbClr val="4A5A6A"/>
                </a:solidFill>
              </a:defRPr>
            </a:pPr>
            <a:r>
              <a:t>• Phantom billing (requires claims detail)</a:t>
            </a:r>
          </a:p>
          <a:p>
            <a:pPr>
              <a:spcAft>
                <a:spcPts val="600"/>
              </a:spcAft>
              <a:defRPr sz="1200">
                <a:solidFill>
                  <a:srgbClr val="4A5A6A"/>
                </a:solidFill>
              </a:defRPr>
            </a:pPr>
            <a:r>
              <a:t>• Upcoding (requires procedure analysis)</a:t>
            </a:r>
          </a:p>
          <a:p>
            <a:pPr>
              <a:spcAft>
                <a:spcPts val="600"/>
              </a:spcAft>
              <a:defRPr sz="1200">
                <a:solidFill>
                  <a:srgbClr val="4A5A6A"/>
                </a:solidFill>
              </a:defRPr>
            </a:pPr>
            <a:r>
              <a:t>• 3/7 DOJ cases = behavioral fraud we'd miss</a:t>
            </a:r>
          </a:p>
        </p:txBody>
      </p:sp>
      <p:sp>
        <p:nvSpPr>
          <p:cNvPr id="8" name="TextBox 7"/>
          <p:cNvSpPr txBox="1"/>
          <p:nvPr/>
        </p:nvSpPr>
        <p:spPr>
          <a:xfrm>
            <a:off x="548640" y="3291840"/>
            <a:ext cx="11094415" cy="320040"/>
          </a:xfrm>
          <a:prstGeom prst="rect">
            <a:avLst/>
          </a:prstGeom>
          <a:noFill/>
        </p:spPr>
        <p:txBody>
          <a:bodyPr wrap="square">
            <a:spAutoFit/>
          </a:bodyPr>
          <a:lstStyle/>
          <a:p>
            <a:pPr algn="l">
              <a:defRPr sz="1300" b="1">
                <a:solidFill>
                  <a:srgbClr val="0F4C75"/>
                </a:solidFill>
              </a:defRPr>
            </a:pPr>
            <a:r>
              <a:t>Scalability: Florida to National</a:t>
            </a:r>
          </a:p>
        </p:txBody>
      </p:sp>
      <p:graphicFrame>
        <p:nvGraphicFramePr>
          <p:cNvPr id="9" name="Table 8"/>
          <p:cNvGraphicFramePr>
            <a:graphicFrameLocks noGrp="1"/>
          </p:cNvGraphicFramePr>
          <p:nvPr/>
        </p:nvGraphicFramePr>
        <p:xfrm>
          <a:off x="548640" y="3657600"/>
          <a:ext cx="5029200" cy="1536192"/>
        </p:xfrm>
        <a:graphic>
          <a:graphicData uri="http://schemas.openxmlformats.org/drawingml/2006/table">
            <a:tbl>
              <a:tblPr firstRow="1" bandRow="1">
                <a:tableStyleId>{5C22544A-7EE6-4342-B048-85BDC9FD1C3A}</a:tableStyleId>
              </a:tblPr>
              <a:tblGrid>
                <a:gridCol w="1676400"/>
                <a:gridCol w="1676400"/>
                <a:gridCol w="1676400"/>
              </a:tblGrid>
              <a:tr h="384048">
                <a:tc>
                  <a:txBody>
                    <a:bodyPr/>
                    <a:lstStyle/>
                    <a:p>
                      <a:pPr algn="ctr">
                        <a:spcBef>
                          <a:spcPts val="300"/>
                        </a:spcBef>
                        <a:spcAft>
                          <a:spcPts val="300"/>
                        </a:spcAft>
                        <a:defRPr b="1" sz="1100">
                          <a:solidFill>
                            <a:srgbClr val="FFFFFF"/>
                          </a:solidFill>
                        </a:defRPr>
                      </a:pPr>
                      <a:r>
                        <a:t>Metric</a:t>
                      </a:r>
                    </a:p>
                  </a:txBody>
                  <a:tcPr>
                    <a:solidFill>
                      <a:srgbClr val="0F4C75"/>
                    </a:solidFill>
                  </a:tcPr>
                </a:tc>
                <a:tc>
                  <a:txBody>
                    <a:bodyPr/>
                    <a:lstStyle/>
                    <a:p>
                      <a:pPr algn="ctr">
                        <a:spcBef>
                          <a:spcPts val="300"/>
                        </a:spcBef>
                        <a:spcAft>
                          <a:spcPts val="300"/>
                        </a:spcAft>
                        <a:defRPr b="1" sz="1100">
                          <a:solidFill>
                            <a:srgbClr val="FFFFFF"/>
                          </a:solidFill>
                        </a:defRPr>
                      </a:pPr>
                      <a:r>
                        <a:t>Current (Florida)</a:t>
                      </a:r>
                    </a:p>
                  </a:txBody>
                  <a:tcPr>
                    <a:solidFill>
                      <a:srgbClr val="0F4C75"/>
                    </a:solidFill>
                  </a:tcPr>
                </a:tc>
                <a:tc>
                  <a:txBody>
                    <a:bodyPr/>
                    <a:lstStyle/>
                    <a:p>
                      <a:pPr algn="ctr">
                        <a:spcBef>
                          <a:spcPts val="300"/>
                        </a:spcBef>
                        <a:spcAft>
                          <a:spcPts val="300"/>
                        </a:spcAft>
                        <a:defRPr b="1" sz="1100">
                          <a:solidFill>
                            <a:srgbClr val="FFFFFF"/>
                          </a:solidFill>
                        </a:defRPr>
                      </a:pPr>
                      <a:r>
                        <a:t>National Scale</a:t>
                      </a:r>
                    </a:p>
                  </a:txBody>
                  <a:tcPr>
                    <a:solidFill>
                      <a:srgbClr val="0F4C75"/>
                    </a:solidFill>
                  </a:tcPr>
                </a:tc>
              </a:tr>
              <a:tr h="384048">
                <a:tc>
                  <a:txBody>
                    <a:bodyPr/>
                    <a:lstStyle/>
                    <a:p>
                      <a:pPr algn="l">
                        <a:spcBef>
                          <a:spcPts val="200"/>
                        </a:spcBef>
                        <a:spcAft>
                          <a:spcPts val="200"/>
                        </a:spcAft>
                        <a:defRPr sz="1000">
                          <a:solidFill>
                            <a:srgbClr val="4A5A6A"/>
                          </a:solidFill>
                        </a:defRPr>
                      </a:pPr>
                      <a:r>
                        <a:t>Providers</a:t>
                      </a:r>
                    </a:p>
                  </a:txBody>
                  <a:tcPr/>
                </a:tc>
                <a:tc>
                  <a:txBody>
                    <a:bodyPr/>
                    <a:lstStyle/>
                    <a:p>
                      <a:pPr algn="ctr">
                        <a:spcBef>
                          <a:spcPts val="200"/>
                        </a:spcBef>
                        <a:spcAft>
                          <a:spcPts val="200"/>
                        </a:spcAft>
                        <a:defRPr sz="1000">
                          <a:solidFill>
                            <a:srgbClr val="4A5A6A"/>
                          </a:solidFill>
                        </a:defRPr>
                      </a:pPr>
                      <a:r>
                        <a:t>11,090</a:t>
                      </a:r>
                    </a:p>
                  </a:txBody>
                  <a:tcPr/>
                </a:tc>
                <a:tc>
                  <a:txBody>
                    <a:bodyPr/>
                    <a:lstStyle/>
                    <a:p>
                      <a:pPr algn="ctr">
                        <a:spcBef>
                          <a:spcPts val="200"/>
                        </a:spcBef>
                        <a:spcAft>
                          <a:spcPts val="200"/>
                        </a:spcAft>
                        <a:defRPr sz="1000">
                          <a:solidFill>
                            <a:srgbClr val="4A5A6A"/>
                          </a:solidFill>
                        </a:defRPr>
                      </a:pPr>
                      <a:r>
                        <a:t>1.2M+</a:t>
                      </a:r>
                    </a:p>
                  </a:txBody>
                  <a:tcPr/>
                </a:tc>
              </a:tr>
              <a:tr h="384048">
                <a:tc>
                  <a:txBody>
                    <a:bodyPr/>
                    <a:lstStyle/>
                    <a:p>
                      <a:pPr algn="l">
                        <a:spcBef>
                          <a:spcPts val="200"/>
                        </a:spcBef>
                        <a:spcAft>
                          <a:spcPts val="200"/>
                        </a:spcAft>
                        <a:defRPr sz="1000">
                          <a:solidFill>
                            <a:srgbClr val="4A5A6A"/>
                          </a:solidFill>
                        </a:defRPr>
                      </a:pPr>
                      <a:r>
                        <a:t>Communities</a:t>
                      </a:r>
                    </a:p>
                  </a:txBody>
                  <a:tcPr>
                    <a:solidFill>
                      <a:srgbClr val="F8F9FA"/>
                    </a:solidFill>
                  </a:tcPr>
                </a:tc>
                <a:tc>
                  <a:txBody>
                    <a:bodyPr/>
                    <a:lstStyle/>
                    <a:p>
                      <a:pPr algn="ctr">
                        <a:spcBef>
                          <a:spcPts val="200"/>
                        </a:spcBef>
                        <a:spcAft>
                          <a:spcPts val="200"/>
                        </a:spcAft>
                        <a:defRPr sz="1000">
                          <a:solidFill>
                            <a:srgbClr val="4A5A6A"/>
                          </a:solidFill>
                        </a:defRPr>
                      </a:pPr>
                      <a:r>
                        <a:t>8,015</a:t>
                      </a:r>
                    </a:p>
                  </a:txBody>
                  <a:tcPr>
                    <a:solidFill>
                      <a:srgbClr val="F8F9FA"/>
                    </a:solidFill>
                  </a:tcPr>
                </a:tc>
                <a:tc>
                  <a:txBody>
                    <a:bodyPr/>
                    <a:lstStyle/>
                    <a:p>
                      <a:pPr algn="ctr">
                        <a:spcBef>
                          <a:spcPts val="200"/>
                        </a:spcBef>
                        <a:spcAft>
                          <a:spcPts val="200"/>
                        </a:spcAft>
                        <a:defRPr sz="1000">
                          <a:solidFill>
                            <a:srgbClr val="4A5A6A"/>
                          </a:solidFill>
                        </a:defRPr>
                      </a:pPr>
                      <a:r>
                        <a:t>~800K</a:t>
                      </a:r>
                    </a:p>
                  </a:txBody>
                  <a:tcPr>
                    <a:solidFill>
                      <a:srgbClr val="F8F9FA"/>
                    </a:solidFill>
                  </a:tcPr>
                </a:tc>
              </a:tr>
              <a:tr h="384048">
                <a:tc>
                  <a:txBody>
                    <a:bodyPr/>
                    <a:lstStyle/>
                    <a:p>
                      <a:pPr algn="l">
                        <a:spcBef>
                          <a:spcPts val="200"/>
                        </a:spcBef>
                        <a:spcAft>
                          <a:spcPts val="200"/>
                        </a:spcAft>
                        <a:defRPr sz="1000">
                          <a:solidFill>
                            <a:srgbClr val="4A5A6A"/>
                          </a:solidFill>
                        </a:defRPr>
                      </a:pPr>
                      <a:r>
                        <a:t>Investigation Cost</a:t>
                      </a:r>
                    </a:p>
                  </a:txBody>
                  <a:tcPr/>
                </a:tc>
                <a:tc>
                  <a:txBody>
                    <a:bodyPr/>
                    <a:lstStyle/>
                    <a:p>
                      <a:pPr algn="ctr">
                        <a:spcBef>
                          <a:spcPts val="200"/>
                        </a:spcBef>
                        <a:spcAft>
                          <a:spcPts val="200"/>
                        </a:spcAft>
                        <a:defRPr sz="1000">
                          <a:solidFill>
                            <a:srgbClr val="4A5A6A"/>
                          </a:solidFill>
                        </a:defRPr>
                      </a:pPr>
                      <a:r>
                        <a:t>$0.03 each</a:t>
                      </a:r>
                    </a:p>
                  </a:txBody>
                  <a:tcPr/>
                </a:tc>
                <a:tc>
                  <a:txBody>
                    <a:bodyPr/>
                    <a:lstStyle/>
                    <a:p>
                      <a:pPr algn="ctr">
                        <a:spcBef>
                          <a:spcPts val="200"/>
                        </a:spcBef>
                        <a:spcAft>
                          <a:spcPts val="200"/>
                        </a:spcAft>
                        <a:defRPr sz="1000">
                          <a:solidFill>
                            <a:srgbClr val="4A5A6A"/>
                          </a:solidFill>
                        </a:defRPr>
                      </a:pPr>
                      <a:r>
                        <a:t>~$36K full scan</a:t>
                      </a:r>
                    </a:p>
                  </a:txBody>
                  <a:tcPr/>
                </a:tc>
              </a:tr>
            </a:tbl>
          </a:graphicData>
        </a:graphic>
      </p:graphicFrame>
      <p:sp>
        <p:nvSpPr>
          <p:cNvPr id="10" name="TextBox 9"/>
          <p:cNvSpPr txBox="1"/>
          <p:nvPr/>
        </p:nvSpPr>
        <p:spPr>
          <a:xfrm>
            <a:off x="6217920" y="3291840"/>
            <a:ext cx="5303520" cy="320040"/>
          </a:xfrm>
          <a:prstGeom prst="rect">
            <a:avLst/>
          </a:prstGeom>
          <a:noFill/>
        </p:spPr>
        <p:txBody>
          <a:bodyPr wrap="square">
            <a:spAutoFit/>
          </a:bodyPr>
          <a:lstStyle/>
          <a:p>
            <a:pPr algn="l">
              <a:defRPr sz="1300" b="1">
                <a:solidFill>
                  <a:srgbClr val="0F4C75"/>
                </a:solidFill>
              </a:defRPr>
            </a:pPr>
            <a:r>
              <a:t>Future Enhancements</a:t>
            </a:r>
          </a:p>
        </p:txBody>
      </p:sp>
      <p:sp>
        <p:nvSpPr>
          <p:cNvPr id="11" name="TextBox 10"/>
          <p:cNvSpPr txBox="1"/>
          <p:nvPr/>
        </p:nvSpPr>
        <p:spPr>
          <a:xfrm>
            <a:off x="6217920" y="3657600"/>
            <a:ext cx="5303520" cy="1828800"/>
          </a:xfrm>
          <a:prstGeom prst="rect">
            <a:avLst/>
          </a:prstGeom>
          <a:noFill/>
        </p:spPr>
        <p:txBody>
          <a:bodyPr wrap="square">
            <a:spAutoFit/>
          </a:bodyPr>
          <a:lstStyle/>
          <a:p>
            <a:pPr>
              <a:spcAft>
                <a:spcPts val="600"/>
              </a:spcAft>
              <a:defRPr sz="1200">
                <a:solidFill>
                  <a:srgbClr val="4A5A6A"/>
                </a:solidFill>
              </a:defRPr>
            </a:pPr>
            <a:r>
              <a:t>• Claims integration for behavioral fraud</a:t>
            </a:r>
          </a:p>
          <a:p>
            <a:pPr>
              <a:spcAft>
                <a:spcPts val="600"/>
              </a:spcAft>
              <a:defRPr sz="1200">
                <a:solidFill>
                  <a:srgbClr val="4A5A6A"/>
                </a:solidFill>
              </a:defRPr>
            </a:pPr>
            <a:r>
              <a:t>• Temporal entity cycling analysis</a:t>
            </a:r>
          </a:p>
          <a:p>
            <a:pPr>
              <a:spcAft>
                <a:spcPts val="600"/>
              </a:spcAft>
              <a:defRPr sz="1200">
                <a:solidFill>
                  <a:srgbClr val="4A5A6A"/>
                </a:solidFill>
              </a:defRPr>
            </a:pPr>
            <a:r>
              <a:t>• Multi-state expansion (TX, CA, NY)</a:t>
            </a:r>
          </a:p>
          <a:p>
            <a:pPr>
              <a:spcAft>
                <a:spcPts val="600"/>
              </a:spcAft>
              <a:defRPr sz="1200">
                <a:solidFill>
                  <a:srgbClr val="4A5A6A"/>
                </a:solidFill>
              </a:defRPr>
            </a:pPr>
            <a:r>
              <a:t>• Real-time new registration monitoring</a:t>
            </a:r>
          </a:p>
        </p:txBody>
      </p:sp>
      <p:sp>
        <p:nvSpPr>
          <p:cNvPr id="12" name="Rounded Rectangle 11"/>
          <p:cNvSpPr/>
          <p:nvPr/>
        </p:nvSpPr>
        <p:spPr>
          <a:xfrm>
            <a:off x="548640" y="5212080"/>
            <a:ext cx="11094415" cy="1097280"/>
          </a:xfrm>
          <a:prstGeom prst="roundRect">
            <a:avLst/>
          </a:prstGeom>
          <a:solidFill>
            <a:srgbClr val="F0F7FF"/>
          </a:solidFill>
          <a:ln>
            <a:solidFill>
              <a:srgbClr val="0F4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349240"/>
            <a:ext cx="10728655" cy="274320"/>
          </a:xfrm>
          <a:prstGeom prst="rect">
            <a:avLst/>
          </a:prstGeom>
          <a:noFill/>
        </p:spPr>
        <p:txBody>
          <a:bodyPr wrap="square">
            <a:spAutoFit/>
          </a:bodyPr>
          <a:lstStyle/>
          <a:p>
            <a:pPr algn="l">
              <a:defRPr sz="1400" b="1">
                <a:solidFill>
                  <a:srgbClr val="0F4C75"/>
                </a:solidFill>
              </a:defRPr>
            </a:pPr>
            <a:r>
              <a:t>Conclusion</a:t>
            </a:r>
          </a:p>
        </p:txBody>
      </p:sp>
      <p:sp>
        <p:nvSpPr>
          <p:cNvPr id="14" name="TextBox 13"/>
          <p:cNvSpPr txBox="1"/>
          <p:nvPr/>
        </p:nvSpPr>
        <p:spPr>
          <a:xfrm>
            <a:off x="731520" y="5669280"/>
            <a:ext cx="10728655" cy="548640"/>
          </a:xfrm>
          <a:prstGeom prst="rect">
            <a:avLst/>
          </a:prstGeom>
          <a:noFill/>
        </p:spPr>
        <p:txBody>
          <a:bodyPr wrap="square">
            <a:spAutoFit/>
          </a:bodyPr>
          <a:lstStyle/>
          <a:p>
            <a:pPr algn="l">
              <a:defRPr sz="1100" b="0">
                <a:solidFill>
                  <a:srgbClr val="4A5A6A"/>
                </a:solidFill>
              </a:defRPr>
            </a:pPr>
            <a:r>
              <a:t>Provera demonstrates that hybrid ML + agentic AI systems can significantly improve Medicare fraud detection. By combining graph ML for structural pattern recognition with LLM agents for investigation and explanation, we achieve both high accuracy (0.91 ROC-AUC) and full explainability (100% factual accuracy).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